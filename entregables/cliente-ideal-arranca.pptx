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Peso</c:v>
                </c:pt>
              </c:strCache>
            </c:strRef>
          </c:tx>
          <c:spPr>
            <a:solidFill>
              <a:srgbClr val="6E7480"/>
            </a:solidFill>
            <a:effectLst/>
          </c:spPr>
          <c:invertIfNegative val="0"/>
          <c:dLbls>
            <c:numFmt formatCode="0&quot;%&quot;" sourceLinked="0"/>
            <c:txPr>
              <a:bodyPr/>
              <a:lstStyle/>
              <a:p>
                <a:pPr>
                  <a:defRPr b="1" i="0" strike="noStrike" sz="1100" u="none">
                    <a:solidFill>
                      <a:srgbClr val="1A1C20"/>
                    </a:solidFill>
                    <a:latin typeface="Arial"/>
                  </a:defRPr>
                </a:pPr>
              </a:p>
            </c:txPr>
            <c:showLegendKey val="0"/>
            <c:showVal val="1"/>
            <c:showCatName val="0"/>
            <c:showSerName val="0"/>
            <c:showPercent val="0"/>
            <c:showBubbleSize val="0"/>
            <c:showLeaderLines val="0"/>
          </c:dLbls>
          <c:dPt>
            <c:idx val="0"/>
            <c:invertIfNegative val="0"/>
            <c:bubble3D val="0"/>
            <c:spPr>
              <a:solidFill>
                <a:srgbClr val="6E7480"/>
              </a:solidFill>
              <a:effectLst/>
            </c:spPr>
          </c:dPt>
          <c:dPt>
            <c:idx val="1"/>
            <c:invertIfNegative val="0"/>
            <c:bubble3D val="0"/>
            <c:spPr>
              <a:solidFill>
                <a:srgbClr val="6E7480"/>
              </a:solidFill>
              <a:effectLst/>
            </c:spPr>
          </c:dPt>
          <c:dPt>
            <c:idx val="2"/>
            <c:invertIfNegative val="0"/>
            <c:bubble3D val="0"/>
            <c:spPr>
              <a:solidFill>
                <a:srgbClr val="9AA0AA"/>
              </a:solidFill>
              <a:effectLst/>
            </c:spPr>
          </c:dPt>
          <c:dPt>
            <c:idx val="3"/>
            <c:invertIfNegative val="0"/>
            <c:bubble3D val="0"/>
            <c:spPr>
              <a:solidFill>
                <a:srgbClr val="F2A73B"/>
              </a:solidFill>
              <a:effectLst/>
            </c:spPr>
          </c:dPt>
          <c:dPt>
            <c:idx val="4"/>
            <c:invertIfNegative val="0"/>
            <c:bubble3D val="0"/>
            <c:spPr>
              <a:solidFill>
                <a:srgbClr val="F2A73B"/>
              </a:solidFill>
              <a:effectLst/>
            </c:spPr>
          </c:dPt>
          <c:cat>
            <c:multiLvlStrRef>
              <c:f>Sheet1!$A$2:$A$6</c:f>
              <c:multiLvlStrCache>
                <c:ptCount val="5"/>
                <c:lvl>
                  <c:pt idx="0">
                    <c:v>Ajuste con el portafolio EK</c:v>
                  </c:pt>
                  <c:pt idx="1">
                    <c:v>Costo de servirlo</c:v>
                  </c:pt>
                  <c:pt idx="2">
                    <c:v>Valor de la transacción</c:v>
                  </c:pt>
                  <c:pt idx="3">
                    <c:v>Calidad de pago</c:v>
                  </c:pt>
                  <c:pt idx="4">
                    <c:v>Recurrencia postventa</c:v>
                  </c:pt>
                </c:lvl>
              </c:multiLvlStrCache>
            </c:multiLvlStrRef>
          </c:cat>
          <c:val>
            <c:numRef>
              <c:f>Sheet1!$B$2:$B$6</c:f>
              <c:numCache>
                <c:formatCode>General</c:formatCode>
                <c:ptCount val="5"/>
                <c:pt idx="0">
                  <c:v>15</c:v>
                </c:pt>
                <c:pt idx="1">
                  <c:v>15</c:v>
                </c:pt>
                <c:pt idx="2">
                  <c:v>20</c:v>
                </c:pt>
                <c:pt idx="3">
                  <c:v>25</c:v>
                </c:pt>
                <c:pt idx="4">
                  <c:v>25</c:v>
                </c:pt>
              </c:numCache>
            </c:numRef>
          </c:val>
        </c:ser>
        <c:dLbls>
          <c:numFmt formatCode="0&quot;%&quot;" sourceLinked="0"/>
          <c:txPr>
            <a:bodyPr/>
            <a:lstStyle/>
            <a:p>
              <a:pPr>
                <a:defRPr b="1" i="0" strike="noStrike" sz="1100" u="none">
                  <a:solidFill>
                    <a:srgbClr val="1A1C20"/>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3A3F49"/>
                </a:solidFill>
                <a:latin typeface="Arial"/>
              </a:defRPr>
            </a:pPr>
            <a:endParaRPr lang="en-US"/>
          </a:p>
        </c:txPr>
        <c:crossAx val="2094734552"/>
        <c:crosses val="autoZero"/>
        <c:auto val="1"/>
        <c:lblAlgn val="ctr"/>
        <c:noMultiLvlLbl val="1"/>
      </c:catAx>
      <c:valAx>
        <c:axId val="2094734552"/>
        <c:scaling>
          <c:orientation val="minMax"/>
          <c:max val="3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Puntaje</c:v>
                </c:pt>
              </c:strCache>
            </c:strRef>
          </c:tx>
          <c:spPr>
            <a:solidFill>
              <a:srgbClr val="C9CDD4"/>
            </a:solidFill>
            <a:effectLst/>
          </c:spPr>
          <c:invertIfNegative val="0"/>
          <c:dLbls>
            <c:numFmt formatCode="0.00" sourceLinked="0"/>
            <c:txPr>
              <a:bodyPr/>
              <a:lstStyle/>
              <a:p>
                <a:pPr>
                  <a:defRPr b="1" i="0" strike="noStrike" sz="1100" u="none">
                    <a:solidFill>
                      <a:srgbClr val="1A1C20"/>
                    </a:solidFill>
                    <a:latin typeface="Arial"/>
                  </a:defRPr>
                </a:pPr>
              </a:p>
            </c:txPr>
            <c:showLegendKey val="0"/>
            <c:showVal val="1"/>
            <c:showCatName val="0"/>
            <c:showSerName val="0"/>
            <c:showPercent val="0"/>
            <c:showBubbleSize val="0"/>
            <c:showLeaderLines val="0"/>
          </c:dLbls>
          <c:dPt>
            <c:idx val="0"/>
            <c:invertIfNegative val="0"/>
            <c:bubble3D val="0"/>
            <c:spPr>
              <a:solidFill>
                <a:srgbClr val="C9CDD4"/>
              </a:solidFill>
              <a:effectLst/>
            </c:spPr>
          </c:dPt>
          <c:dPt>
            <c:idx val="1"/>
            <c:invertIfNegative val="0"/>
            <c:bubble3D val="0"/>
            <c:spPr>
              <a:solidFill>
                <a:srgbClr val="C9CDD4"/>
              </a:solidFill>
              <a:effectLst/>
            </c:spPr>
          </c:dPt>
          <c:dPt>
            <c:idx val="2"/>
            <c:invertIfNegative val="0"/>
            <c:bubble3D val="0"/>
            <c:spPr>
              <a:solidFill>
                <a:srgbClr val="9AA0AA"/>
              </a:solidFill>
              <a:effectLst/>
            </c:spPr>
          </c:dPt>
          <c:dPt>
            <c:idx val="3"/>
            <c:invertIfNegative val="0"/>
            <c:bubble3D val="0"/>
            <c:spPr>
              <a:solidFill>
                <a:srgbClr val="9AA0AA"/>
              </a:solidFill>
              <a:effectLst/>
            </c:spPr>
          </c:dPt>
          <c:dPt>
            <c:idx val="4"/>
            <c:invertIfNegative val="0"/>
            <c:bubble3D val="0"/>
            <c:spPr>
              <a:solidFill>
                <a:srgbClr val="F2A73B"/>
              </a:solidFill>
              <a:effectLst/>
            </c:spPr>
          </c:dPt>
          <c:dPt>
            <c:idx val="5"/>
            <c:invertIfNegative val="0"/>
            <c:bubble3D val="0"/>
            <c:spPr>
              <a:solidFill>
                <a:srgbClr val="F2A73B"/>
              </a:solidFill>
              <a:effectLst/>
            </c:spPr>
          </c:dPt>
          <c:cat>
            <c:multiLvlStrRef>
              <c:f>Sheet1!$A$2:$A$7</c:f>
              <c:multiLvlStrCache>
                <c:ptCount val="6"/>
                <c:lvl>
                  <c:pt idx="0">
                    <c:v>04 · Utilitario doméstico</c:v>
                  </c:pt>
                  <c:pt idx="1">
                    <c:v>06 · Usuaria urbana</c:v>
                  </c:pt>
                  <c:pt idx="2">
                    <c:v>05 · Joven primera moto</c:v>
                  </c:pt>
                  <c:pt idx="3">
                    <c:v>03 · Acarreador del interior</c:v>
                  </c:pt>
                  <c:pt idx="4">
                    <c:v>02 · Mototaxista urbano</c:v>
                  </c:pt>
                  <c:pt idx="5">
                    <c:v>01 · Rider de aplicaciones</c:v>
                  </c:pt>
                </c:lvl>
              </c:multiLvlStrCache>
            </c:multiLvlStrRef>
          </c:cat>
          <c:val>
            <c:numRef>
              <c:f>Sheet1!$B$2:$B$7</c:f>
              <c:numCache>
                <c:formatCode>General</c:formatCode>
                <c:ptCount val="6"/>
                <c:pt idx="0">
                  <c:v>2.55</c:v>
                </c:pt>
                <c:pt idx="1">
                  <c:v>2.75</c:v>
                </c:pt>
                <c:pt idx="2">
                  <c:v>3</c:v>
                </c:pt>
                <c:pt idx="3">
                  <c:v>3.6</c:v>
                </c:pt>
                <c:pt idx="4">
                  <c:v>4.2</c:v>
                </c:pt>
                <c:pt idx="5">
                  <c:v>4.35</c:v>
                </c:pt>
              </c:numCache>
            </c:numRef>
          </c:val>
        </c:ser>
        <c:dLbls>
          <c:numFmt formatCode="0.00" sourceLinked="0"/>
          <c:txPr>
            <a:bodyPr/>
            <a:lstStyle/>
            <a:p>
              <a:pPr>
                <a:defRPr b="1" i="0" strike="noStrike" sz="1100" u="none">
                  <a:solidFill>
                    <a:srgbClr val="1A1C2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50" b="0" i="0" u="none" strike="noStrike">
                <a:solidFill>
                  <a:srgbClr val="3A3F49"/>
                </a:solidFill>
                <a:latin typeface="Arial"/>
              </a:defRPr>
            </a:pPr>
            <a:endParaRPr lang="en-US"/>
          </a:p>
        </c:txPr>
        <c:crossAx val="2094734552"/>
        <c:crosses val="autoZero"/>
        <c:auto val="1"/>
        <c:lblAlgn val="ctr"/>
        <c:noMultiLvlLbl val="1"/>
      </c:catAx>
      <c:valAx>
        <c:axId val="2094734552"/>
        <c:scaling>
          <c:orientation val="minMax"/>
          <c:max val="5"/>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deck resume la definición de cliente ideal. El alcance acordado es la definición y priorización de clientes: no incluye plan de comunicación, que es la fase siguiente.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problema no es falta de conocimiento sino falta de formalización. Todo lo demás se deriva de eso.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eje A es el que manda: determina qué argumentos funcionan y de dónde sale la cuota.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Puntajes fijados sin data interna: son hipótesis fundamentadas, no mediciones.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H2 se resuelve en una tarde cruzando modelo contra uso previsto en la facturación propia.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 el segmento que más depende de decisiones operativas, no de comunicación.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Hay además un salto vacío entre US$2.200 y US$4.100, justo donde el cliente productivo que prospera busca su segunda moto.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existe desagregación pública de ventas de motos por región en Venezuela, ni caracterización del uso no laboral. Con el volumen de una cadena multitienda, el registro en punto de venta produciría la primera caracterización real del mercado.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2252A"/>
        </a:solidFill>
      </p:bgPr>
    </p:bg>
    <p:spTree>
      <p:nvGrpSpPr>
        <p:cNvPr id="1" name=""/>
        <p:cNvGrpSpPr/>
        <p:nvPr/>
      </p:nvGrpSpPr>
      <p:grpSpPr>
        <a:xfrm>
          <a:off x="0" y="0"/>
          <a:ext cx="0" cy="0"/>
          <a:chOff x="0" y="0"/>
          <a:chExt cx="0" cy="0"/>
        </a:xfrm>
      </p:grpSpPr>
      <p:sp>
        <p:nvSpPr>
          <p:cNvPr id="2" name="Shape 0"/>
          <p:cNvSpPr/>
          <p:nvPr/>
        </p:nvSpPr>
        <p:spPr>
          <a:xfrm>
            <a:off x="8778240" y="-1463040"/>
            <a:ext cx="5120640" cy="5120640"/>
          </a:xfrm>
          <a:prstGeom prst="ellipse">
            <a:avLst/>
          </a:prstGeom>
          <a:solidFill>
            <a:srgbClr val="31353D"/>
          </a:solidFill>
          <a:ln/>
        </p:spPr>
      </p:sp>
      <p:sp>
        <p:nvSpPr>
          <p:cNvPr id="3" name="Shape 1"/>
          <p:cNvSpPr/>
          <p:nvPr/>
        </p:nvSpPr>
        <p:spPr>
          <a:xfrm>
            <a:off x="10241280" y="4206240"/>
            <a:ext cx="2926080" cy="2926080"/>
          </a:xfrm>
          <a:prstGeom prst="ellipse">
            <a:avLst/>
          </a:prstGeom>
          <a:solidFill>
            <a:srgbClr val="F2A73B"/>
          </a:solidFill>
          <a:ln/>
        </p:spPr>
      </p:sp>
      <p:sp>
        <p:nvSpPr>
          <p:cNvPr id="4" name="Text 2"/>
          <p:cNvSpPr/>
          <p:nvPr/>
        </p:nvSpPr>
        <p:spPr>
          <a:xfrm>
            <a:off x="640080" y="1417320"/>
            <a:ext cx="7680960" cy="292608"/>
          </a:xfrm>
          <a:prstGeom prst="rect">
            <a:avLst/>
          </a:prstGeom>
          <a:noFill/>
          <a:ln/>
        </p:spPr>
        <p:txBody>
          <a:bodyPr wrap="square" lIns="0" tIns="0" rIns="0" bIns="0" rtlCol="0" anchor="ctr"/>
          <a:lstStyle/>
          <a:p>
            <a:pPr indent="0" marL="0">
              <a:buNone/>
            </a:pPr>
            <a:r>
              <a:rPr lang="en-US" sz="1200" b="1" spc="300" kern="0" dirty="0">
                <a:solidFill>
                  <a:srgbClr val="F2A73B"/>
                </a:solidFill>
                <a:latin typeface="Arial" pitchFamily="34" charset="0"/>
                <a:ea typeface="Arial" pitchFamily="34" charset="-122"/>
                <a:cs typeface="Arial" pitchFamily="34" charset="-120"/>
              </a:rPr>
              <a:t>DEFINICIÓN ESTRATÉGICA</a:t>
            </a:r>
            <a:endParaRPr lang="en-US" sz="1200" dirty="0"/>
          </a:p>
        </p:txBody>
      </p:sp>
      <p:sp>
        <p:nvSpPr>
          <p:cNvPr id="5" name="Text 3"/>
          <p:cNvSpPr/>
          <p:nvPr/>
        </p:nvSpPr>
        <p:spPr>
          <a:xfrm>
            <a:off x="640080" y="1828800"/>
            <a:ext cx="9326880" cy="1005840"/>
          </a:xfrm>
          <a:prstGeom prst="rect">
            <a:avLst/>
          </a:prstGeom>
          <a:noFill/>
          <a:ln/>
        </p:spPr>
        <p:txBody>
          <a:bodyPr wrap="square" lIns="0" tIns="0" rIns="0" bIns="0" rtlCol="0" anchor="t"/>
          <a:lstStyle/>
          <a:p>
            <a:pPr indent="0" marL="0">
              <a:buNone/>
            </a:pPr>
            <a:r>
              <a:rPr lang="en-US" sz="4600" b="1" dirty="0">
                <a:solidFill>
                  <a:srgbClr val="FFFFFF"/>
                </a:solidFill>
                <a:latin typeface="Cambria" pitchFamily="34" charset="0"/>
                <a:ea typeface="Cambria" pitchFamily="34" charset="-122"/>
                <a:cs typeface="Cambria" pitchFamily="34" charset="-120"/>
              </a:rPr>
              <a:t>El cliente ideal de Arranca</a:t>
            </a:r>
            <a:endParaRPr lang="en-US" sz="4600" dirty="0"/>
          </a:p>
        </p:txBody>
      </p:sp>
      <p:sp>
        <p:nvSpPr>
          <p:cNvPr id="6" name="Text 4"/>
          <p:cNvSpPr/>
          <p:nvPr/>
        </p:nvSpPr>
        <p:spPr>
          <a:xfrm>
            <a:off x="640080" y="3246120"/>
            <a:ext cx="7680960" cy="868680"/>
          </a:xfrm>
          <a:prstGeom prst="rect">
            <a:avLst/>
          </a:prstGeom>
          <a:noFill/>
          <a:ln/>
        </p:spPr>
        <p:txBody>
          <a:bodyPr wrap="square" lIns="0" tIns="0" rIns="0" bIns="0" rtlCol="0" anchor="ctr"/>
          <a:lstStyle/>
          <a:p>
            <a:pPr indent="0" marL="0">
              <a:lnSpc>
                <a:spcPts val="2600"/>
              </a:lnSpc>
              <a:buNone/>
            </a:pPr>
            <a:r>
              <a:rPr lang="en-US" sz="1600" dirty="0">
                <a:solidFill>
                  <a:srgbClr val="C9CDD4"/>
                </a:solidFill>
                <a:latin typeface="Arial" pitchFamily="34" charset="0"/>
                <a:ea typeface="Arial" pitchFamily="34" charset="-122"/>
                <a:cs typeface="Arial" pitchFamily="34" charset="-120"/>
              </a:rPr>
              <a:t>Quién es, cómo se le reconoce, cuánto vale</a:t>
            </a:r>
            <a:endParaRPr lang="en-US" sz="1600" dirty="0"/>
          </a:p>
          <a:p>
            <a:pPr indent="0" marL="0">
              <a:lnSpc>
                <a:spcPts val="2600"/>
              </a:lnSpc>
              <a:buNone/>
            </a:pPr>
            <a:r>
              <a:rPr lang="en-US" sz="1600" dirty="0">
                <a:solidFill>
                  <a:srgbClr val="C9CDD4"/>
                </a:solidFill>
                <a:latin typeface="Arial" pitchFamily="34" charset="0"/>
                <a:ea typeface="Arial" pitchFamily="34" charset="-122"/>
                <a:cs typeface="Arial" pitchFamily="34" charset="-120"/>
              </a:rPr>
              <a:t>y qué moto Empire Keeway le corresponde</a:t>
            </a:r>
            <a:endParaRPr lang="en-US" sz="1600" dirty="0"/>
          </a:p>
        </p:txBody>
      </p:sp>
      <p:sp>
        <p:nvSpPr>
          <p:cNvPr id="7" name="Shape 5"/>
          <p:cNvSpPr/>
          <p:nvPr/>
        </p:nvSpPr>
        <p:spPr>
          <a:xfrm>
            <a:off x="640080" y="4370832"/>
            <a:ext cx="1188720" cy="32004"/>
          </a:xfrm>
          <a:prstGeom prst="rect">
            <a:avLst/>
          </a:prstGeom>
          <a:solidFill>
            <a:srgbClr val="F2A73B"/>
          </a:solidFill>
          <a:ln/>
        </p:spPr>
      </p:sp>
      <p:sp>
        <p:nvSpPr>
          <p:cNvPr id="8" name="Text 6"/>
          <p:cNvSpPr/>
          <p:nvPr/>
        </p:nvSpPr>
        <p:spPr>
          <a:xfrm>
            <a:off x="640080" y="4617720"/>
            <a:ext cx="7680960" cy="365760"/>
          </a:xfrm>
          <a:prstGeom prst="rect">
            <a:avLst/>
          </a:prstGeom>
          <a:noFill/>
          <a:ln/>
        </p:spPr>
        <p:txBody>
          <a:bodyPr wrap="square" lIns="0" tIns="0" rIns="0" bIns="0" rtlCol="0" anchor="ctr"/>
          <a:lstStyle/>
          <a:p>
            <a:pPr indent="0" marL="0">
              <a:buNone/>
            </a:pPr>
            <a:r>
              <a:rPr lang="en-US" sz="1300" dirty="0">
                <a:solidFill>
                  <a:srgbClr val="9AA0AA"/>
                </a:solidFill>
                <a:latin typeface="Arial" pitchFamily="34" charset="0"/>
                <a:ea typeface="Arial" pitchFamily="34" charset="-122"/>
                <a:cs typeface="Arial" pitchFamily="34" charset="-120"/>
              </a:rPr>
              <a:t>Seis perfiles · Dos niveles primarios · Nueve hipótesis con umbral de descarte</a:t>
            </a:r>
            <a:endParaRPr lang="en-US" sz="1300" dirty="0"/>
          </a:p>
        </p:txBody>
      </p:sp>
      <p:sp>
        <p:nvSpPr>
          <p:cNvPr id="9" name="Text 7"/>
          <p:cNvSpPr/>
          <p:nvPr/>
        </p:nvSpPr>
        <p:spPr>
          <a:xfrm>
            <a:off x="640080" y="5943600"/>
            <a:ext cx="7680960" cy="320040"/>
          </a:xfrm>
          <a:prstGeom prst="rect">
            <a:avLst/>
          </a:prstGeom>
          <a:noFill/>
          <a:ln/>
        </p:spPr>
        <p:txBody>
          <a:bodyPr wrap="square" lIns="0" tIns="0" rIns="0" bIns="0" rtlCol="0" anchor="ctr"/>
          <a:lstStyle/>
          <a:p>
            <a:pPr indent="0" marL="0">
              <a:buNone/>
            </a:pPr>
            <a:r>
              <a:rPr lang="en-US" sz="1100" dirty="0">
                <a:solidFill>
                  <a:srgbClr val="6E7480"/>
                </a:solidFill>
                <a:latin typeface="Arial" pitchFamily="34" charset="0"/>
                <a:ea typeface="Arial" pitchFamily="34" charset="-122"/>
                <a:cs typeface="Arial" pitchFamily="34" charset="-120"/>
              </a:rPr>
              <a:t>Agosto 2026  ·  Documento de trabajo, revisión a los 90 días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F2A73B"/>
                </a:solidFill>
                <a:latin typeface="Arial" pitchFamily="34" charset="0"/>
                <a:ea typeface="Arial" pitchFamily="34" charset="-122"/>
                <a:cs typeface="Arial" pitchFamily="34" charset="-120"/>
              </a:rPr>
              <a:t>EL PROBLEMA</a:t>
            </a:r>
            <a:endParaRPr lang="en-US" sz="1100" dirty="0"/>
          </a:p>
        </p:txBody>
      </p:sp>
      <p:sp>
        <p:nvSpPr>
          <p:cNvPr id="3" name="Text 1"/>
          <p:cNvSpPr/>
          <p:nvPr/>
        </p:nvSpPr>
        <p:spPr>
          <a:xfrm>
            <a:off x="640080" y="676656"/>
            <a:ext cx="10881360" cy="685800"/>
          </a:xfrm>
          <a:prstGeom prst="rect">
            <a:avLst/>
          </a:prstGeom>
          <a:noFill/>
          <a:ln/>
        </p:spPr>
        <p:txBody>
          <a:bodyPr wrap="square" lIns="0" tIns="0" rIns="0" bIns="0" rtlCol="0" anchor="t"/>
          <a:lstStyle/>
          <a:p>
            <a:pPr indent="0" marL="0">
              <a:buNone/>
            </a:pPr>
            <a:r>
              <a:rPr lang="en-US" sz="3200" b="1" dirty="0">
                <a:solidFill>
                  <a:srgbClr val="1A1C20"/>
                </a:solidFill>
                <a:latin typeface="Cambria" pitchFamily="34" charset="0"/>
                <a:ea typeface="Cambria" pitchFamily="34" charset="-122"/>
                <a:cs typeface="Cambria" pitchFamily="34" charset="-120"/>
              </a:rPr>
              <a:t>El conocimiento existe. No está escrito.</a:t>
            </a:r>
            <a:endParaRPr lang="en-US" sz="3200" dirty="0"/>
          </a:p>
        </p:txBody>
      </p:sp>
      <p:sp>
        <p:nvSpPr>
          <p:cNvPr id="4" name="Text 2"/>
          <p:cNvSpPr/>
          <p:nvPr/>
        </p:nvSpPr>
        <p:spPr>
          <a:xfrm>
            <a:off x="640080" y="1572768"/>
            <a:ext cx="10881360" cy="822960"/>
          </a:xfrm>
          <a:prstGeom prst="rect">
            <a:avLst/>
          </a:prstGeom>
          <a:noFill/>
          <a:ln/>
        </p:spPr>
        <p:txBody>
          <a:bodyPr wrap="square" lIns="0" tIns="0" rIns="0" bIns="0" rtlCol="0" anchor="ctr"/>
          <a:lstStyle/>
          <a:p>
            <a:pPr indent="0" marL="0">
              <a:lnSpc>
                <a:spcPts val="2200"/>
              </a:lnSpc>
              <a:buNone/>
            </a:pPr>
            <a:r>
              <a:rPr lang="en-US" sz="1450" dirty="0">
                <a:solidFill>
                  <a:srgbClr val="3A3F49"/>
                </a:solidFill>
                <a:latin typeface="Arial" pitchFamily="34" charset="0"/>
                <a:ea typeface="Arial" pitchFamily="34" charset="-122"/>
                <a:cs typeface="Arial" pitchFamily="34" charset="-120"/>
              </a:rPr>
              <a:t>El equipo de tienda ya sabe que en el Sur piden Horse por el acarreo, que el mototaxista quiere Owen para llevar pasajeros, y que el muchacho de su primera moto termina en una Xpress. Ese conocimiento es real y es valioso — pero vive solo en la cabeza de quien está en el mostrador.</a:t>
            </a:r>
            <a:endParaRPr lang="en-US" sz="1450" dirty="0"/>
          </a:p>
        </p:txBody>
      </p:sp>
      <p:sp>
        <p:nvSpPr>
          <p:cNvPr id="5" name="Shape 3"/>
          <p:cNvSpPr/>
          <p:nvPr/>
        </p:nvSpPr>
        <p:spPr>
          <a:xfrm>
            <a:off x="640080" y="2697480"/>
            <a:ext cx="3401568" cy="1572768"/>
          </a:xfrm>
          <a:prstGeom prst="roundRect">
            <a:avLst>
              <a:gd name="adj" fmla="val 4651"/>
            </a:avLst>
          </a:prstGeom>
          <a:solidFill>
            <a:srgbClr val="F4F5F7"/>
          </a:solidFill>
          <a:ln/>
          <a:effectLst>
            <a:outerShdw sx="100000" sy="100000" kx="0" ky="0" algn="bl" rotWithShape="0" blurRad="101600" dist="12700" dir="5400000">
              <a:srgbClr val="000000">
                <a:alpha val="8000"/>
              </a:srgbClr>
            </a:outerShdw>
          </a:effectLst>
        </p:spPr>
      </p:sp>
      <p:sp>
        <p:nvSpPr>
          <p:cNvPr id="6" name="Shape 4"/>
          <p:cNvSpPr/>
          <p:nvPr/>
        </p:nvSpPr>
        <p:spPr>
          <a:xfrm>
            <a:off x="932688" y="2962656"/>
            <a:ext cx="457200" cy="457200"/>
          </a:xfrm>
          <a:prstGeom prst="ellipse">
            <a:avLst/>
          </a:prstGeom>
          <a:solidFill>
            <a:srgbClr val="22252A"/>
          </a:solidFill>
          <a:ln/>
        </p:spPr>
      </p:sp>
      <p:sp>
        <p:nvSpPr>
          <p:cNvPr id="7" name="Text 5"/>
          <p:cNvSpPr/>
          <p:nvPr/>
        </p:nvSpPr>
        <p:spPr>
          <a:xfrm>
            <a:off x="932688" y="2962656"/>
            <a:ext cx="457200" cy="457200"/>
          </a:xfrm>
          <a:prstGeom prst="rect">
            <a:avLst/>
          </a:prstGeom>
          <a:noFill/>
          <a:ln/>
        </p:spPr>
        <p:txBody>
          <a:bodyPr wrap="square" lIns="0" tIns="0" rIns="0" bIns="0" rtlCol="0" anchor="ctr"/>
          <a:lstStyle/>
          <a:p>
            <a:pPr algn="ctr" indent="0" marL="0">
              <a:buNone/>
            </a:pPr>
            <a:r>
              <a:rPr lang="en-US" sz="1300" b="1" dirty="0">
                <a:solidFill>
                  <a:srgbClr val="F2A73B"/>
                </a:solidFill>
                <a:latin typeface="Arial" pitchFamily="34" charset="0"/>
                <a:ea typeface="Arial" pitchFamily="34" charset="-122"/>
                <a:cs typeface="Arial" pitchFamily="34" charset="-120"/>
              </a:rPr>
              <a:t>1</a:t>
            </a:r>
            <a:endParaRPr lang="en-US" sz="1300" dirty="0"/>
          </a:p>
        </p:txBody>
      </p:sp>
      <p:sp>
        <p:nvSpPr>
          <p:cNvPr id="8" name="Text 6"/>
          <p:cNvSpPr/>
          <p:nvPr/>
        </p:nvSpPr>
        <p:spPr>
          <a:xfrm>
            <a:off x="1508760" y="2980944"/>
            <a:ext cx="2377440" cy="292608"/>
          </a:xfrm>
          <a:prstGeom prst="rect">
            <a:avLst/>
          </a:prstGeom>
          <a:noFill/>
          <a:ln/>
        </p:spPr>
        <p:txBody>
          <a:bodyPr wrap="square" lIns="0" tIns="0" rIns="0" bIns="0" rtlCol="0" anchor="ctr"/>
          <a:lstStyle/>
          <a:p>
            <a:pPr indent="0" marL="0">
              <a:buNone/>
            </a:pPr>
            <a:r>
              <a:rPr lang="en-US" sz="1400" b="1" dirty="0">
                <a:solidFill>
                  <a:srgbClr val="1A1C20"/>
                </a:solidFill>
                <a:latin typeface="Arial" pitchFamily="34" charset="0"/>
                <a:ea typeface="Arial" pitchFamily="34" charset="-122"/>
                <a:cs typeface="Arial" pitchFamily="34" charset="-120"/>
              </a:rPr>
              <a:t>No se transfiere</a:t>
            </a:r>
            <a:endParaRPr lang="en-US" sz="1400" dirty="0"/>
          </a:p>
        </p:txBody>
      </p:sp>
      <p:sp>
        <p:nvSpPr>
          <p:cNvPr id="9" name="Text 7"/>
          <p:cNvSpPr/>
          <p:nvPr/>
        </p:nvSpPr>
        <p:spPr>
          <a:xfrm>
            <a:off x="932688" y="3456432"/>
            <a:ext cx="2834640" cy="685800"/>
          </a:xfrm>
          <a:prstGeom prst="rect">
            <a:avLst/>
          </a:prstGeom>
          <a:noFill/>
          <a:ln/>
        </p:spPr>
        <p:txBody>
          <a:bodyPr wrap="square" lIns="0" tIns="0" rIns="0" bIns="0" rtlCol="0" anchor="ctr"/>
          <a:lstStyle/>
          <a:p>
            <a:pPr indent="0" marL="0">
              <a:lnSpc>
                <a:spcPts val="1600"/>
              </a:lnSpc>
              <a:buNone/>
            </a:pPr>
            <a:r>
              <a:rPr lang="en-US" sz="1150" dirty="0">
                <a:solidFill>
                  <a:srgbClr val="50555F"/>
                </a:solidFill>
                <a:latin typeface="Arial" pitchFamily="34" charset="0"/>
                <a:ea typeface="Arial" pitchFamily="34" charset="-122"/>
                <a:cs typeface="Arial" pitchFamily="34" charset="-120"/>
              </a:rPr>
              <a:t>Un vendedor nuevo empieza de cero. El conocimiento se pierde con la persona.</a:t>
            </a:r>
            <a:endParaRPr lang="en-US" sz="1150" dirty="0"/>
          </a:p>
        </p:txBody>
      </p:sp>
      <p:sp>
        <p:nvSpPr>
          <p:cNvPr id="10" name="Shape 8"/>
          <p:cNvSpPr/>
          <p:nvPr/>
        </p:nvSpPr>
        <p:spPr>
          <a:xfrm>
            <a:off x="4352544" y="2697480"/>
            <a:ext cx="3401568" cy="1572768"/>
          </a:xfrm>
          <a:prstGeom prst="roundRect">
            <a:avLst>
              <a:gd name="adj" fmla="val 4651"/>
            </a:avLst>
          </a:prstGeom>
          <a:solidFill>
            <a:srgbClr val="F4F5F7"/>
          </a:solidFill>
          <a:ln/>
          <a:effectLst>
            <a:outerShdw sx="100000" sy="100000" kx="0" ky="0" algn="bl" rotWithShape="0" blurRad="101600" dist="12700" dir="5400000">
              <a:srgbClr val="000000">
                <a:alpha val="8000"/>
              </a:srgbClr>
            </a:outerShdw>
          </a:effectLst>
        </p:spPr>
      </p:sp>
      <p:sp>
        <p:nvSpPr>
          <p:cNvPr id="11" name="Shape 9"/>
          <p:cNvSpPr/>
          <p:nvPr/>
        </p:nvSpPr>
        <p:spPr>
          <a:xfrm>
            <a:off x="4645152" y="2962656"/>
            <a:ext cx="457200" cy="457200"/>
          </a:xfrm>
          <a:prstGeom prst="ellipse">
            <a:avLst/>
          </a:prstGeom>
          <a:solidFill>
            <a:srgbClr val="22252A"/>
          </a:solidFill>
          <a:ln/>
        </p:spPr>
      </p:sp>
      <p:sp>
        <p:nvSpPr>
          <p:cNvPr id="12" name="Text 10"/>
          <p:cNvSpPr/>
          <p:nvPr/>
        </p:nvSpPr>
        <p:spPr>
          <a:xfrm>
            <a:off x="4645152" y="2962656"/>
            <a:ext cx="457200" cy="457200"/>
          </a:xfrm>
          <a:prstGeom prst="rect">
            <a:avLst/>
          </a:prstGeom>
          <a:noFill/>
          <a:ln/>
        </p:spPr>
        <p:txBody>
          <a:bodyPr wrap="square" lIns="0" tIns="0" rIns="0" bIns="0" rtlCol="0" anchor="ctr"/>
          <a:lstStyle/>
          <a:p>
            <a:pPr algn="ctr" indent="0" marL="0">
              <a:buNone/>
            </a:pPr>
            <a:r>
              <a:rPr lang="en-US" sz="1300" b="1" dirty="0">
                <a:solidFill>
                  <a:srgbClr val="F2A73B"/>
                </a:solidFill>
                <a:latin typeface="Arial" pitchFamily="34" charset="0"/>
                <a:ea typeface="Arial" pitchFamily="34" charset="-122"/>
                <a:cs typeface="Arial" pitchFamily="34" charset="-120"/>
              </a:rPr>
              <a:t>2</a:t>
            </a:r>
            <a:endParaRPr lang="en-US" sz="1300" dirty="0"/>
          </a:p>
        </p:txBody>
      </p:sp>
      <p:sp>
        <p:nvSpPr>
          <p:cNvPr id="13" name="Text 11"/>
          <p:cNvSpPr/>
          <p:nvPr/>
        </p:nvSpPr>
        <p:spPr>
          <a:xfrm>
            <a:off x="5221224" y="2980944"/>
            <a:ext cx="2377440" cy="292608"/>
          </a:xfrm>
          <a:prstGeom prst="rect">
            <a:avLst/>
          </a:prstGeom>
          <a:noFill/>
          <a:ln/>
        </p:spPr>
        <p:txBody>
          <a:bodyPr wrap="square" lIns="0" tIns="0" rIns="0" bIns="0" rtlCol="0" anchor="ctr"/>
          <a:lstStyle/>
          <a:p>
            <a:pPr indent="0" marL="0">
              <a:buNone/>
            </a:pPr>
            <a:r>
              <a:rPr lang="en-US" sz="1400" b="1" dirty="0">
                <a:solidFill>
                  <a:srgbClr val="1A1C20"/>
                </a:solidFill>
                <a:latin typeface="Arial" pitchFamily="34" charset="0"/>
                <a:ea typeface="Arial" pitchFamily="34" charset="-122"/>
                <a:cs typeface="Arial" pitchFamily="34" charset="-120"/>
              </a:rPr>
              <a:t>No pide inventario</a:t>
            </a:r>
            <a:endParaRPr lang="en-US" sz="1400" dirty="0"/>
          </a:p>
        </p:txBody>
      </p:sp>
      <p:sp>
        <p:nvSpPr>
          <p:cNvPr id="14" name="Text 12"/>
          <p:cNvSpPr/>
          <p:nvPr/>
        </p:nvSpPr>
        <p:spPr>
          <a:xfrm>
            <a:off x="4645152" y="3456432"/>
            <a:ext cx="2834640" cy="685800"/>
          </a:xfrm>
          <a:prstGeom prst="rect">
            <a:avLst/>
          </a:prstGeom>
          <a:noFill/>
          <a:ln/>
        </p:spPr>
        <p:txBody>
          <a:bodyPr wrap="square" lIns="0" tIns="0" rIns="0" bIns="0" rtlCol="0" anchor="ctr"/>
          <a:lstStyle/>
          <a:p>
            <a:pPr indent="0" marL="0">
              <a:lnSpc>
                <a:spcPts val="1600"/>
              </a:lnSpc>
              <a:buNone/>
            </a:pPr>
            <a:r>
              <a:rPr lang="en-US" sz="1150" dirty="0">
                <a:solidFill>
                  <a:srgbClr val="50555F"/>
                </a:solidFill>
                <a:latin typeface="Arial" pitchFamily="34" charset="0"/>
                <a:ea typeface="Arial" pitchFamily="34" charset="-122"/>
                <a:cs typeface="Arial" pitchFamily="34" charset="-120"/>
              </a:rPr>
              <a:t>Las unidades se piden por intuición, no por el perfil que compra en cada plaza.</a:t>
            </a:r>
            <a:endParaRPr lang="en-US" sz="1150" dirty="0"/>
          </a:p>
        </p:txBody>
      </p:sp>
      <p:sp>
        <p:nvSpPr>
          <p:cNvPr id="15" name="Shape 13"/>
          <p:cNvSpPr/>
          <p:nvPr/>
        </p:nvSpPr>
        <p:spPr>
          <a:xfrm>
            <a:off x="8065008" y="2697480"/>
            <a:ext cx="3401568" cy="1572768"/>
          </a:xfrm>
          <a:prstGeom prst="roundRect">
            <a:avLst>
              <a:gd name="adj" fmla="val 4651"/>
            </a:avLst>
          </a:prstGeom>
          <a:solidFill>
            <a:srgbClr val="F4F5F7"/>
          </a:solidFill>
          <a:ln/>
          <a:effectLst>
            <a:outerShdw sx="100000" sy="100000" kx="0" ky="0" algn="bl" rotWithShape="0" blurRad="101600" dist="12700" dir="5400000">
              <a:srgbClr val="000000">
                <a:alpha val="8000"/>
              </a:srgbClr>
            </a:outerShdw>
          </a:effectLst>
        </p:spPr>
      </p:sp>
      <p:sp>
        <p:nvSpPr>
          <p:cNvPr id="16" name="Shape 14"/>
          <p:cNvSpPr/>
          <p:nvPr/>
        </p:nvSpPr>
        <p:spPr>
          <a:xfrm>
            <a:off x="8357616" y="2962656"/>
            <a:ext cx="457200" cy="457200"/>
          </a:xfrm>
          <a:prstGeom prst="ellipse">
            <a:avLst/>
          </a:prstGeom>
          <a:solidFill>
            <a:srgbClr val="22252A"/>
          </a:solidFill>
          <a:ln/>
        </p:spPr>
      </p:sp>
      <p:sp>
        <p:nvSpPr>
          <p:cNvPr id="17" name="Text 15"/>
          <p:cNvSpPr/>
          <p:nvPr/>
        </p:nvSpPr>
        <p:spPr>
          <a:xfrm>
            <a:off x="8357616" y="2962656"/>
            <a:ext cx="457200" cy="457200"/>
          </a:xfrm>
          <a:prstGeom prst="rect">
            <a:avLst/>
          </a:prstGeom>
          <a:noFill/>
          <a:ln/>
        </p:spPr>
        <p:txBody>
          <a:bodyPr wrap="square" lIns="0" tIns="0" rIns="0" bIns="0" rtlCol="0" anchor="ctr"/>
          <a:lstStyle/>
          <a:p>
            <a:pPr algn="ctr" indent="0" marL="0">
              <a:buNone/>
            </a:pPr>
            <a:r>
              <a:rPr lang="en-US" sz="1300" b="1" dirty="0">
                <a:solidFill>
                  <a:srgbClr val="F2A73B"/>
                </a:solidFill>
                <a:latin typeface="Arial" pitchFamily="34" charset="0"/>
                <a:ea typeface="Arial" pitchFamily="34" charset="-122"/>
                <a:cs typeface="Arial" pitchFamily="34" charset="-120"/>
              </a:rPr>
              <a:t>3</a:t>
            </a:r>
            <a:endParaRPr lang="en-US" sz="1300" dirty="0"/>
          </a:p>
        </p:txBody>
      </p:sp>
      <p:sp>
        <p:nvSpPr>
          <p:cNvPr id="18" name="Text 16"/>
          <p:cNvSpPr/>
          <p:nvPr/>
        </p:nvSpPr>
        <p:spPr>
          <a:xfrm>
            <a:off x="8933688" y="2980944"/>
            <a:ext cx="2377440" cy="292608"/>
          </a:xfrm>
          <a:prstGeom prst="rect">
            <a:avLst/>
          </a:prstGeom>
          <a:noFill/>
          <a:ln/>
        </p:spPr>
        <p:txBody>
          <a:bodyPr wrap="square" lIns="0" tIns="0" rIns="0" bIns="0" rtlCol="0" anchor="ctr"/>
          <a:lstStyle/>
          <a:p>
            <a:pPr indent="0" marL="0">
              <a:buNone/>
            </a:pPr>
            <a:r>
              <a:rPr lang="en-US" sz="1400" b="1" dirty="0">
                <a:solidFill>
                  <a:srgbClr val="1A1C20"/>
                </a:solidFill>
                <a:latin typeface="Arial" pitchFamily="34" charset="0"/>
                <a:ea typeface="Arial" pitchFamily="34" charset="-122"/>
                <a:cs typeface="Arial" pitchFamily="34" charset="-120"/>
              </a:rPr>
              <a:t>No orienta la marca</a:t>
            </a:r>
            <a:endParaRPr lang="en-US" sz="1400" dirty="0"/>
          </a:p>
        </p:txBody>
      </p:sp>
      <p:sp>
        <p:nvSpPr>
          <p:cNvPr id="19" name="Text 17"/>
          <p:cNvSpPr/>
          <p:nvPr/>
        </p:nvSpPr>
        <p:spPr>
          <a:xfrm>
            <a:off x="8357616" y="3456432"/>
            <a:ext cx="2834640" cy="685800"/>
          </a:xfrm>
          <a:prstGeom prst="rect">
            <a:avLst/>
          </a:prstGeom>
          <a:noFill/>
          <a:ln/>
        </p:spPr>
        <p:txBody>
          <a:bodyPr wrap="square" lIns="0" tIns="0" rIns="0" bIns="0" rtlCol="0" anchor="ctr"/>
          <a:lstStyle/>
          <a:p>
            <a:pPr indent="0" marL="0">
              <a:lnSpc>
                <a:spcPts val="1600"/>
              </a:lnSpc>
              <a:buNone/>
            </a:pPr>
            <a:r>
              <a:rPr lang="en-US" sz="1150" dirty="0">
                <a:solidFill>
                  <a:srgbClr val="50555F"/>
                </a:solidFill>
                <a:latin typeface="Arial" pitchFamily="34" charset="0"/>
                <a:ea typeface="Arial" pitchFamily="34" charset="-122"/>
                <a:cs typeface="Arial" pitchFamily="34" charset="-120"/>
              </a:rPr>
              <a:t>Arranca le habla igual al interior y a la capital, en un mercado que no es igual.</a:t>
            </a:r>
            <a:endParaRPr lang="en-US" sz="1150" dirty="0"/>
          </a:p>
        </p:txBody>
      </p:sp>
      <p:sp>
        <p:nvSpPr>
          <p:cNvPr id="20" name="Shape 18"/>
          <p:cNvSpPr/>
          <p:nvPr/>
        </p:nvSpPr>
        <p:spPr>
          <a:xfrm>
            <a:off x="640080" y="4617720"/>
            <a:ext cx="10881360" cy="1170432"/>
          </a:xfrm>
          <a:prstGeom prst="roundRect">
            <a:avLst>
              <a:gd name="adj" fmla="val 6250"/>
            </a:avLst>
          </a:prstGeom>
          <a:solidFill>
            <a:srgbClr val="22252A"/>
          </a:solidFill>
          <a:ln/>
          <a:effectLst>
            <a:outerShdw sx="100000" sy="100000" kx="0" ky="0" algn="bl" rotWithShape="0" blurRad="101600" dist="12700" dir="5400000">
              <a:srgbClr val="000000">
                <a:alpha val="8000"/>
              </a:srgbClr>
            </a:outerShdw>
          </a:effectLst>
        </p:spPr>
      </p:sp>
      <p:sp>
        <p:nvSpPr>
          <p:cNvPr id="21" name="Text 19"/>
          <p:cNvSpPr/>
          <p:nvPr/>
        </p:nvSpPr>
        <p:spPr>
          <a:xfrm>
            <a:off x="1024128" y="4791456"/>
            <a:ext cx="2926080" cy="274320"/>
          </a:xfrm>
          <a:prstGeom prst="rect">
            <a:avLst/>
          </a:prstGeom>
          <a:noFill/>
          <a:ln/>
        </p:spPr>
        <p:txBody>
          <a:bodyPr wrap="square" lIns="0" tIns="0" rIns="0" bIns="0" rtlCol="0" anchor="ctr"/>
          <a:lstStyle/>
          <a:p>
            <a:pPr indent="0" marL="0">
              <a:buNone/>
            </a:pPr>
            <a:r>
              <a:rPr lang="en-US" sz="1100" b="1" spc="150" kern="0" dirty="0">
                <a:solidFill>
                  <a:srgbClr val="F2A73B"/>
                </a:solidFill>
                <a:latin typeface="Arial" pitchFamily="34" charset="0"/>
                <a:ea typeface="Arial" pitchFamily="34" charset="-122"/>
                <a:cs typeface="Arial" pitchFamily="34" charset="-120"/>
              </a:rPr>
              <a:t>El resultado buscado</a:t>
            </a:r>
            <a:endParaRPr lang="en-US" sz="1100" dirty="0"/>
          </a:p>
        </p:txBody>
      </p:sp>
      <p:sp>
        <p:nvSpPr>
          <p:cNvPr id="22" name="Text 20"/>
          <p:cNvSpPr/>
          <p:nvPr/>
        </p:nvSpPr>
        <p:spPr>
          <a:xfrm>
            <a:off x="1024128" y="5120640"/>
            <a:ext cx="10058400" cy="45720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Una definición formal que ventas, inventario y dirección puedan usar — y verificar.</a:t>
            </a:r>
            <a:endParaRPr lang="en-US" sz="1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F2A73B"/>
                </a:solidFill>
                <a:latin typeface="Arial" pitchFamily="34" charset="0"/>
                <a:ea typeface="Arial" pitchFamily="34" charset="-122"/>
                <a:cs typeface="Arial" pitchFamily="34" charset="-120"/>
              </a:rPr>
              <a:t>EL MARCO</a:t>
            </a:r>
            <a:endParaRPr lang="en-US" sz="1100" dirty="0"/>
          </a:p>
        </p:txBody>
      </p:sp>
      <p:sp>
        <p:nvSpPr>
          <p:cNvPr id="3" name="Text 1"/>
          <p:cNvSpPr/>
          <p:nvPr/>
        </p:nvSpPr>
        <p:spPr>
          <a:xfrm>
            <a:off x="640080" y="676656"/>
            <a:ext cx="10881360" cy="685800"/>
          </a:xfrm>
          <a:prstGeom prst="rect">
            <a:avLst/>
          </a:prstGeom>
          <a:noFill/>
          <a:ln/>
        </p:spPr>
        <p:txBody>
          <a:bodyPr wrap="square" lIns="0" tIns="0" rIns="0" bIns="0" rtlCol="0" anchor="t"/>
          <a:lstStyle/>
          <a:p>
            <a:pPr indent="0" marL="0">
              <a:buNone/>
            </a:pPr>
            <a:r>
              <a:rPr lang="en-US" sz="3200" b="1" dirty="0">
                <a:solidFill>
                  <a:srgbClr val="1A1C20"/>
                </a:solidFill>
                <a:latin typeface="Cambria" pitchFamily="34" charset="0"/>
                <a:ea typeface="Cambria" pitchFamily="34" charset="-122"/>
                <a:cs typeface="Cambria" pitchFamily="34" charset="-120"/>
              </a:rPr>
              <a:t>Lo que separa a los clientes no es la geografía</a:t>
            </a:r>
            <a:endParaRPr lang="en-US" sz="3200" dirty="0"/>
          </a:p>
        </p:txBody>
      </p:sp>
      <p:sp>
        <p:nvSpPr>
          <p:cNvPr id="4" name="Text 2"/>
          <p:cNvSpPr/>
          <p:nvPr/>
        </p:nvSpPr>
        <p:spPr>
          <a:xfrm>
            <a:off x="640080" y="1572768"/>
            <a:ext cx="10881360" cy="804672"/>
          </a:xfrm>
          <a:prstGeom prst="rect">
            <a:avLst/>
          </a:prstGeom>
          <a:noFill/>
          <a:ln/>
        </p:spPr>
        <p:txBody>
          <a:bodyPr wrap="square" lIns="0" tIns="0" rIns="0" bIns="0" rtlCol="0" anchor="ctr"/>
          <a:lstStyle/>
          <a:p>
            <a:pPr indent="0" marL="0">
              <a:lnSpc>
                <a:spcPts val="2100"/>
              </a:lnSpc>
              <a:buNone/>
            </a:pPr>
            <a:r>
              <a:rPr lang="en-US" sz="1400" dirty="0">
                <a:solidFill>
                  <a:srgbClr val="3A3F49"/>
                </a:solidFill>
                <a:latin typeface="Arial" pitchFamily="34" charset="0"/>
                <a:ea typeface="Arial" pitchFamily="34" charset="-122"/>
                <a:cs typeface="Arial" pitchFamily="34" charset="-120"/>
              </a:rPr>
              <a:t>Un repartidor de Valencia y un mototaxista de Maturín viven en ciudades distintas y compran con la misma lógica. Ese mismo repartidor y el joven de primera moto de su ciudad comparten plaza y no comparten nada. Segmentar por territorio separa a dos clientes que se parecen y junta a dos que no.</a:t>
            </a:r>
            <a:endParaRPr lang="en-US" sz="1400" dirty="0"/>
          </a:p>
        </p:txBody>
      </p:sp>
      <p:sp>
        <p:nvSpPr>
          <p:cNvPr id="5" name="Text 3"/>
          <p:cNvSpPr/>
          <p:nvPr/>
        </p:nvSpPr>
        <p:spPr>
          <a:xfrm>
            <a:off x="640080" y="2578608"/>
            <a:ext cx="10881360" cy="274320"/>
          </a:xfrm>
          <a:prstGeom prst="rect">
            <a:avLst/>
          </a:prstGeom>
          <a:noFill/>
          <a:ln/>
        </p:spPr>
        <p:txBody>
          <a:bodyPr wrap="square" lIns="0" tIns="0" rIns="0" bIns="0" rtlCol="0" anchor="ctr"/>
          <a:lstStyle/>
          <a:p>
            <a:pPr indent="0" marL="0">
              <a:buNone/>
            </a:pPr>
            <a:r>
              <a:rPr lang="en-US" sz="1100" b="1" spc="150" kern="0" dirty="0">
                <a:solidFill>
                  <a:srgbClr val="F2A73B"/>
                </a:solidFill>
                <a:latin typeface="Arial" pitchFamily="34" charset="0"/>
                <a:ea typeface="Arial" pitchFamily="34" charset="-122"/>
                <a:cs typeface="Arial" pitchFamily="34" charset="-120"/>
              </a:rPr>
              <a:t>EJE DOMINANTE  ·  Relación económica con la moto</a:t>
            </a:r>
            <a:endParaRPr lang="en-US" sz="1100" dirty="0"/>
          </a:p>
        </p:txBody>
      </p:sp>
      <p:sp>
        <p:nvSpPr>
          <p:cNvPr id="6" name="Shape 4"/>
          <p:cNvSpPr/>
          <p:nvPr/>
        </p:nvSpPr>
        <p:spPr>
          <a:xfrm>
            <a:off x="640080" y="2926080"/>
            <a:ext cx="3401568" cy="1783080"/>
          </a:xfrm>
          <a:prstGeom prst="roundRect">
            <a:avLst>
              <a:gd name="adj" fmla="val 4103"/>
            </a:avLst>
          </a:prstGeom>
          <a:solidFill>
            <a:srgbClr val="F4F5F7"/>
          </a:solidFill>
          <a:ln/>
          <a:effectLst>
            <a:outerShdw sx="100000" sy="100000" kx="0" ky="0" algn="bl" rotWithShape="0" blurRad="101600" dist="12700" dir="5400000">
              <a:srgbClr val="000000">
                <a:alpha val="8000"/>
              </a:srgbClr>
            </a:outerShdw>
          </a:effectLst>
        </p:spPr>
      </p:sp>
      <p:sp>
        <p:nvSpPr>
          <p:cNvPr id="7" name="Shape 5"/>
          <p:cNvSpPr/>
          <p:nvPr/>
        </p:nvSpPr>
        <p:spPr>
          <a:xfrm>
            <a:off x="932688" y="3200400"/>
            <a:ext cx="201168" cy="201168"/>
          </a:xfrm>
          <a:prstGeom prst="ellipse">
            <a:avLst/>
          </a:prstGeom>
          <a:solidFill>
            <a:srgbClr val="F2A73B"/>
          </a:solidFill>
          <a:ln/>
        </p:spPr>
      </p:sp>
      <p:sp>
        <p:nvSpPr>
          <p:cNvPr id="8" name="Text 6"/>
          <p:cNvSpPr/>
          <p:nvPr/>
        </p:nvSpPr>
        <p:spPr>
          <a:xfrm>
            <a:off x="1243584" y="3145536"/>
            <a:ext cx="2651760" cy="310896"/>
          </a:xfrm>
          <a:prstGeom prst="rect">
            <a:avLst/>
          </a:prstGeom>
          <a:noFill/>
          <a:ln/>
        </p:spPr>
        <p:txBody>
          <a:bodyPr wrap="square" lIns="0" tIns="0" rIns="0" bIns="0" rtlCol="0" anchor="ctr"/>
          <a:lstStyle/>
          <a:p>
            <a:pPr indent="0" marL="0">
              <a:buNone/>
            </a:pPr>
            <a:r>
              <a:rPr lang="en-US" sz="1350" b="1" dirty="0">
                <a:solidFill>
                  <a:srgbClr val="1A1C20"/>
                </a:solidFill>
                <a:latin typeface="Arial" pitchFamily="34" charset="0"/>
                <a:ea typeface="Arial" pitchFamily="34" charset="-122"/>
                <a:cs typeface="Arial" pitchFamily="34" charset="-120"/>
              </a:rPr>
              <a:t>Activo productivo</a:t>
            </a:r>
            <a:endParaRPr lang="en-US" sz="1350" dirty="0"/>
          </a:p>
        </p:txBody>
      </p:sp>
      <p:sp>
        <p:nvSpPr>
          <p:cNvPr id="9" name="Text 7"/>
          <p:cNvSpPr/>
          <p:nvPr/>
        </p:nvSpPr>
        <p:spPr>
          <a:xfrm>
            <a:off x="932688" y="3584448"/>
            <a:ext cx="2834640" cy="457200"/>
          </a:xfrm>
          <a:prstGeom prst="rect">
            <a:avLst/>
          </a:prstGeom>
          <a:noFill/>
          <a:ln/>
        </p:spPr>
        <p:txBody>
          <a:bodyPr wrap="square" lIns="0" tIns="0" rIns="0" bIns="0" rtlCol="0" anchor="ctr"/>
          <a:lstStyle/>
          <a:p>
            <a:pPr indent="0" marL="0">
              <a:lnSpc>
                <a:spcPts val="1500"/>
              </a:lnSpc>
              <a:buNone/>
            </a:pPr>
            <a:r>
              <a:rPr lang="en-US" sz="1150" b="1" dirty="0">
                <a:solidFill>
                  <a:srgbClr val="3A3F49"/>
                </a:solidFill>
                <a:latin typeface="Arial" pitchFamily="34" charset="0"/>
                <a:ea typeface="Arial" pitchFamily="34" charset="-122"/>
                <a:cs typeface="Arial" pitchFamily="34" charset="-120"/>
              </a:rPr>
              <a:t>La moto genera ingreso directo.</a:t>
            </a:r>
            <a:endParaRPr lang="en-US" sz="1150" dirty="0"/>
          </a:p>
        </p:txBody>
      </p:sp>
      <p:sp>
        <p:nvSpPr>
          <p:cNvPr id="10" name="Text 8"/>
          <p:cNvSpPr/>
          <p:nvPr/>
        </p:nvSpPr>
        <p:spPr>
          <a:xfrm>
            <a:off x="932688" y="4041648"/>
            <a:ext cx="2834640" cy="566928"/>
          </a:xfrm>
          <a:prstGeom prst="rect">
            <a:avLst/>
          </a:prstGeom>
          <a:noFill/>
          <a:ln/>
        </p:spPr>
        <p:txBody>
          <a:bodyPr wrap="square" lIns="0" tIns="0" rIns="0" bIns="0" rtlCol="0" anchor="ctr"/>
          <a:lstStyle/>
          <a:p>
            <a:pPr indent="0" marL="0">
              <a:lnSpc>
                <a:spcPts val="1500"/>
              </a:lnSpc>
              <a:buNone/>
            </a:pPr>
            <a:r>
              <a:rPr lang="en-US" sz="1100" dirty="0">
                <a:solidFill>
                  <a:srgbClr val="60656F"/>
                </a:solidFill>
                <a:latin typeface="Arial" pitchFamily="34" charset="0"/>
                <a:ea typeface="Arial" pitchFamily="34" charset="-122"/>
                <a:cs typeface="Arial" pitchFamily="34" charset="-120"/>
              </a:rPr>
              <a:t>Decide por retorno: consumo, repuestos, días fuera de servicio.</a:t>
            </a:r>
            <a:endParaRPr lang="en-US" sz="1100" dirty="0"/>
          </a:p>
        </p:txBody>
      </p:sp>
      <p:sp>
        <p:nvSpPr>
          <p:cNvPr id="11" name="Shape 9"/>
          <p:cNvSpPr/>
          <p:nvPr/>
        </p:nvSpPr>
        <p:spPr>
          <a:xfrm>
            <a:off x="4352544" y="2926080"/>
            <a:ext cx="3401568" cy="1783080"/>
          </a:xfrm>
          <a:prstGeom prst="roundRect">
            <a:avLst>
              <a:gd name="adj" fmla="val 4103"/>
            </a:avLst>
          </a:prstGeom>
          <a:solidFill>
            <a:srgbClr val="F4F5F7"/>
          </a:solidFill>
          <a:ln/>
          <a:effectLst>
            <a:outerShdw sx="100000" sy="100000" kx="0" ky="0" algn="bl" rotWithShape="0" blurRad="101600" dist="12700" dir="5400000">
              <a:srgbClr val="000000">
                <a:alpha val="8000"/>
              </a:srgbClr>
            </a:outerShdw>
          </a:effectLst>
        </p:spPr>
      </p:sp>
      <p:sp>
        <p:nvSpPr>
          <p:cNvPr id="12" name="Shape 10"/>
          <p:cNvSpPr/>
          <p:nvPr/>
        </p:nvSpPr>
        <p:spPr>
          <a:xfrm>
            <a:off x="4645152" y="3200400"/>
            <a:ext cx="201168" cy="201168"/>
          </a:xfrm>
          <a:prstGeom prst="ellipse">
            <a:avLst/>
          </a:prstGeom>
          <a:solidFill>
            <a:srgbClr val="C4432B"/>
          </a:solidFill>
          <a:ln/>
        </p:spPr>
      </p:sp>
      <p:sp>
        <p:nvSpPr>
          <p:cNvPr id="13" name="Text 11"/>
          <p:cNvSpPr/>
          <p:nvPr/>
        </p:nvSpPr>
        <p:spPr>
          <a:xfrm>
            <a:off x="4956048" y="3145536"/>
            <a:ext cx="2651760" cy="310896"/>
          </a:xfrm>
          <a:prstGeom prst="rect">
            <a:avLst/>
          </a:prstGeom>
          <a:noFill/>
          <a:ln/>
        </p:spPr>
        <p:txBody>
          <a:bodyPr wrap="square" lIns="0" tIns="0" rIns="0" bIns="0" rtlCol="0" anchor="ctr"/>
          <a:lstStyle/>
          <a:p>
            <a:pPr indent="0" marL="0">
              <a:buNone/>
            </a:pPr>
            <a:r>
              <a:rPr lang="en-US" sz="1350" b="1" dirty="0">
                <a:solidFill>
                  <a:srgbClr val="1A1C20"/>
                </a:solidFill>
                <a:latin typeface="Arial" pitchFamily="34" charset="0"/>
                <a:ea typeface="Arial" pitchFamily="34" charset="-122"/>
                <a:cs typeface="Arial" pitchFamily="34" charset="-120"/>
              </a:rPr>
              <a:t>Herramienta de sustitución</a:t>
            </a:r>
            <a:endParaRPr lang="en-US" sz="1350" dirty="0"/>
          </a:p>
        </p:txBody>
      </p:sp>
      <p:sp>
        <p:nvSpPr>
          <p:cNvPr id="14" name="Text 12"/>
          <p:cNvSpPr/>
          <p:nvPr/>
        </p:nvSpPr>
        <p:spPr>
          <a:xfrm>
            <a:off x="4645152" y="3584448"/>
            <a:ext cx="2834640" cy="457200"/>
          </a:xfrm>
          <a:prstGeom prst="rect">
            <a:avLst/>
          </a:prstGeom>
          <a:noFill/>
          <a:ln/>
        </p:spPr>
        <p:txBody>
          <a:bodyPr wrap="square" lIns="0" tIns="0" rIns="0" bIns="0" rtlCol="0" anchor="ctr"/>
          <a:lstStyle/>
          <a:p>
            <a:pPr indent="0" marL="0">
              <a:lnSpc>
                <a:spcPts val="1500"/>
              </a:lnSpc>
              <a:buNone/>
            </a:pPr>
            <a:r>
              <a:rPr lang="en-US" sz="1150" b="1" dirty="0">
                <a:solidFill>
                  <a:srgbClr val="3A3F49"/>
                </a:solidFill>
                <a:latin typeface="Arial" pitchFamily="34" charset="0"/>
                <a:ea typeface="Arial" pitchFamily="34" charset="-122"/>
                <a:cs typeface="Arial" pitchFamily="34" charset="-120"/>
              </a:rPr>
              <a:t>Reemplaza un carro que no tiene o un bus que no pasa.</a:t>
            </a:r>
            <a:endParaRPr lang="en-US" sz="1150" dirty="0"/>
          </a:p>
        </p:txBody>
      </p:sp>
      <p:sp>
        <p:nvSpPr>
          <p:cNvPr id="15" name="Text 13"/>
          <p:cNvSpPr/>
          <p:nvPr/>
        </p:nvSpPr>
        <p:spPr>
          <a:xfrm>
            <a:off x="4645152" y="4041648"/>
            <a:ext cx="2834640" cy="566928"/>
          </a:xfrm>
          <a:prstGeom prst="rect">
            <a:avLst/>
          </a:prstGeom>
          <a:noFill/>
          <a:ln/>
        </p:spPr>
        <p:txBody>
          <a:bodyPr wrap="square" lIns="0" tIns="0" rIns="0" bIns="0" rtlCol="0" anchor="ctr"/>
          <a:lstStyle/>
          <a:p>
            <a:pPr indent="0" marL="0">
              <a:lnSpc>
                <a:spcPts val="1500"/>
              </a:lnSpc>
              <a:buNone/>
            </a:pPr>
            <a:r>
              <a:rPr lang="en-US" sz="1100" dirty="0">
                <a:solidFill>
                  <a:srgbClr val="60656F"/>
                </a:solidFill>
                <a:latin typeface="Arial" pitchFamily="34" charset="0"/>
                <a:ea typeface="Arial" pitchFamily="34" charset="-122"/>
                <a:cs typeface="Arial" pitchFamily="34" charset="-120"/>
              </a:rPr>
              <a:t>Decide por costo total y versatilidad.</a:t>
            </a:r>
            <a:endParaRPr lang="en-US" sz="1100" dirty="0"/>
          </a:p>
        </p:txBody>
      </p:sp>
      <p:sp>
        <p:nvSpPr>
          <p:cNvPr id="16" name="Shape 14"/>
          <p:cNvSpPr/>
          <p:nvPr/>
        </p:nvSpPr>
        <p:spPr>
          <a:xfrm>
            <a:off x="8065008" y="2926080"/>
            <a:ext cx="3401568" cy="1783080"/>
          </a:xfrm>
          <a:prstGeom prst="roundRect">
            <a:avLst>
              <a:gd name="adj" fmla="val 4103"/>
            </a:avLst>
          </a:prstGeom>
          <a:solidFill>
            <a:srgbClr val="F4F5F7"/>
          </a:solidFill>
          <a:ln/>
          <a:effectLst>
            <a:outerShdw sx="100000" sy="100000" kx="0" ky="0" algn="bl" rotWithShape="0" blurRad="101600" dist="12700" dir="5400000">
              <a:srgbClr val="000000">
                <a:alpha val="8000"/>
              </a:srgbClr>
            </a:outerShdw>
          </a:effectLst>
        </p:spPr>
      </p:sp>
      <p:sp>
        <p:nvSpPr>
          <p:cNvPr id="17" name="Shape 15"/>
          <p:cNvSpPr/>
          <p:nvPr/>
        </p:nvSpPr>
        <p:spPr>
          <a:xfrm>
            <a:off x="8357616" y="3200400"/>
            <a:ext cx="201168" cy="201168"/>
          </a:xfrm>
          <a:prstGeom prst="ellipse">
            <a:avLst/>
          </a:prstGeom>
          <a:solidFill>
            <a:srgbClr val="5B6472"/>
          </a:solidFill>
          <a:ln/>
        </p:spPr>
      </p:sp>
      <p:sp>
        <p:nvSpPr>
          <p:cNvPr id="18" name="Text 16"/>
          <p:cNvSpPr/>
          <p:nvPr/>
        </p:nvSpPr>
        <p:spPr>
          <a:xfrm>
            <a:off x="8668512" y="3145536"/>
            <a:ext cx="2651760" cy="310896"/>
          </a:xfrm>
          <a:prstGeom prst="rect">
            <a:avLst/>
          </a:prstGeom>
          <a:noFill/>
          <a:ln/>
        </p:spPr>
        <p:txBody>
          <a:bodyPr wrap="square" lIns="0" tIns="0" rIns="0" bIns="0" rtlCol="0" anchor="ctr"/>
          <a:lstStyle/>
          <a:p>
            <a:pPr indent="0" marL="0">
              <a:buNone/>
            </a:pPr>
            <a:r>
              <a:rPr lang="en-US" sz="1350" b="1" dirty="0">
                <a:solidFill>
                  <a:srgbClr val="1A1C20"/>
                </a:solidFill>
                <a:latin typeface="Arial" pitchFamily="34" charset="0"/>
                <a:ea typeface="Arial" pitchFamily="34" charset="-122"/>
                <a:cs typeface="Arial" pitchFamily="34" charset="-120"/>
              </a:rPr>
              <a:t>Movilidad e identidad</a:t>
            </a:r>
            <a:endParaRPr lang="en-US" sz="1350" dirty="0"/>
          </a:p>
        </p:txBody>
      </p:sp>
      <p:sp>
        <p:nvSpPr>
          <p:cNvPr id="19" name="Text 17"/>
          <p:cNvSpPr/>
          <p:nvPr/>
        </p:nvSpPr>
        <p:spPr>
          <a:xfrm>
            <a:off x="8357616" y="3584448"/>
            <a:ext cx="2834640" cy="457200"/>
          </a:xfrm>
          <a:prstGeom prst="rect">
            <a:avLst/>
          </a:prstGeom>
          <a:noFill/>
          <a:ln/>
        </p:spPr>
        <p:txBody>
          <a:bodyPr wrap="square" lIns="0" tIns="0" rIns="0" bIns="0" rtlCol="0" anchor="ctr"/>
          <a:lstStyle/>
          <a:p>
            <a:pPr indent="0" marL="0">
              <a:lnSpc>
                <a:spcPts val="1500"/>
              </a:lnSpc>
              <a:buNone/>
            </a:pPr>
            <a:r>
              <a:rPr lang="en-US" sz="1150" b="1" dirty="0">
                <a:solidFill>
                  <a:srgbClr val="3A3F49"/>
                </a:solidFill>
                <a:latin typeface="Arial" pitchFamily="34" charset="0"/>
                <a:ea typeface="Arial" pitchFamily="34" charset="-122"/>
                <a:cs typeface="Arial" pitchFamily="34" charset="-120"/>
              </a:rPr>
              <a:t>Autonomía personal, y también identidad.</a:t>
            </a:r>
            <a:endParaRPr lang="en-US" sz="1150" dirty="0"/>
          </a:p>
        </p:txBody>
      </p:sp>
      <p:sp>
        <p:nvSpPr>
          <p:cNvPr id="20" name="Text 18"/>
          <p:cNvSpPr/>
          <p:nvPr/>
        </p:nvSpPr>
        <p:spPr>
          <a:xfrm>
            <a:off x="8357616" y="4041648"/>
            <a:ext cx="2834640" cy="566928"/>
          </a:xfrm>
          <a:prstGeom prst="rect">
            <a:avLst/>
          </a:prstGeom>
          <a:noFill/>
          <a:ln/>
        </p:spPr>
        <p:txBody>
          <a:bodyPr wrap="square" lIns="0" tIns="0" rIns="0" bIns="0" rtlCol="0" anchor="ctr"/>
          <a:lstStyle/>
          <a:p>
            <a:pPr indent="0" marL="0">
              <a:lnSpc>
                <a:spcPts val="1500"/>
              </a:lnSpc>
              <a:buNone/>
            </a:pPr>
            <a:r>
              <a:rPr lang="en-US" sz="1100" dirty="0">
                <a:solidFill>
                  <a:srgbClr val="60656F"/>
                </a:solidFill>
                <a:latin typeface="Arial" pitchFamily="34" charset="0"/>
                <a:ea typeface="Arial" pitchFamily="34" charset="-122"/>
                <a:cs typeface="Arial" pitchFamily="34" charset="-120"/>
              </a:rPr>
              <a:t>Único perfil donde el gusto pesa más que el cálculo.</a:t>
            </a:r>
            <a:endParaRPr lang="en-US" sz="1100" dirty="0"/>
          </a:p>
        </p:txBody>
      </p:sp>
      <p:sp>
        <p:nvSpPr>
          <p:cNvPr id="21" name="Text 19"/>
          <p:cNvSpPr/>
          <p:nvPr/>
        </p:nvSpPr>
        <p:spPr>
          <a:xfrm>
            <a:off x="640080" y="4956048"/>
            <a:ext cx="4023360" cy="274320"/>
          </a:xfrm>
          <a:prstGeom prst="rect">
            <a:avLst/>
          </a:prstGeom>
          <a:noFill/>
          <a:ln/>
        </p:spPr>
        <p:txBody>
          <a:bodyPr wrap="square" lIns="0" tIns="0" rIns="0" bIns="0" rtlCol="0" anchor="ctr"/>
          <a:lstStyle/>
          <a:p>
            <a:pPr indent="0" marL="0">
              <a:buNone/>
            </a:pPr>
            <a:r>
              <a:rPr lang="en-US" sz="1200" b="1" dirty="0">
                <a:solidFill>
                  <a:srgbClr val="1A1C20"/>
                </a:solidFill>
                <a:latin typeface="Arial" pitchFamily="34" charset="0"/>
                <a:ea typeface="Arial" pitchFamily="34" charset="-122"/>
                <a:cs typeface="Arial" pitchFamily="34" charset="-120"/>
              </a:rPr>
              <a:t>Dos ejes que modulan, no que definen:</a:t>
            </a:r>
            <a:endParaRPr lang="en-US" sz="1200" dirty="0"/>
          </a:p>
        </p:txBody>
      </p:sp>
      <p:sp>
        <p:nvSpPr>
          <p:cNvPr id="22" name="Text 20"/>
          <p:cNvSpPr/>
          <p:nvPr/>
        </p:nvSpPr>
        <p:spPr>
          <a:xfrm>
            <a:off x="640080" y="5266944"/>
            <a:ext cx="5120640" cy="457200"/>
          </a:xfrm>
          <a:prstGeom prst="rect">
            <a:avLst/>
          </a:prstGeom>
          <a:noFill/>
          <a:ln/>
        </p:spPr>
        <p:txBody>
          <a:bodyPr wrap="square" lIns="0" tIns="0" rIns="0" bIns="0" rtlCol="0" anchor="ctr"/>
          <a:lstStyle/>
          <a:p>
            <a:pPr indent="0" marL="0">
              <a:buNone/>
            </a:pPr>
            <a:r>
              <a:rPr lang="en-US" sz="1150" b="1" dirty="0">
                <a:solidFill>
                  <a:srgbClr val="50555F"/>
                </a:solidFill>
                <a:latin typeface="Arial" pitchFamily="34" charset="0"/>
                <a:ea typeface="Arial" pitchFamily="34" charset="-122"/>
                <a:cs typeface="Arial" pitchFamily="34" charset="-120"/>
              </a:rPr>
              <a:t>Territorio</a:t>
            </a:r>
            <a:pPr indent="0" marL="0">
              <a:buNone/>
            </a:pPr>
            <a:r>
              <a:rPr lang="en-US" sz="1150" dirty="0">
                <a:solidFill>
                  <a:srgbClr val="50555F"/>
                </a:solidFill>
                <a:latin typeface="Arial" pitchFamily="34" charset="0"/>
                <a:ea typeface="Arial" pitchFamily="34" charset="-122"/>
                <a:cs typeface="Arial" pitchFamily="34" charset="-120"/>
              </a:rPr>
              <a:t>  Gran Caracas · capitales · interior. Cambia distancias y vías.</a:t>
            </a:r>
            <a:endParaRPr lang="en-US" sz="1150" dirty="0"/>
          </a:p>
        </p:txBody>
      </p:sp>
      <p:sp>
        <p:nvSpPr>
          <p:cNvPr id="23" name="Text 21"/>
          <p:cNvSpPr/>
          <p:nvPr/>
        </p:nvSpPr>
        <p:spPr>
          <a:xfrm>
            <a:off x="5943600" y="5266944"/>
            <a:ext cx="5577840" cy="457200"/>
          </a:xfrm>
          <a:prstGeom prst="rect">
            <a:avLst/>
          </a:prstGeom>
          <a:noFill/>
          <a:ln/>
        </p:spPr>
        <p:txBody>
          <a:bodyPr wrap="square" lIns="0" tIns="0" rIns="0" bIns="0" rtlCol="0" anchor="ctr"/>
          <a:lstStyle/>
          <a:p>
            <a:pPr indent="0" marL="0">
              <a:buNone/>
            </a:pPr>
            <a:r>
              <a:rPr lang="en-US" sz="1150" b="1" dirty="0">
                <a:solidFill>
                  <a:srgbClr val="50555F"/>
                </a:solidFill>
                <a:latin typeface="Arial" pitchFamily="34" charset="0"/>
                <a:ea typeface="Arial" pitchFamily="34" charset="-122"/>
                <a:cs typeface="Arial" pitchFamily="34" charset="-120"/>
              </a:rPr>
              <a:t>Forma de pago</a:t>
            </a:r>
            <a:pPr indent="0" marL="0">
              <a:buNone/>
            </a:pPr>
            <a:r>
              <a:rPr lang="en-US" sz="1150" dirty="0">
                <a:solidFill>
                  <a:srgbClr val="50555F"/>
                </a:solidFill>
                <a:latin typeface="Arial" pitchFamily="34" charset="0"/>
                <a:ea typeface="Arial" pitchFamily="34" charset="-122"/>
                <a:cs typeface="Arial" pitchFamily="34" charset="-120"/>
              </a:rPr>
              <a:t>  Contado o cuota semanal. Define riesgo y quién decide.</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F2A73B"/>
                </a:solidFill>
                <a:latin typeface="Arial" pitchFamily="34" charset="0"/>
                <a:ea typeface="Arial" pitchFamily="34" charset="-122"/>
                <a:cs typeface="Arial" pitchFamily="34" charset="-120"/>
              </a:rPr>
              <a:t>MODELO DE CALIFICACIÓN</a:t>
            </a:r>
            <a:endParaRPr lang="en-US" sz="1100" dirty="0"/>
          </a:p>
        </p:txBody>
      </p:sp>
      <p:sp>
        <p:nvSpPr>
          <p:cNvPr id="3" name="Text 1"/>
          <p:cNvSpPr/>
          <p:nvPr/>
        </p:nvSpPr>
        <p:spPr>
          <a:xfrm>
            <a:off x="640080" y="676656"/>
            <a:ext cx="10881360" cy="685800"/>
          </a:xfrm>
          <a:prstGeom prst="rect">
            <a:avLst/>
          </a:prstGeom>
          <a:noFill/>
          <a:ln/>
        </p:spPr>
        <p:txBody>
          <a:bodyPr wrap="square" lIns="0" tIns="0" rIns="0" bIns="0" rtlCol="0" anchor="t"/>
          <a:lstStyle/>
          <a:p>
            <a:pPr indent="0" marL="0">
              <a:buNone/>
            </a:pPr>
            <a:r>
              <a:rPr lang="en-US" sz="3200" b="1" dirty="0">
                <a:solidFill>
                  <a:srgbClr val="1A1C20"/>
                </a:solidFill>
                <a:latin typeface="Cambria" pitchFamily="34" charset="0"/>
                <a:ea typeface="Cambria" pitchFamily="34" charset="-122"/>
                <a:cs typeface="Cambria" pitchFamily="34" charset="-120"/>
              </a:rPr>
              <a:t>Un cliente ideal no es el que compra</a:t>
            </a:r>
            <a:endParaRPr lang="en-US" sz="3200" dirty="0"/>
          </a:p>
        </p:txBody>
      </p:sp>
      <p:sp>
        <p:nvSpPr>
          <p:cNvPr id="4" name="Text 2"/>
          <p:cNvSpPr/>
          <p:nvPr/>
        </p:nvSpPr>
        <p:spPr>
          <a:xfrm>
            <a:off x="640080" y="1572768"/>
            <a:ext cx="10881360" cy="347472"/>
          </a:xfrm>
          <a:prstGeom prst="rect">
            <a:avLst/>
          </a:prstGeom>
          <a:noFill/>
          <a:ln/>
        </p:spPr>
        <p:txBody>
          <a:bodyPr wrap="square" lIns="0" tIns="0" rIns="0" bIns="0" rtlCol="0" anchor="ctr"/>
          <a:lstStyle/>
          <a:p>
            <a:pPr indent="0" marL="0">
              <a:buNone/>
            </a:pPr>
            <a:r>
              <a:rPr lang="en-US" sz="1400" dirty="0">
                <a:solidFill>
                  <a:srgbClr val="3A3F49"/>
                </a:solidFill>
                <a:latin typeface="Arial" pitchFamily="34" charset="0"/>
                <a:ea typeface="Arial" pitchFamily="34" charset="-122"/>
                <a:cs typeface="Arial" pitchFamily="34" charset="-120"/>
              </a:rPr>
              <a:t>Es el que Arranca puede servir bien, de forma rentable y repetida. Hay clientes que compran y aun así cuestan dinero.</a:t>
            </a:r>
            <a:endParaRPr lang="en-US" sz="1400" dirty="0"/>
          </a:p>
        </p:txBody>
      </p:sp>
      <p:graphicFrame>
        <p:nvGraphicFramePr>
          <p:cNvPr id="5" name="Chart 0" descr=""/>
          <p:cNvGraphicFramePr/>
          <p:nvPr/>
        </p:nvGraphicFramePr>
        <p:xfrm>
          <a:off x="640080" y="2148840"/>
          <a:ext cx="5943600" cy="288036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6903720" y="2148840"/>
            <a:ext cx="4617720" cy="2880360"/>
          </a:xfrm>
          <a:prstGeom prst="roundRect">
            <a:avLst>
              <a:gd name="adj" fmla="val 2540"/>
            </a:avLst>
          </a:prstGeom>
          <a:solidFill>
            <a:srgbClr val="22252A"/>
          </a:solidFill>
          <a:ln/>
          <a:effectLst>
            <a:outerShdw sx="100000" sy="100000" kx="0" ky="0" algn="bl" rotWithShape="0" blurRad="101600" dist="12700" dir="5400000">
              <a:srgbClr val="000000">
                <a:alpha val="8000"/>
              </a:srgbClr>
            </a:outerShdw>
          </a:effectLst>
        </p:spPr>
      </p:sp>
      <p:sp>
        <p:nvSpPr>
          <p:cNvPr id="7" name="Text 4"/>
          <p:cNvSpPr/>
          <p:nvPr/>
        </p:nvSpPr>
        <p:spPr>
          <a:xfrm>
            <a:off x="7269480" y="2377440"/>
            <a:ext cx="3931920" cy="292608"/>
          </a:xfrm>
          <a:prstGeom prst="rect">
            <a:avLst/>
          </a:prstGeom>
          <a:noFill/>
          <a:ln/>
        </p:spPr>
        <p:txBody>
          <a:bodyPr wrap="square" lIns="0" tIns="0" rIns="0" bIns="0" rtlCol="0" anchor="ctr"/>
          <a:lstStyle/>
          <a:p>
            <a:pPr indent="0" marL="0">
              <a:buNone/>
            </a:pPr>
            <a:r>
              <a:rPr lang="en-US" sz="1200" b="1" spc="100" kern="0" dirty="0">
                <a:solidFill>
                  <a:srgbClr val="F2A73B"/>
                </a:solidFill>
                <a:latin typeface="Arial" pitchFamily="34" charset="0"/>
                <a:ea typeface="Arial" pitchFamily="34" charset="-122"/>
                <a:cs typeface="Arial" pitchFamily="34" charset="-120"/>
              </a:rPr>
              <a:t>Por qué estos pesos</a:t>
            </a:r>
            <a:endParaRPr lang="en-US" sz="1200" dirty="0"/>
          </a:p>
        </p:txBody>
      </p:sp>
      <p:sp>
        <p:nvSpPr>
          <p:cNvPr id="8" name="Text 5"/>
          <p:cNvSpPr/>
          <p:nvPr/>
        </p:nvSpPr>
        <p:spPr>
          <a:xfrm>
            <a:off x="7269480" y="2761488"/>
            <a:ext cx="3931920" cy="2103120"/>
          </a:xfrm>
          <a:prstGeom prst="rect">
            <a:avLst/>
          </a:prstGeom>
          <a:noFill/>
          <a:ln/>
        </p:spPr>
        <p:txBody>
          <a:bodyPr wrap="square" lIns="0" tIns="0" rIns="0" bIns="0" rtlCol="0" anchor="ctr"/>
          <a:lstStyle/>
          <a:p>
            <a:pPr indent="0" marL="0">
              <a:lnSpc>
                <a:spcPts val="1600"/>
              </a:lnSpc>
              <a:buNone/>
            </a:pPr>
            <a:r>
              <a:rPr lang="en-US" sz="1150" dirty="0">
                <a:solidFill>
                  <a:srgbClr val="D5D9DF"/>
                </a:solidFill>
                <a:latin typeface="Arial" pitchFamily="34" charset="0"/>
                <a:ea typeface="Arial" pitchFamily="34" charset="-122"/>
                <a:cs typeface="Arial" pitchFamily="34" charset="-120"/>
              </a:rPr>
              <a:t>Recurrencia y calidad de pago pesan más que el ticket, y es deliberado.</a:t>
            </a:r>
            <a:endParaRPr lang="en-US" sz="1150" dirty="0"/>
          </a:p>
          <a:p>
            <a:pPr indent="0" marL="0">
              <a:lnSpc>
                <a:spcPts val="1600"/>
              </a:lnSpc>
              <a:buNone/>
            </a:pPr>
            <a:endParaRPr lang="en-US" sz="1150" dirty="0"/>
          </a:p>
          <a:p>
            <a:pPr indent="0" marL="0">
              <a:lnSpc>
                <a:spcPts val="1600"/>
              </a:lnSpc>
              <a:buNone/>
            </a:pPr>
            <a:r>
              <a:rPr lang="en-US" sz="1150" dirty="0">
                <a:solidFill>
                  <a:srgbClr val="D5D9DF"/>
                </a:solidFill>
                <a:latin typeface="Arial" pitchFamily="34" charset="0"/>
                <a:ea typeface="Arial" pitchFamily="34" charset="-122"/>
                <a:cs typeface="Arial" pitchFamily="34" charset="-120"/>
              </a:rPr>
              <a:t>En venta con inicial y cuotas semanales el margen no está en la unidad vendida: está en los años siguientes de repuestos y en que el plan llegue completo al final.</a:t>
            </a:r>
            <a:endParaRPr lang="en-US" sz="1150" dirty="0"/>
          </a:p>
          <a:p>
            <a:pPr indent="0" marL="0">
              <a:lnSpc>
                <a:spcPts val="1600"/>
              </a:lnSpc>
              <a:buNone/>
            </a:pPr>
            <a:endParaRPr lang="en-US" sz="1150" dirty="0"/>
          </a:p>
          <a:p>
            <a:pPr indent="0" marL="0">
              <a:lnSpc>
                <a:spcPts val="1600"/>
              </a:lnSpc>
              <a:buNone/>
            </a:pPr>
            <a:r>
              <a:rPr lang="en-US" sz="1150" dirty="0">
                <a:solidFill>
                  <a:srgbClr val="D5D9DF"/>
                </a:solidFill>
                <a:latin typeface="Arial" pitchFamily="34" charset="0"/>
                <a:ea typeface="Arial" pitchFamily="34" charset="-122"/>
                <a:cs typeface="Arial" pitchFamily="34" charset="-120"/>
              </a:rPr>
              <a:t>Un ticket alto que se atrasa desde la cuota seis vale menos que un ticket medio que paga completo y vuelve cada tres meses.</a:t>
            </a:r>
            <a:endParaRPr lang="en-US" sz="1150" dirty="0"/>
          </a:p>
        </p:txBody>
      </p:sp>
      <p:sp>
        <p:nvSpPr>
          <p:cNvPr id="9" name="Shape 6"/>
          <p:cNvSpPr/>
          <p:nvPr/>
        </p:nvSpPr>
        <p:spPr>
          <a:xfrm>
            <a:off x="640080" y="5257800"/>
            <a:ext cx="2606040" cy="91440"/>
          </a:xfrm>
          <a:prstGeom prst="rect">
            <a:avLst/>
          </a:prstGeom>
          <a:solidFill>
            <a:srgbClr val="F2A73B"/>
          </a:solidFill>
          <a:ln/>
        </p:spPr>
      </p:sp>
      <p:sp>
        <p:nvSpPr>
          <p:cNvPr id="10" name="Text 7"/>
          <p:cNvSpPr/>
          <p:nvPr/>
        </p:nvSpPr>
        <p:spPr>
          <a:xfrm>
            <a:off x="640080" y="5413248"/>
            <a:ext cx="2606040" cy="256032"/>
          </a:xfrm>
          <a:prstGeom prst="rect">
            <a:avLst/>
          </a:prstGeom>
          <a:noFill/>
          <a:ln/>
        </p:spPr>
        <p:txBody>
          <a:bodyPr wrap="square" lIns="0" tIns="0" rIns="0" bIns="0" rtlCol="0" anchor="ctr"/>
          <a:lstStyle/>
          <a:p>
            <a:pPr indent="0" marL="0">
              <a:buNone/>
            </a:pPr>
            <a:r>
              <a:rPr lang="en-US" sz="1200" b="1" dirty="0">
                <a:solidFill>
                  <a:srgbClr val="1A1C20"/>
                </a:solidFill>
                <a:latin typeface="Arial" pitchFamily="34" charset="0"/>
                <a:ea typeface="Arial" pitchFamily="34" charset="-122"/>
                <a:cs typeface="Arial" pitchFamily="34" charset="-120"/>
              </a:rPr>
              <a:t>PRIMARIO</a:t>
            </a:r>
            <a:endParaRPr lang="en-US" sz="1200" dirty="0"/>
          </a:p>
        </p:txBody>
      </p:sp>
      <p:sp>
        <p:nvSpPr>
          <p:cNvPr id="11" name="Text 8"/>
          <p:cNvSpPr/>
          <p:nvPr/>
        </p:nvSpPr>
        <p:spPr>
          <a:xfrm>
            <a:off x="640080" y="5669280"/>
            <a:ext cx="2606040" cy="237744"/>
          </a:xfrm>
          <a:prstGeom prst="rect">
            <a:avLst/>
          </a:prstGeom>
          <a:noFill/>
          <a:ln/>
        </p:spPr>
        <p:txBody>
          <a:bodyPr wrap="square" lIns="0" tIns="0" rIns="0" bIns="0" rtlCol="0" anchor="ctr"/>
          <a:lstStyle/>
          <a:p>
            <a:pPr indent="0" marL="0">
              <a:buNone/>
            </a:pPr>
            <a:r>
              <a:rPr lang="en-US" sz="1100" dirty="0">
                <a:solidFill>
                  <a:srgbClr val="6E7480"/>
                </a:solidFill>
                <a:latin typeface="Arial" pitchFamily="34" charset="0"/>
                <a:ea typeface="Arial" pitchFamily="34" charset="-122"/>
                <a:cs typeface="Arial" pitchFamily="34" charset="-120"/>
              </a:rPr>
              <a:t>≥ 4,0</a:t>
            </a:r>
            <a:endParaRPr lang="en-US" sz="1100" dirty="0"/>
          </a:p>
        </p:txBody>
      </p:sp>
      <p:sp>
        <p:nvSpPr>
          <p:cNvPr id="12" name="Shape 9"/>
          <p:cNvSpPr/>
          <p:nvPr/>
        </p:nvSpPr>
        <p:spPr>
          <a:xfrm>
            <a:off x="3410712" y="5257800"/>
            <a:ext cx="2606040" cy="91440"/>
          </a:xfrm>
          <a:prstGeom prst="rect">
            <a:avLst/>
          </a:prstGeom>
          <a:solidFill>
            <a:srgbClr val="9AA0AA"/>
          </a:solidFill>
          <a:ln/>
        </p:spPr>
      </p:sp>
      <p:sp>
        <p:nvSpPr>
          <p:cNvPr id="13" name="Text 10"/>
          <p:cNvSpPr/>
          <p:nvPr/>
        </p:nvSpPr>
        <p:spPr>
          <a:xfrm>
            <a:off x="3410712" y="5413248"/>
            <a:ext cx="2606040" cy="256032"/>
          </a:xfrm>
          <a:prstGeom prst="rect">
            <a:avLst/>
          </a:prstGeom>
          <a:noFill/>
          <a:ln/>
        </p:spPr>
        <p:txBody>
          <a:bodyPr wrap="square" lIns="0" tIns="0" rIns="0" bIns="0" rtlCol="0" anchor="ctr"/>
          <a:lstStyle/>
          <a:p>
            <a:pPr indent="0" marL="0">
              <a:buNone/>
            </a:pPr>
            <a:r>
              <a:rPr lang="en-US" sz="1200" b="1" dirty="0">
                <a:solidFill>
                  <a:srgbClr val="1A1C20"/>
                </a:solidFill>
                <a:latin typeface="Arial" pitchFamily="34" charset="0"/>
                <a:ea typeface="Arial" pitchFamily="34" charset="-122"/>
                <a:cs typeface="Arial" pitchFamily="34" charset="-120"/>
              </a:rPr>
              <a:t>SECUNDARIO</a:t>
            </a:r>
            <a:endParaRPr lang="en-US" sz="1200" dirty="0"/>
          </a:p>
        </p:txBody>
      </p:sp>
      <p:sp>
        <p:nvSpPr>
          <p:cNvPr id="14" name="Text 11"/>
          <p:cNvSpPr/>
          <p:nvPr/>
        </p:nvSpPr>
        <p:spPr>
          <a:xfrm>
            <a:off x="3410712" y="5669280"/>
            <a:ext cx="2606040" cy="237744"/>
          </a:xfrm>
          <a:prstGeom prst="rect">
            <a:avLst/>
          </a:prstGeom>
          <a:noFill/>
          <a:ln/>
        </p:spPr>
        <p:txBody>
          <a:bodyPr wrap="square" lIns="0" tIns="0" rIns="0" bIns="0" rtlCol="0" anchor="ctr"/>
          <a:lstStyle/>
          <a:p>
            <a:pPr indent="0" marL="0">
              <a:buNone/>
            </a:pPr>
            <a:r>
              <a:rPr lang="en-US" sz="1100" dirty="0">
                <a:solidFill>
                  <a:srgbClr val="6E7480"/>
                </a:solidFill>
                <a:latin typeface="Arial" pitchFamily="34" charset="0"/>
                <a:ea typeface="Arial" pitchFamily="34" charset="-122"/>
                <a:cs typeface="Arial" pitchFamily="34" charset="-120"/>
              </a:rPr>
              <a:t>3,0 – 3,9</a:t>
            </a:r>
            <a:endParaRPr lang="en-US" sz="1100" dirty="0"/>
          </a:p>
        </p:txBody>
      </p:sp>
      <p:sp>
        <p:nvSpPr>
          <p:cNvPr id="15" name="Shape 12"/>
          <p:cNvSpPr/>
          <p:nvPr/>
        </p:nvSpPr>
        <p:spPr>
          <a:xfrm>
            <a:off x="6181344" y="5257800"/>
            <a:ext cx="2606040" cy="91440"/>
          </a:xfrm>
          <a:prstGeom prst="rect">
            <a:avLst/>
          </a:prstGeom>
          <a:solidFill>
            <a:srgbClr val="C9CDD4"/>
          </a:solidFill>
          <a:ln/>
        </p:spPr>
      </p:sp>
      <p:sp>
        <p:nvSpPr>
          <p:cNvPr id="16" name="Text 13"/>
          <p:cNvSpPr/>
          <p:nvPr/>
        </p:nvSpPr>
        <p:spPr>
          <a:xfrm>
            <a:off x="6181344" y="5413248"/>
            <a:ext cx="2606040" cy="256032"/>
          </a:xfrm>
          <a:prstGeom prst="rect">
            <a:avLst/>
          </a:prstGeom>
          <a:noFill/>
          <a:ln/>
        </p:spPr>
        <p:txBody>
          <a:bodyPr wrap="square" lIns="0" tIns="0" rIns="0" bIns="0" rtlCol="0" anchor="ctr"/>
          <a:lstStyle/>
          <a:p>
            <a:pPr indent="0" marL="0">
              <a:buNone/>
            </a:pPr>
            <a:r>
              <a:rPr lang="en-US" sz="1200" b="1" dirty="0">
                <a:solidFill>
                  <a:srgbClr val="1A1C20"/>
                </a:solidFill>
                <a:latin typeface="Arial" pitchFamily="34" charset="0"/>
                <a:ea typeface="Arial" pitchFamily="34" charset="-122"/>
                <a:cs typeface="Arial" pitchFamily="34" charset="-120"/>
              </a:rPr>
              <a:t>OPORTUNISTA</a:t>
            </a:r>
            <a:endParaRPr lang="en-US" sz="1200" dirty="0"/>
          </a:p>
        </p:txBody>
      </p:sp>
      <p:sp>
        <p:nvSpPr>
          <p:cNvPr id="17" name="Text 14"/>
          <p:cNvSpPr/>
          <p:nvPr/>
        </p:nvSpPr>
        <p:spPr>
          <a:xfrm>
            <a:off x="6181344" y="5669280"/>
            <a:ext cx="2606040" cy="237744"/>
          </a:xfrm>
          <a:prstGeom prst="rect">
            <a:avLst/>
          </a:prstGeom>
          <a:noFill/>
          <a:ln/>
        </p:spPr>
        <p:txBody>
          <a:bodyPr wrap="square" lIns="0" tIns="0" rIns="0" bIns="0" rtlCol="0" anchor="ctr"/>
          <a:lstStyle/>
          <a:p>
            <a:pPr indent="0" marL="0">
              <a:buNone/>
            </a:pPr>
            <a:r>
              <a:rPr lang="en-US" sz="1100" dirty="0">
                <a:solidFill>
                  <a:srgbClr val="6E7480"/>
                </a:solidFill>
                <a:latin typeface="Arial" pitchFamily="34" charset="0"/>
                <a:ea typeface="Arial" pitchFamily="34" charset="-122"/>
                <a:cs typeface="Arial" pitchFamily="34" charset="-120"/>
              </a:rPr>
              <a:t>2,0 – 2,9</a:t>
            </a:r>
            <a:endParaRPr lang="en-US" sz="1100" dirty="0"/>
          </a:p>
        </p:txBody>
      </p:sp>
      <p:sp>
        <p:nvSpPr>
          <p:cNvPr id="18" name="Shape 15"/>
          <p:cNvSpPr/>
          <p:nvPr/>
        </p:nvSpPr>
        <p:spPr>
          <a:xfrm>
            <a:off x="8951976" y="5257800"/>
            <a:ext cx="2606040" cy="91440"/>
          </a:xfrm>
          <a:prstGeom prst="rect">
            <a:avLst/>
          </a:prstGeom>
          <a:solidFill>
            <a:srgbClr val="E2E5E9"/>
          </a:solidFill>
          <a:ln/>
        </p:spPr>
      </p:sp>
      <p:sp>
        <p:nvSpPr>
          <p:cNvPr id="19" name="Text 16"/>
          <p:cNvSpPr/>
          <p:nvPr/>
        </p:nvSpPr>
        <p:spPr>
          <a:xfrm>
            <a:off x="8951976" y="5413248"/>
            <a:ext cx="2606040" cy="256032"/>
          </a:xfrm>
          <a:prstGeom prst="rect">
            <a:avLst/>
          </a:prstGeom>
          <a:noFill/>
          <a:ln/>
        </p:spPr>
        <p:txBody>
          <a:bodyPr wrap="square" lIns="0" tIns="0" rIns="0" bIns="0" rtlCol="0" anchor="ctr"/>
          <a:lstStyle/>
          <a:p>
            <a:pPr indent="0" marL="0">
              <a:buNone/>
            </a:pPr>
            <a:r>
              <a:rPr lang="en-US" sz="1200" b="1" dirty="0">
                <a:solidFill>
                  <a:srgbClr val="1A1C20"/>
                </a:solidFill>
                <a:latin typeface="Arial" pitchFamily="34" charset="0"/>
                <a:ea typeface="Arial" pitchFamily="34" charset="-122"/>
                <a:cs typeface="Arial" pitchFamily="34" charset="-120"/>
              </a:rPr>
              <a:t>FUERA DE FOCO</a:t>
            </a:r>
            <a:endParaRPr lang="en-US" sz="1200" dirty="0"/>
          </a:p>
        </p:txBody>
      </p:sp>
      <p:sp>
        <p:nvSpPr>
          <p:cNvPr id="20" name="Text 17"/>
          <p:cNvSpPr/>
          <p:nvPr/>
        </p:nvSpPr>
        <p:spPr>
          <a:xfrm>
            <a:off x="8951976" y="5669280"/>
            <a:ext cx="2606040" cy="237744"/>
          </a:xfrm>
          <a:prstGeom prst="rect">
            <a:avLst/>
          </a:prstGeom>
          <a:noFill/>
          <a:ln/>
        </p:spPr>
        <p:txBody>
          <a:bodyPr wrap="square" lIns="0" tIns="0" rIns="0" bIns="0" rtlCol="0" anchor="ctr"/>
          <a:lstStyle/>
          <a:p>
            <a:pPr indent="0" marL="0">
              <a:buNone/>
            </a:pPr>
            <a:r>
              <a:rPr lang="en-US" sz="1100" dirty="0">
                <a:solidFill>
                  <a:srgbClr val="6E7480"/>
                </a:solidFill>
                <a:latin typeface="Arial" pitchFamily="34" charset="0"/>
                <a:ea typeface="Arial" pitchFamily="34" charset="-122"/>
                <a:cs typeface="Arial" pitchFamily="34" charset="-120"/>
              </a:rPr>
              <a:t>&lt; 2,0</a:t>
            </a:r>
            <a:endParaRPr lang="en-US" sz="1100" dirty="0"/>
          </a:p>
        </p:txBody>
      </p:sp>
      <p:sp>
        <p:nvSpPr>
          <p:cNvPr id="21" name="Text 18"/>
          <p:cNvSpPr/>
          <p:nvPr/>
        </p:nvSpPr>
        <p:spPr>
          <a:xfrm>
            <a:off x="640080" y="6291072"/>
            <a:ext cx="10881360" cy="310896"/>
          </a:xfrm>
          <a:prstGeom prst="rect">
            <a:avLst/>
          </a:prstGeom>
          <a:noFill/>
          <a:ln/>
        </p:spPr>
        <p:txBody>
          <a:bodyPr wrap="square" lIns="0" tIns="0" rIns="0" bIns="0" rtlCol="0" anchor="ctr"/>
          <a:lstStyle/>
          <a:p>
            <a:pPr indent="0" marL="0">
              <a:buNone/>
            </a:pPr>
            <a:r>
              <a:rPr lang="en-US" sz="950" i="1" dirty="0">
                <a:solidFill>
                  <a:srgbClr val="6E7480"/>
                </a:solidFill>
                <a:latin typeface="Arial" pitchFamily="34" charset="0"/>
                <a:ea typeface="Arial" pitchFamily="34" charset="-122"/>
                <a:cs typeface="Arial" pitchFamily="34" charset="-120"/>
              </a:rPr>
              <a:t>Los pesos son ajustables. En la matriz .xlsx están como fórmulas vivas: al cambiar una ponderación, la priorización se reordena sola.</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F2A73B"/>
                </a:solidFill>
                <a:latin typeface="Arial" pitchFamily="34" charset="0"/>
                <a:ea typeface="Arial" pitchFamily="34" charset="-122"/>
                <a:cs typeface="Arial" pitchFamily="34" charset="-120"/>
              </a:rPr>
              <a:t>MAPA DE SEGMENTOS</a:t>
            </a:r>
            <a:endParaRPr lang="en-US" sz="1100" dirty="0"/>
          </a:p>
        </p:txBody>
      </p:sp>
      <p:sp>
        <p:nvSpPr>
          <p:cNvPr id="3" name="Text 1"/>
          <p:cNvSpPr/>
          <p:nvPr/>
        </p:nvSpPr>
        <p:spPr>
          <a:xfrm>
            <a:off x="640080" y="676656"/>
            <a:ext cx="10881360" cy="685800"/>
          </a:xfrm>
          <a:prstGeom prst="rect">
            <a:avLst/>
          </a:prstGeom>
          <a:noFill/>
          <a:ln/>
        </p:spPr>
        <p:txBody>
          <a:bodyPr wrap="square" lIns="0" tIns="0" rIns="0" bIns="0" rtlCol="0" anchor="t"/>
          <a:lstStyle/>
          <a:p>
            <a:pPr indent="0" marL="0">
              <a:buNone/>
            </a:pPr>
            <a:r>
              <a:rPr lang="en-US" sz="3200" b="1" dirty="0">
                <a:solidFill>
                  <a:srgbClr val="1A1C20"/>
                </a:solidFill>
                <a:latin typeface="Cambria" pitchFamily="34" charset="0"/>
                <a:ea typeface="Cambria" pitchFamily="34" charset="-122"/>
                <a:cs typeface="Cambria" pitchFamily="34" charset="-120"/>
              </a:rPr>
              <a:t>Los seis perfiles, ordenados</a:t>
            </a:r>
            <a:endParaRPr lang="en-US" sz="3200" dirty="0"/>
          </a:p>
        </p:txBody>
      </p:sp>
      <p:graphicFrame>
        <p:nvGraphicFramePr>
          <p:cNvPr id="4" name="Chart 0" descr=""/>
          <p:cNvGraphicFramePr/>
          <p:nvPr/>
        </p:nvGraphicFramePr>
        <p:xfrm>
          <a:off x="640080" y="1536192"/>
          <a:ext cx="6858000" cy="35661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772400" y="1536192"/>
            <a:ext cx="3749040" cy="3566160"/>
          </a:xfrm>
          <a:prstGeom prst="roundRect">
            <a:avLst>
              <a:gd name="adj" fmla="val 2051"/>
            </a:avLst>
          </a:prstGeom>
          <a:solidFill>
            <a:srgbClr val="22252A"/>
          </a:solidFill>
          <a:ln/>
          <a:effectLst>
            <a:outerShdw sx="100000" sy="100000" kx="0" ky="0" algn="bl" rotWithShape="0" blurRad="101600" dist="12700" dir="5400000">
              <a:srgbClr val="000000">
                <a:alpha val="8000"/>
              </a:srgbClr>
            </a:outerShdw>
          </a:effectLst>
        </p:spPr>
      </p:sp>
      <p:sp>
        <p:nvSpPr>
          <p:cNvPr id="6" name="Text 3"/>
          <p:cNvSpPr/>
          <p:nvPr/>
        </p:nvSpPr>
        <p:spPr>
          <a:xfrm>
            <a:off x="8119872" y="1773936"/>
            <a:ext cx="3108960" cy="274320"/>
          </a:xfrm>
          <a:prstGeom prst="rect">
            <a:avLst/>
          </a:prstGeom>
          <a:noFill/>
          <a:ln/>
        </p:spPr>
        <p:txBody>
          <a:bodyPr wrap="square" lIns="0" tIns="0" rIns="0" bIns="0" rtlCol="0" anchor="ctr"/>
          <a:lstStyle/>
          <a:p>
            <a:pPr indent="0" marL="0">
              <a:buNone/>
            </a:pPr>
            <a:r>
              <a:rPr lang="en-US" sz="1200" b="1" spc="100" kern="0" dirty="0">
                <a:solidFill>
                  <a:srgbClr val="F2A73B"/>
                </a:solidFill>
                <a:latin typeface="Arial" pitchFamily="34" charset="0"/>
                <a:ea typeface="Arial" pitchFamily="34" charset="-122"/>
                <a:cs typeface="Arial" pitchFamily="34" charset="-120"/>
              </a:rPr>
              <a:t>Lo que hay que leer</a:t>
            </a:r>
            <a:endParaRPr lang="en-US" sz="1200" dirty="0"/>
          </a:p>
        </p:txBody>
      </p:sp>
      <p:sp>
        <p:nvSpPr>
          <p:cNvPr id="7" name="Shape 4"/>
          <p:cNvSpPr/>
          <p:nvPr/>
        </p:nvSpPr>
        <p:spPr>
          <a:xfrm>
            <a:off x="8119872" y="2221992"/>
            <a:ext cx="118872" cy="118872"/>
          </a:xfrm>
          <a:prstGeom prst="ellipse">
            <a:avLst/>
          </a:prstGeom>
          <a:solidFill>
            <a:srgbClr val="F2A73B"/>
          </a:solidFill>
          <a:ln/>
        </p:spPr>
      </p:sp>
      <p:sp>
        <p:nvSpPr>
          <p:cNvPr id="8" name="Text 5"/>
          <p:cNvSpPr/>
          <p:nvPr/>
        </p:nvSpPr>
        <p:spPr>
          <a:xfrm>
            <a:off x="8357616" y="2121408"/>
            <a:ext cx="2880360" cy="868680"/>
          </a:xfrm>
          <a:prstGeom prst="rect">
            <a:avLst/>
          </a:prstGeom>
          <a:noFill/>
          <a:ln/>
        </p:spPr>
        <p:txBody>
          <a:bodyPr wrap="square" lIns="0" tIns="0" rIns="0" bIns="0" rtlCol="0" anchor="ctr"/>
          <a:lstStyle/>
          <a:p>
            <a:pPr indent="0" marL="0">
              <a:lnSpc>
                <a:spcPts val="1500"/>
              </a:lnSpc>
              <a:buNone/>
            </a:pPr>
            <a:r>
              <a:rPr lang="en-US" sz="1100" dirty="0">
                <a:solidFill>
                  <a:srgbClr val="D5D9DF"/>
                </a:solidFill>
                <a:latin typeface="Arial" pitchFamily="34" charset="0"/>
                <a:ea typeface="Arial" pitchFamily="34" charset="-122"/>
                <a:cs typeface="Arial" pitchFamily="34" charset="-120"/>
              </a:rPr>
              <a:t>Los dos Primarios ganan por recurrencia, no por ticket: compran motos de entrada-medio, pero las usan 10–14 h al día.</a:t>
            </a:r>
            <a:endParaRPr lang="en-US" sz="1100" dirty="0"/>
          </a:p>
        </p:txBody>
      </p:sp>
      <p:sp>
        <p:nvSpPr>
          <p:cNvPr id="9" name="Shape 6"/>
          <p:cNvSpPr/>
          <p:nvPr/>
        </p:nvSpPr>
        <p:spPr>
          <a:xfrm>
            <a:off x="8119872" y="3191256"/>
            <a:ext cx="118872" cy="118872"/>
          </a:xfrm>
          <a:prstGeom prst="ellipse">
            <a:avLst/>
          </a:prstGeom>
          <a:solidFill>
            <a:srgbClr val="F2A73B"/>
          </a:solidFill>
          <a:ln/>
        </p:spPr>
      </p:sp>
      <p:sp>
        <p:nvSpPr>
          <p:cNvPr id="10" name="Text 7"/>
          <p:cNvSpPr/>
          <p:nvPr/>
        </p:nvSpPr>
        <p:spPr>
          <a:xfrm>
            <a:off x="8357616" y="3090672"/>
            <a:ext cx="2880360" cy="868680"/>
          </a:xfrm>
          <a:prstGeom prst="rect">
            <a:avLst/>
          </a:prstGeom>
          <a:noFill/>
          <a:ln/>
        </p:spPr>
        <p:txBody>
          <a:bodyPr wrap="square" lIns="0" tIns="0" rIns="0" bIns="0" rtlCol="0" anchor="ctr"/>
          <a:lstStyle/>
          <a:p>
            <a:pPr indent="0" marL="0">
              <a:lnSpc>
                <a:spcPts val="1500"/>
              </a:lnSpc>
              <a:buNone/>
            </a:pPr>
            <a:r>
              <a:rPr lang="en-US" sz="1100" dirty="0">
                <a:solidFill>
                  <a:srgbClr val="D5D9DF"/>
                </a:solidFill>
                <a:latin typeface="Arial" pitchFamily="34" charset="0"/>
                <a:ea typeface="Arial" pitchFamily="34" charset="-122"/>
                <a:cs typeface="Arial" pitchFamily="34" charset="-120"/>
              </a:rPr>
              <a:t>El acarreador no es Secundario por mal cliente: lo es porque Arranca no está montada para servirlo.</a:t>
            </a:r>
            <a:endParaRPr lang="en-US" sz="1100" dirty="0"/>
          </a:p>
        </p:txBody>
      </p:sp>
      <p:sp>
        <p:nvSpPr>
          <p:cNvPr id="11" name="Shape 8"/>
          <p:cNvSpPr/>
          <p:nvPr/>
        </p:nvSpPr>
        <p:spPr>
          <a:xfrm>
            <a:off x="8119872" y="4160520"/>
            <a:ext cx="118872" cy="118872"/>
          </a:xfrm>
          <a:prstGeom prst="ellipse">
            <a:avLst/>
          </a:prstGeom>
          <a:solidFill>
            <a:srgbClr val="F2A73B"/>
          </a:solidFill>
          <a:ln/>
        </p:spPr>
      </p:sp>
      <p:sp>
        <p:nvSpPr>
          <p:cNvPr id="12" name="Text 9"/>
          <p:cNvSpPr/>
          <p:nvPr/>
        </p:nvSpPr>
        <p:spPr>
          <a:xfrm>
            <a:off x="8357616" y="4059936"/>
            <a:ext cx="2880360" cy="868680"/>
          </a:xfrm>
          <a:prstGeom prst="rect">
            <a:avLst/>
          </a:prstGeom>
          <a:noFill/>
          <a:ln/>
        </p:spPr>
        <p:txBody>
          <a:bodyPr wrap="square" lIns="0" tIns="0" rIns="0" bIns="0" rtlCol="0" anchor="ctr"/>
          <a:lstStyle/>
          <a:p>
            <a:pPr indent="0" marL="0">
              <a:lnSpc>
                <a:spcPts val="1500"/>
              </a:lnSpc>
              <a:buNone/>
            </a:pPr>
            <a:r>
              <a:rPr lang="en-US" sz="1100" dirty="0">
                <a:solidFill>
                  <a:srgbClr val="D5D9DF"/>
                </a:solidFill>
                <a:latin typeface="Arial" pitchFamily="34" charset="0"/>
                <a:ea typeface="Arial" pitchFamily="34" charset="-122"/>
                <a:cs typeface="Arial" pitchFamily="34" charset="-120"/>
              </a:rPr>
              <a:t>El joven vale por lo que viene después, no por lo que compra hoy.</a:t>
            </a:r>
            <a:endParaRPr lang="en-US" sz="1100" dirty="0"/>
          </a:p>
        </p:txBody>
      </p:sp>
      <p:sp>
        <p:nvSpPr>
          <p:cNvPr id="13" name="Shape 10"/>
          <p:cNvSpPr/>
          <p:nvPr/>
        </p:nvSpPr>
        <p:spPr>
          <a:xfrm>
            <a:off x="640080" y="5285232"/>
            <a:ext cx="10881360" cy="777240"/>
          </a:xfrm>
          <a:prstGeom prst="roundRect">
            <a:avLst>
              <a:gd name="adj" fmla="val 9412"/>
            </a:avLst>
          </a:prstGeom>
          <a:solidFill>
            <a:srgbClr val="F4F5F7"/>
          </a:solidFill>
          <a:ln/>
          <a:effectLst>
            <a:outerShdw sx="100000" sy="100000" kx="0" ky="0" algn="bl" rotWithShape="0" blurRad="101600" dist="12700" dir="5400000">
              <a:srgbClr val="000000">
                <a:alpha val="8000"/>
              </a:srgbClr>
            </a:outerShdw>
          </a:effectLst>
        </p:spPr>
      </p:sp>
      <p:sp>
        <p:nvSpPr>
          <p:cNvPr id="14" name="Text 11"/>
          <p:cNvSpPr/>
          <p:nvPr/>
        </p:nvSpPr>
        <p:spPr>
          <a:xfrm>
            <a:off x="1005840" y="5440680"/>
            <a:ext cx="10149840" cy="457200"/>
          </a:xfrm>
          <a:prstGeom prst="rect">
            <a:avLst/>
          </a:prstGeom>
          <a:noFill/>
          <a:ln/>
        </p:spPr>
        <p:txBody>
          <a:bodyPr wrap="square" lIns="0" tIns="0" rIns="0" bIns="0" rtlCol="0" anchor="ctr"/>
          <a:lstStyle/>
          <a:p>
            <a:pPr indent="0" marL="0">
              <a:buNone/>
            </a:pPr>
            <a:r>
              <a:rPr lang="en-US" sz="1250" dirty="0">
                <a:solidFill>
                  <a:srgbClr val="3A3F49"/>
                </a:solidFill>
                <a:latin typeface="Arial" pitchFamily="34" charset="0"/>
                <a:ea typeface="Arial" pitchFamily="34" charset="-122"/>
                <a:cs typeface="Arial" pitchFamily="34" charset="-120"/>
              </a:rPr>
              <a:t>Los dos Primarios son los perfiles productivos urbanos. El segmento del brief con más volumen esperado — el utilitario doméstico — es el de menor valor unitario y el peor documentado.</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F2A73B"/>
                </a:solidFill>
                <a:latin typeface="Arial" pitchFamily="34" charset="0"/>
                <a:ea typeface="Arial" pitchFamily="34" charset="-122"/>
                <a:cs typeface="Arial" pitchFamily="34" charset="-120"/>
              </a:rPr>
              <a:t>PRIMARIO  ·  4,35</a:t>
            </a:r>
            <a:endParaRPr lang="en-US" sz="1100" dirty="0"/>
          </a:p>
        </p:txBody>
      </p:sp>
      <p:sp>
        <p:nvSpPr>
          <p:cNvPr id="3" name="Text 1"/>
          <p:cNvSpPr/>
          <p:nvPr/>
        </p:nvSpPr>
        <p:spPr>
          <a:xfrm>
            <a:off x="640080" y="676656"/>
            <a:ext cx="10881360" cy="685800"/>
          </a:xfrm>
          <a:prstGeom prst="rect">
            <a:avLst/>
          </a:prstGeom>
          <a:noFill/>
          <a:ln/>
        </p:spPr>
        <p:txBody>
          <a:bodyPr wrap="square" lIns="0" tIns="0" rIns="0" bIns="0" rtlCol="0" anchor="t"/>
          <a:lstStyle/>
          <a:p>
            <a:pPr indent="0" marL="0">
              <a:buNone/>
            </a:pPr>
            <a:r>
              <a:rPr lang="en-US" sz="3200" b="1" dirty="0">
                <a:solidFill>
                  <a:srgbClr val="1A1C20"/>
                </a:solidFill>
                <a:latin typeface="Cambria" pitchFamily="34" charset="0"/>
                <a:ea typeface="Cambria" pitchFamily="34" charset="-122"/>
                <a:cs typeface="Cambria" pitchFamily="34" charset="-120"/>
              </a:rPr>
              <a:t>01 · El rider de aplicaciones</a:t>
            </a:r>
            <a:endParaRPr lang="en-US" sz="3200" dirty="0"/>
          </a:p>
        </p:txBody>
      </p:sp>
      <p:sp>
        <p:nvSpPr>
          <p:cNvPr id="4" name="Text 2"/>
          <p:cNvSpPr/>
          <p:nvPr/>
        </p:nvSpPr>
        <p:spPr>
          <a:xfrm>
            <a:off x="640080" y="1572768"/>
            <a:ext cx="10881360" cy="566928"/>
          </a:xfrm>
          <a:prstGeom prst="rect">
            <a:avLst/>
          </a:prstGeom>
          <a:noFill/>
          <a:ln/>
        </p:spPr>
        <p:txBody>
          <a:bodyPr wrap="square" lIns="0" tIns="0" rIns="0" bIns="0" rtlCol="0" anchor="ctr"/>
          <a:lstStyle/>
          <a:p>
            <a:pPr indent="0" marL="0">
              <a:lnSpc>
                <a:spcPts val="2100"/>
              </a:lnSpc>
              <a:buNone/>
            </a:pPr>
            <a:r>
              <a:rPr lang="en-US" sz="1400" dirty="0">
                <a:solidFill>
                  <a:srgbClr val="3A3F49"/>
                </a:solidFill>
                <a:latin typeface="Arial" pitchFamily="34" charset="0"/>
                <a:ea typeface="Arial" pitchFamily="34" charset="-122"/>
                <a:cs typeface="Arial" pitchFamily="34" charset="-120"/>
              </a:rPr>
              <a:t>Vive del despacho y las carreras por app. 10–14 h al día, 6–7 días por semana, en dos o tres plataformas a la vez. La moto no es su vehículo: es su puesto de trabajo.</a:t>
            </a:r>
            <a:endParaRPr lang="en-US" sz="1400" dirty="0"/>
          </a:p>
        </p:txBody>
      </p:sp>
      <p:sp>
        <p:nvSpPr>
          <p:cNvPr id="5" name="Shape 3"/>
          <p:cNvSpPr/>
          <p:nvPr/>
        </p:nvSpPr>
        <p:spPr>
          <a:xfrm>
            <a:off x="640080" y="2286000"/>
            <a:ext cx="2606040" cy="1691640"/>
          </a:xfrm>
          <a:prstGeom prst="roundRect">
            <a:avLst>
              <a:gd name="adj" fmla="val 4324"/>
            </a:avLst>
          </a:prstGeom>
          <a:solidFill>
            <a:srgbClr val="F4F5F7"/>
          </a:solidFill>
          <a:ln/>
          <a:effectLst>
            <a:outerShdw sx="100000" sy="100000" kx="0" ky="0" algn="bl" rotWithShape="0" blurRad="101600" dist="12700" dir="5400000">
              <a:srgbClr val="000000">
                <a:alpha val="8000"/>
              </a:srgbClr>
            </a:outerShdw>
          </a:effectLst>
        </p:spPr>
      </p:sp>
      <p:sp>
        <p:nvSpPr>
          <p:cNvPr id="6" name="Text 4"/>
          <p:cNvSpPr/>
          <p:nvPr/>
        </p:nvSpPr>
        <p:spPr>
          <a:xfrm>
            <a:off x="877824" y="2450592"/>
            <a:ext cx="2194560" cy="548640"/>
          </a:xfrm>
          <a:prstGeom prst="rect">
            <a:avLst/>
          </a:prstGeom>
          <a:noFill/>
          <a:ln/>
        </p:spPr>
        <p:txBody>
          <a:bodyPr wrap="square" lIns="0" tIns="0" rIns="0" bIns="0" rtlCol="0" anchor="ctr"/>
          <a:lstStyle/>
          <a:p>
            <a:pPr indent="0" marL="0">
              <a:buNone/>
            </a:pPr>
            <a:r>
              <a:rPr lang="en-US" sz="3000" b="1" dirty="0">
                <a:solidFill>
                  <a:srgbClr val="F2A73B"/>
                </a:solidFill>
                <a:latin typeface="Cambria" pitchFamily="34" charset="0"/>
                <a:ea typeface="Cambria" pitchFamily="34" charset="-122"/>
                <a:cs typeface="Cambria" pitchFamily="34" charset="-120"/>
              </a:rPr>
              <a:t>US$23</a:t>
            </a:r>
            <a:endParaRPr lang="en-US" sz="3000" dirty="0"/>
          </a:p>
        </p:txBody>
      </p:sp>
      <p:sp>
        <p:nvSpPr>
          <p:cNvPr id="7" name="Text 5"/>
          <p:cNvSpPr/>
          <p:nvPr/>
        </p:nvSpPr>
        <p:spPr>
          <a:xfrm>
            <a:off x="877824" y="3054096"/>
            <a:ext cx="2194560" cy="822960"/>
          </a:xfrm>
          <a:prstGeom prst="rect">
            <a:avLst/>
          </a:prstGeom>
          <a:noFill/>
          <a:ln/>
        </p:spPr>
        <p:txBody>
          <a:bodyPr wrap="square" lIns="0" tIns="0" rIns="0" bIns="0" rtlCol="0" anchor="ctr"/>
          <a:lstStyle/>
          <a:p>
            <a:pPr indent="0" marL="0">
              <a:lnSpc>
                <a:spcPts val="1400"/>
              </a:lnSpc>
              <a:buNone/>
            </a:pPr>
            <a:r>
              <a:rPr lang="en-US" sz="1050" dirty="0">
                <a:solidFill>
                  <a:srgbClr val="50555F"/>
                </a:solidFill>
                <a:latin typeface="Arial" pitchFamily="34" charset="0"/>
                <a:ea typeface="Arial" pitchFamily="34" charset="-122"/>
                <a:cs typeface="Arial" pitchFamily="34" charset="-120"/>
              </a:rPr>
              <a:t>le cuesta cada día parado</a:t>
            </a:r>
            <a:endParaRPr lang="en-US" sz="1050" dirty="0"/>
          </a:p>
        </p:txBody>
      </p:sp>
      <p:sp>
        <p:nvSpPr>
          <p:cNvPr id="8" name="Shape 6"/>
          <p:cNvSpPr/>
          <p:nvPr/>
        </p:nvSpPr>
        <p:spPr>
          <a:xfrm>
            <a:off x="3410712" y="2286000"/>
            <a:ext cx="2606040" cy="1691640"/>
          </a:xfrm>
          <a:prstGeom prst="roundRect">
            <a:avLst>
              <a:gd name="adj" fmla="val 4324"/>
            </a:avLst>
          </a:prstGeom>
          <a:solidFill>
            <a:srgbClr val="F4F5F7"/>
          </a:solidFill>
          <a:ln/>
          <a:effectLst>
            <a:outerShdw sx="100000" sy="100000" kx="0" ky="0" algn="bl" rotWithShape="0" blurRad="101600" dist="12700" dir="5400000">
              <a:srgbClr val="000000">
                <a:alpha val="8000"/>
              </a:srgbClr>
            </a:outerShdw>
          </a:effectLst>
        </p:spPr>
      </p:sp>
      <p:sp>
        <p:nvSpPr>
          <p:cNvPr id="9" name="Text 7"/>
          <p:cNvSpPr/>
          <p:nvPr/>
        </p:nvSpPr>
        <p:spPr>
          <a:xfrm>
            <a:off x="3648456" y="2450592"/>
            <a:ext cx="2194560" cy="548640"/>
          </a:xfrm>
          <a:prstGeom prst="rect">
            <a:avLst/>
          </a:prstGeom>
          <a:noFill/>
          <a:ln/>
        </p:spPr>
        <p:txBody>
          <a:bodyPr wrap="square" lIns="0" tIns="0" rIns="0" bIns="0" rtlCol="0" anchor="ctr"/>
          <a:lstStyle/>
          <a:p>
            <a:pPr indent="0" marL="0">
              <a:buNone/>
            </a:pPr>
            <a:r>
              <a:rPr lang="en-US" sz="3000" b="1" dirty="0">
                <a:solidFill>
                  <a:srgbClr val="F2A73B"/>
                </a:solidFill>
                <a:latin typeface="Cambria" pitchFamily="34" charset="0"/>
                <a:ea typeface="Cambria" pitchFamily="34" charset="-122"/>
                <a:cs typeface="Cambria" pitchFamily="34" charset="-120"/>
              </a:rPr>
              <a:t>US$161</a:t>
            </a:r>
            <a:endParaRPr lang="en-US" sz="3000" dirty="0"/>
          </a:p>
        </p:txBody>
      </p:sp>
      <p:sp>
        <p:nvSpPr>
          <p:cNvPr id="10" name="Text 8"/>
          <p:cNvSpPr/>
          <p:nvPr/>
        </p:nvSpPr>
        <p:spPr>
          <a:xfrm>
            <a:off x="3648456" y="3054096"/>
            <a:ext cx="2194560" cy="822960"/>
          </a:xfrm>
          <a:prstGeom prst="rect">
            <a:avLst/>
          </a:prstGeom>
          <a:noFill/>
          <a:ln/>
        </p:spPr>
        <p:txBody>
          <a:bodyPr wrap="square" lIns="0" tIns="0" rIns="0" bIns="0" rtlCol="0" anchor="ctr"/>
          <a:lstStyle/>
          <a:p>
            <a:pPr indent="0" marL="0">
              <a:lnSpc>
                <a:spcPts val="1400"/>
              </a:lnSpc>
              <a:buNone/>
            </a:pPr>
            <a:r>
              <a:rPr lang="en-US" sz="1050" dirty="0">
                <a:solidFill>
                  <a:srgbClr val="50555F"/>
                </a:solidFill>
                <a:latin typeface="Arial" pitchFamily="34" charset="0"/>
                <a:ea typeface="Arial" pitchFamily="34" charset="-122"/>
                <a:cs typeface="Arial" pitchFamily="34" charset="-120"/>
              </a:rPr>
              <a:t>pierde en una semana sin repuesto</a:t>
            </a:r>
            <a:endParaRPr lang="en-US" sz="1050" dirty="0"/>
          </a:p>
          <a:p>
            <a:pPr indent="0" marL="0">
              <a:lnSpc>
                <a:spcPts val="1400"/>
              </a:lnSpc>
              <a:buNone/>
            </a:pPr>
            <a:r>
              <a:rPr lang="en-US" sz="1050" dirty="0">
                <a:solidFill>
                  <a:srgbClr val="50555F"/>
                </a:solidFill>
                <a:latin typeface="Arial" pitchFamily="34" charset="0"/>
                <a:ea typeface="Arial" pitchFamily="34" charset="-122"/>
                <a:cs typeface="Arial" pitchFamily="34" charset="-120"/>
              </a:rPr>
              <a:t>— más de seis cuotas semanales</a:t>
            </a:r>
            <a:endParaRPr lang="en-US" sz="1050" dirty="0"/>
          </a:p>
        </p:txBody>
      </p:sp>
      <p:sp>
        <p:nvSpPr>
          <p:cNvPr id="11" name="Shape 9"/>
          <p:cNvSpPr/>
          <p:nvPr/>
        </p:nvSpPr>
        <p:spPr>
          <a:xfrm>
            <a:off x="6181344" y="2286000"/>
            <a:ext cx="2606040" cy="1691640"/>
          </a:xfrm>
          <a:prstGeom prst="roundRect">
            <a:avLst>
              <a:gd name="adj" fmla="val 4324"/>
            </a:avLst>
          </a:prstGeom>
          <a:solidFill>
            <a:srgbClr val="F4F5F7"/>
          </a:solidFill>
          <a:ln/>
          <a:effectLst>
            <a:outerShdw sx="100000" sy="100000" kx="0" ky="0" algn="bl" rotWithShape="0" blurRad="101600" dist="12700" dir="5400000">
              <a:srgbClr val="000000">
                <a:alpha val="8000"/>
              </a:srgbClr>
            </a:outerShdw>
          </a:effectLst>
        </p:spPr>
      </p:sp>
      <p:sp>
        <p:nvSpPr>
          <p:cNvPr id="12" name="Text 10"/>
          <p:cNvSpPr/>
          <p:nvPr/>
        </p:nvSpPr>
        <p:spPr>
          <a:xfrm>
            <a:off x="6419088" y="2450592"/>
            <a:ext cx="2194560" cy="548640"/>
          </a:xfrm>
          <a:prstGeom prst="rect">
            <a:avLst/>
          </a:prstGeom>
          <a:noFill/>
          <a:ln/>
        </p:spPr>
        <p:txBody>
          <a:bodyPr wrap="square" lIns="0" tIns="0" rIns="0" bIns="0" rtlCol="0" anchor="ctr"/>
          <a:lstStyle/>
          <a:p>
            <a:pPr indent="0" marL="0">
              <a:buNone/>
            </a:pPr>
            <a:r>
              <a:rPr lang="en-US" sz="3000" b="1" dirty="0">
                <a:solidFill>
                  <a:srgbClr val="9AA0AA"/>
                </a:solidFill>
                <a:latin typeface="Cambria" pitchFamily="34" charset="0"/>
                <a:ea typeface="Cambria" pitchFamily="34" charset="-122"/>
                <a:cs typeface="Cambria" pitchFamily="34" charset="-120"/>
              </a:rPr>
              <a:t>15,5 %</a:t>
            </a:r>
            <a:endParaRPr lang="en-US" sz="3000" dirty="0"/>
          </a:p>
        </p:txBody>
      </p:sp>
      <p:sp>
        <p:nvSpPr>
          <p:cNvPr id="13" name="Text 11"/>
          <p:cNvSpPr/>
          <p:nvPr/>
        </p:nvSpPr>
        <p:spPr>
          <a:xfrm>
            <a:off x="6419088" y="3054096"/>
            <a:ext cx="2194560" cy="822960"/>
          </a:xfrm>
          <a:prstGeom prst="rect">
            <a:avLst/>
          </a:prstGeom>
          <a:noFill/>
          <a:ln/>
        </p:spPr>
        <p:txBody>
          <a:bodyPr wrap="square" lIns="0" tIns="0" rIns="0" bIns="0" rtlCol="0" anchor="ctr"/>
          <a:lstStyle/>
          <a:p>
            <a:pPr indent="0" marL="0">
              <a:lnSpc>
                <a:spcPts val="1400"/>
              </a:lnSpc>
              <a:buNone/>
            </a:pPr>
            <a:r>
              <a:rPr lang="en-US" sz="1050" dirty="0">
                <a:solidFill>
                  <a:srgbClr val="50555F"/>
                </a:solidFill>
                <a:latin typeface="Arial" pitchFamily="34" charset="0"/>
                <a:ea typeface="Arial" pitchFamily="34" charset="-122"/>
                <a:cs typeface="Arial" pitchFamily="34" charset="-120"/>
              </a:rPr>
              <a:t>de su ingreso bruto es la cuota</a:t>
            </a:r>
            <a:endParaRPr lang="en-US" sz="1050" dirty="0"/>
          </a:p>
          <a:p>
            <a:pPr indent="0" marL="0">
              <a:lnSpc>
                <a:spcPts val="1400"/>
              </a:lnSpc>
              <a:buNone/>
            </a:pPr>
            <a:r>
              <a:rPr lang="en-US" sz="1050" dirty="0">
                <a:solidFill>
                  <a:srgbClr val="50555F"/>
                </a:solidFill>
                <a:latin typeface="Arial" pitchFamily="34" charset="0"/>
                <a:ea typeface="Arial" pitchFamily="34" charset="-122"/>
                <a:cs typeface="Arial" pitchFamily="34" charset="-120"/>
              </a:rPr>
              <a:t>— poco más de un día de trabajo</a:t>
            </a:r>
            <a:endParaRPr lang="en-US" sz="1050" dirty="0"/>
          </a:p>
        </p:txBody>
      </p:sp>
      <p:sp>
        <p:nvSpPr>
          <p:cNvPr id="14" name="Shape 12"/>
          <p:cNvSpPr/>
          <p:nvPr/>
        </p:nvSpPr>
        <p:spPr>
          <a:xfrm>
            <a:off x="8951976" y="2286000"/>
            <a:ext cx="2606040" cy="1691640"/>
          </a:xfrm>
          <a:prstGeom prst="roundRect">
            <a:avLst>
              <a:gd name="adj" fmla="val 4324"/>
            </a:avLst>
          </a:prstGeom>
          <a:solidFill>
            <a:srgbClr val="F4F5F7"/>
          </a:solidFill>
          <a:ln/>
          <a:effectLst>
            <a:outerShdw sx="100000" sy="100000" kx="0" ky="0" algn="bl" rotWithShape="0" blurRad="101600" dist="12700" dir="5400000">
              <a:srgbClr val="000000">
                <a:alpha val="8000"/>
              </a:srgbClr>
            </a:outerShdw>
          </a:effectLst>
        </p:spPr>
      </p:sp>
      <p:sp>
        <p:nvSpPr>
          <p:cNvPr id="15" name="Text 13"/>
          <p:cNvSpPr/>
          <p:nvPr/>
        </p:nvSpPr>
        <p:spPr>
          <a:xfrm>
            <a:off x="9189720" y="2450592"/>
            <a:ext cx="2194560" cy="548640"/>
          </a:xfrm>
          <a:prstGeom prst="rect">
            <a:avLst/>
          </a:prstGeom>
          <a:noFill/>
          <a:ln/>
        </p:spPr>
        <p:txBody>
          <a:bodyPr wrap="square" lIns="0" tIns="0" rIns="0" bIns="0" rtlCol="0" anchor="ctr"/>
          <a:lstStyle/>
          <a:p>
            <a:pPr indent="0" marL="0">
              <a:buNone/>
            </a:pPr>
            <a:r>
              <a:rPr lang="en-US" sz="3000" b="1" dirty="0">
                <a:solidFill>
                  <a:srgbClr val="C4432B"/>
                </a:solidFill>
                <a:latin typeface="Cambria" pitchFamily="34" charset="0"/>
                <a:ea typeface="Cambria" pitchFamily="34" charset="-122"/>
                <a:cs typeface="Cambria" pitchFamily="34" charset="-120"/>
              </a:rPr>
              <a:t>3 semanas</a:t>
            </a:r>
            <a:endParaRPr lang="en-US" sz="3000" dirty="0"/>
          </a:p>
        </p:txBody>
      </p:sp>
      <p:sp>
        <p:nvSpPr>
          <p:cNvPr id="16" name="Text 14"/>
          <p:cNvSpPr/>
          <p:nvPr/>
        </p:nvSpPr>
        <p:spPr>
          <a:xfrm>
            <a:off x="9189720" y="3054096"/>
            <a:ext cx="2194560" cy="822960"/>
          </a:xfrm>
          <a:prstGeom prst="rect">
            <a:avLst/>
          </a:prstGeom>
          <a:noFill/>
          <a:ln/>
        </p:spPr>
        <p:txBody>
          <a:bodyPr wrap="square" lIns="0" tIns="0" rIns="0" bIns="0" rtlCol="0" anchor="ctr"/>
          <a:lstStyle/>
          <a:p>
            <a:pPr indent="0" marL="0">
              <a:lnSpc>
                <a:spcPts val="1400"/>
              </a:lnSpc>
              <a:buNone/>
            </a:pPr>
            <a:r>
              <a:rPr lang="en-US" sz="1050" dirty="0">
                <a:solidFill>
                  <a:srgbClr val="50555F"/>
                </a:solidFill>
                <a:latin typeface="Arial" pitchFamily="34" charset="0"/>
                <a:ea typeface="Arial" pitchFamily="34" charset="-122"/>
                <a:cs typeface="Arial" pitchFamily="34" charset="-120"/>
              </a:rPr>
              <a:t>de ingreso bruto íntegro</a:t>
            </a:r>
            <a:endParaRPr lang="en-US" sz="1050" dirty="0"/>
          </a:p>
          <a:p>
            <a:pPr indent="0" marL="0">
              <a:lnSpc>
                <a:spcPts val="1400"/>
              </a:lnSpc>
              <a:buNone/>
            </a:pPr>
            <a:r>
              <a:rPr lang="en-US" sz="1050" dirty="0">
                <a:solidFill>
                  <a:srgbClr val="50555F"/>
                </a:solidFill>
                <a:latin typeface="Arial" pitchFamily="34" charset="0"/>
                <a:ea typeface="Arial" pitchFamily="34" charset="-122"/>
                <a:cs typeface="Arial" pitchFamily="34" charset="-120"/>
              </a:rPr>
              <a:t>le exige reunir la inicial</a:t>
            </a:r>
            <a:endParaRPr lang="en-US" sz="1050" dirty="0"/>
          </a:p>
        </p:txBody>
      </p:sp>
      <p:sp>
        <p:nvSpPr>
          <p:cNvPr id="17" name="Shape 15"/>
          <p:cNvSpPr/>
          <p:nvPr/>
        </p:nvSpPr>
        <p:spPr>
          <a:xfrm>
            <a:off x="640080" y="4224528"/>
            <a:ext cx="5349240" cy="1572768"/>
          </a:xfrm>
          <a:prstGeom prst="roundRect">
            <a:avLst>
              <a:gd name="adj" fmla="val 4651"/>
            </a:avLst>
          </a:prstGeom>
          <a:solidFill>
            <a:srgbClr val="22252A"/>
          </a:solidFill>
          <a:ln/>
          <a:effectLst>
            <a:outerShdw sx="100000" sy="100000" kx="0" ky="0" algn="bl" rotWithShape="0" blurRad="101600" dist="12700" dir="5400000">
              <a:srgbClr val="000000">
                <a:alpha val="8000"/>
              </a:srgbClr>
            </a:outerShdw>
          </a:effectLst>
        </p:spPr>
      </p:sp>
      <p:sp>
        <p:nvSpPr>
          <p:cNvPr id="18" name="Text 16"/>
          <p:cNvSpPr/>
          <p:nvPr/>
        </p:nvSpPr>
        <p:spPr>
          <a:xfrm>
            <a:off x="969264" y="4407408"/>
            <a:ext cx="4663440" cy="292608"/>
          </a:xfrm>
          <a:prstGeom prst="rect">
            <a:avLst/>
          </a:prstGeom>
          <a:noFill/>
          <a:ln/>
        </p:spPr>
        <p:txBody>
          <a:bodyPr wrap="square" lIns="0" tIns="0" rIns="0" bIns="0" rtlCol="0" anchor="ctr"/>
          <a:lstStyle/>
          <a:p>
            <a:pPr indent="0" marL="0">
              <a:buNone/>
            </a:pPr>
            <a:r>
              <a:rPr lang="en-US" sz="1300" b="1" dirty="0">
                <a:solidFill>
                  <a:srgbClr val="F2A73B"/>
                </a:solidFill>
                <a:latin typeface="Arial" pitchFamily="34" charset="0"/>
                <a:ea typeface="Arial" pitchFamily="34" charset="-122"/>
                <a:cs typeface="Arial" pitchFamily="34" charset="-120"/>
              </a:rPr>
              <a:t>La barrera es la inicial, no la cuota</a:t>
            </a:r>
            <a:endParaRPr lang="en-US" sz="1300" dirty="0"/>
          </a:p>
        </p:txBody>
      </p:sp>
      <p:sp>
        <p:nvSpPr>
          <p:cNvPr id="19" name="Text 17"/>
          <p:cNvSpPr/>
          <p:nvPr/>
        </p:nvSpPr>
        <p:spPr>
          <a:xfrm>
            <a:off x="969264" y="4754880"/>
            <a:ext cx="4709160" cy="868680"/>
          </a:xfrm>
          <a:prstGeom prst="rect">
            <a:avLst/>
          </a:prstGeom>
          <a:noFill/>
          <a:ln/>
        </p:spPr>
        <p:txBody>
          <a:bodyPr wrap="square" lIns="0" tIns="0" rIns="0" bIns="0" rtlCol="0" anchor="ctr"/>
          <a:lstStyle/>
          <a:p>
            <a:pPr indent="0" marL="0">
              <a:lnSpc>
                <a:spcPts val="1600"/>
              </a:lnSpc>
              <a:buNone/>
            </a:pPr>
            <a:r>
              <a:rPr lang="en-US" sz="1150" dirty="0">
                <a:solidFill>
                  <a:srgbClr val="D5D9DF"/>
                </a:solidFill>
                <a:latin typeface="Arial" pitchFamily="34" charset="0"/>
                <a:ea typeface="Arial" pitchFamily="34" charset="-122"/>
                <a:cs typeface="Arial" pitchFamily="34" charset="-120"/>
              </a:rPr>
              <a:t>La cuota semanal no lo asusta. Reunir US$400–500 de entrada sí. Si la venta se está cayendo, casi nunca es por la cuota — es por la barrera de entrada.</a:t>
            </a:r>
            <a:endParaRPr lang="en-US" sz="1150" dirty="0"/>
          </a:p>
        </p:txBody>
      </p:sp>
      <p:sp>
        <p:nvSpPr>
          <p:cNvPr id="20" name="Shape 18"/>
          <p:cNvSpPr/>
          <p:nvPr/>
        </p:nvSpPr>
        <p:spPr>
          <a:xfrm>
            <a:off x="6172200" y="4224528"/>
            <a:ext cx="5349240" cy="1572768"/>
          </a:xfrm>
          <a:prstGeom prst="roundRect">
            <a:avLst>
              <a:gd name="adj" fmla="val 4651"/>
            </a:avLst>
          </a:prstGeom>
          <a:solidFill>
            <a:srgbClr val="F4F5F7"/>
          </a:solidFill>
          <a:ln/>
          <a:effectLst>
            <a:outerShdw sx="100000" sy="100000" kx="0" ky="0" algn="bl" rotWithShape="0" blurRad="101600" dist="12700" dir="5400000">
              <a:srgbClr val="000000">
                <a:alpha val="8000"/>
              </a:srgbClr>
            </a:outerShdw>
          </a:effectLst>
        </p:spPr>
      </p:sp>
      <p:sp>
        <p:nvSpPr>
          <p:cNvPr id="21" name="Text 19"/>
          <p:cNvSpPr/>
          <p:nvPr/>
        </p:nvSpPr>
        <p:spPr>
          <a:xfrm>
            <a:off x="6501384" y="4407408"/>
            <a:ext cx="4663440" cy="292608"/>
          </a:xfrm>
          <a:prstGeom prst="rect">
            <a:avLst/>
          </a:prstGeom>
          <a:noFill/>
          <a:ln/>
        </p:spPr>
        <p:txBody>
          <a:bodyPr wrap="square" lIns="0" tIns="0" rIns="0" bIns="0" rtlCol="0" anchor="ctr"/>
          <a:lstStyle/>
          <a:p>
            <a:pPr indent="0" marL="0">
              <a:buNone/>
            </a:pPr>
            <a:r>
              <a:rPr lang="en-US" sz="1300" b="1" dirty="0">
                <a:solidFill>
                  <a:srgbClr val="C4432B"/>
                </a:solidFill>
                <a:latin typeface="Arial" pitchFamily="34" charset="0"/>
                <a:ea typeface="Arial" pitchFamily="34" charset="-122"/>
                <a:cs typeface="Arial" pitchFamily="34" charset="-120"/>
              </a:rPr>
              <a:t>El hallazgo menos obvio</a:t>
            </a:r>
            <a:endParaRPr lang="en-US" sz="1300" dirty="0"/>
          </a:p>
        </p:txBody>
      </p:sp>
      <p:sp>
        <p:nvSpPr>
          <p:cNvPr id="22" name="Text 20"/>
          <p:cNvSpPr/>
          <p:nvPr/>
        </p:nvSpPr>
        <p:spPr>
          <a:xfrm>
            <a:off x="6501384" y="4754880"/>
            <a:ext cx="4709160" cy="868680"/>
          </a:xfrm>
          <a:prstGeom prst="rect">
            <a:avLst/>
          </a:prstGeom>
          <a:noFill/>
          <a:ln/>
        </p:spPr>
        <p:txBody>
          <a:bodyPr wrap="square" lIns="0" tIns="0" rIns="0" bIns="0" rtlCol="0" anchor="ctr"/>
          <a:lstStyle/>
          <a:p>
            <a:pPr indent="0" marL="0">
              <a:lnSpc>
                <a:spcPts val="1600"/>
              </a:lnSpc>
              <a:buNone/>
            </a:pPr>
            <a:r>
              <a:rPr lang="en-US" sz="1150" dirty="0">
                <a:solidFill>
                  <a:srgbClr val="3A3F49"/>
                </a:solidFill>
                <a:latin typeface="Arial" pitchFamily="34" charset="0"/>
                <a:ea typeface="Arial" pitchFamily="34" charset="-122"/>
                <a:cs typeface="Arial" pitchFamily="34" charset="-120"/>
              </a:rPr>
              <a:t>Migró de mototaxi a delivery en parte para poder programar su consumo: su recurso escaso es el cupo de 60 litros subsidiados. El rendimiento por litro es eje de decisión, no ficha técnica.</a:t>
            </a:r>
            <a:endParaRPr lang="en-US" sz="1150" dirty="0"/>
          </a:p>
        </p:txBody>
      </p:sp>
      <p:sp>
        <p:nvSpPr>
          <p:cNvPr id="23" name="Text 21"/>
          <p:cNvSpPr/>
          <p:nvPr/>
        </p:nvSpPr>
        <p:spPr>
          <a:xfrm>
            <a:off x="640080" y="6291072"/>
            <a:ext cx="10881360" cy="310896"/>
          </a:xfrm>
          <a:prstGeom prst="rect">
            <a:avLst/>
          </a:prstGeom>
          <a:noFill/>
          <a:ln/>
        </p:spPr>
        <p:txBody>
          <a:bodyPr wrap="square" lIns="0" tIns="0" rIns="0" bIns="0" rtlCol="0" anchor="ctr"/>
          <a:lstStyle/>
          <a:p>
            <a:pPr indent="0" marL="0">
              <a:buNone/>
            </a:pPr>
            <a:r>
              <a:rPr lang="en-US" sz="950" i="1" dirty="0">
                <a:solidFill>
                  <a:srgbClr val="6E7480"/>
                </a:solidFill>
                <a:latin typeface="Arial" pitchFamily="34" charset="0"/>
                <a:ea typeface="Arial" pitchFamily="34" charset="-122"/>
                <a:cs typeface="Arial" pitchFamily="34" charset="-120"/>
              </a:rPr>
              <a:t>Modelos: Horse y Owen 150 como primarios. Evitar Matrix — tanque de 7 L, el más limitado del portafolio.</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F2A73B"/>
                </a:solidFill>
                <a:latin typeface="Arial" pitchFamily="34" charset="0"/>
                <a:ea typeface="Arial" pitchFamily="34" charset="-122"/>
                <a:cs typeface="Arial" pitchFamily="34" charset="-120"/>
              </a:rPr>
              <a:t>PRIMARIO  ·  4,20</a:t>
            </a:r>
            <a:endParaRPr lang="en-US" sz="1100" dirty="0"/>
          </a:p>
        </p:txBody>
      </p:sp>
      <p:sp>
        <p:nvSpPr>
          <p:cNvPr id="3" name="Text 1"/>
          <p:cNvSpPr/>
          <p:nvPr/>
        </p:nvSpPr>
        <p:spPr>
          <a:xfrm>
            <a:off x="640080" y="676656"/>
            <a:ext cx="10881360" cy="685800"/>
          </a:xfrm>
          <a:prstGeom prst="rect">
            <a:avLst/>
          </a:prstGeom>
          <a:noFill/>
          <a:ln/>
        </p:spPr>
        <p:txBody>
          <a:bodyPr wrap="square" lIns="0" tIns="0" rIns="0" bIns="0" rtlCol="0" anchor="t"/>
          <a:lstStyle/>
          <a:p>
            <a:pPr indent="0" marL="0">
              <a:buNone/>
            </a:pPr>
            <a:r>
              <a:rPr lang="en-US" sz="3200" b="1" dirty="0">
                <a:solidFill>
                  <a:srgbClr val="1A1C20"/>
                </a:solidFill>
                <a:latin typeface="Cambria" pitchFamily="34" charset="0"/>
                <a:ea typeface="Cambria" pitchFamily="34" charset="-122"/>
                <a:cs typeface="Cambria" pitchFamily="34" charset="-120"/>
              </a:rPr>
              <a:t>02 · El mototaxista urbano</a:t>
            </a:r>
            <a:endParaRPr lang="en-US" sz="3200" dirty="0"/>
          </a:p>
        </p:txBody>
      </p:sp>
      <p:sp>
        <p:nvSpPr>
          <p:cNvPr id="4" name="Text 2"/>
          <p:cNvSpPr/>
          <p:nvPr/>
        </p:nvSpPr>
        <p:spPr>
          <a:xfrm>
            <a:off x="640080" y="1572768"/>
            <a:ext cx="10881360" cy="566928"/>
          </a:xfrm>
          <a:prstGeom prst="rect">
            <a:avLst/>
          </a:prstGeom>
          <a:noFill/>
          <a:ln/>
        </p:spPr>
        <p:txBody>
          <a:bodyPr wrap="square" lIns="0" tIns="0" rIns="0" bIns="0" rtlCol="0" anchor="ctr"/>
          <a:lstStyle/>
          <a:p>
            <a:pPr indent="0" marL="0">
              <a:lnSpc>
                <a:spcPts val="2100"/>
              </a:lnSpc>
              <a:buNone/>
            </a:pPr>
            <a:r>
              <a:rPr lang="en-US" sz="1400" dirty="0">
                <a:solidFill>
                  <a:srgbClr val="3A3F49"/>
                </a:solidFill>
                <a:latin typeface="Arial" pitchFamily="34" charset="0"/>
                <a:ea typeface="Arial" pitchFamily="34" charset="-122"/>
                <a:cs typeface="Arial" pitchFamily="34" charset="-120"/>
              </a:rPr>
              <a:t>Afiliado a una línea con parada asignada y placa amarilla. Cobra en efectivo, todos los días. No compite con el autobús por precio: compite por certeza.</a:t>
            </a:r>
            <a:endParaRPr lang="en-US" sz="1400" dirty="0"/>
          </a:p>
        </p:txBody>
      </p:sp>
      <p:sp>
        <p:nvSpPr>
          <p:cNvPr id="5" name="Shape 3"/>
          <p:cNvSpPr/>
          <p:nvPr/>
        </p:nvSpPr>
        <p:spPr>
          <a:xfrm>
            <a:off x="640080" y="2286000"/>
            <a:ext cx="5349240" cy="2103120"/>
          </a:xfrm>
          <a:prstGeom prst="roundRect">
            <a:avLst>
              <a:gd name="adj" fmla="val 3478"/>
            </a:avLst>
          </a:prstGeom>
          <a:solidFill>
            <a:srgbClr val="F4F5F7"/>
          </a:solidFill>
          <a:ln/>
          <a:effectLst>
            <a:outerShdw sx="100000" sy="100000" kx="0" ky="0" algn="bl" rotWithShape="0" blurRad="101600" dist="12700" dir="5400000">
              <a:srgbClr val="000000">
                <a:alpha val="8000"/>
              </a:srgbClr>
            </a:outerShdw>
          </a:effectLst>
        </p:spPr>
      </p:sp>
      <p:sp>
        <p:nvSpPr>
          <p:cNvPr id="6" name="Text 4"/>
          <p:cNvSpPr/>
          <p:nvPr/>
        </p:nvSpPr>
        <p:spPr>
          <a:xfrm>
            <a:off x="969264" y="2468880"/>
            <a:ext cx="4663440" cy="292608"/>
          </a:xfrm>
          <a:prstGeom prst="rect">
            <a:avLst/>
          </a:prstGeom>
          <a:noFill/>
          <a:ln/>
        </p:spPr>
        <p:txBody>
          <a:bodyPr wrap="square" lIns="0" tIns="0" rIns="0" bIns="0" rtlCol="0" anchor="ctr"/>
          <a:lstStyle/>
          <a:p>
            <a:pPr indent="0" marL="0">
              <a:buNone/>
            </a:pPr>
            <a:r>
              <a:rPr lang="en-US" sz="1300" b="1" dirty="0">
                <a:solidFill>
                  <a:srgbClr val="1A1C20"/>
                </a:solidFill>
                <a:latin typeface="Arial" pitchFamily="34" charset="0"/>
                <a:ea typeface="Arial" pitchFamily="34" charset="-122"/>
                <a:cs typeface="Arial" pitchFamily="34" charset="-120"/>
              </a:rPr>
              <a:t>Su demanda es estructural, no coyuntural</a:t>
            </a:r>
            <a:endParaRPr lang="en-US" sz="1300" dirty="0"/>
          </a:p>
        </p:txBody>
      </p:sp>
      <p:sp>
        <p:nvSpPr>
          <p:cNvPr id="7" name="Shape 5"/>
          <p:cNvSpPr/>
          <p:nvPr/>
        </p:nvSpPr>
        <p:spPr>
          <a:xfrm>
            <a:off x="969264" y="2907792"/>
            <a:ext cx="109728" cy="109728"/>
          </a:xfrm>
          <a:prstGeom prst="ellipse">
            <a:avLst/>
          </a:prstGeom>
          <a:solidFill>
            <a:srgbClr val="C4432B"/>
          </a:solidFill>
          <a:ln/>
        </p:spPr>
      </p:sp>
      <p:sp>
        <p:nvSpPr>
          <p:cNvPr id="8" name="Text 6"/>
          <p:cNvSpPr/>
          <p:nvPr/>
        </p:nvSpPr>
        <p:spPr>
          <a:xfrm>
            <a:off x="1188720" y="2807208"/>
            <a:ext cx="4480560" cy="457200"/>
          </a:xfrm>
          <a:prstGeom prst="rect">
            <a:avLst/>
          </a:prstGeom>
          <a:noFill/>
          <a:ln/>
        </p:spPr>
        <p:txBody>
          <a:bodyPr wrap="square" lIns="0" tIns="0" rIns="0" bIns="0" rtlCol="0" anchor="ctr"/>
          <a:lstStyle/>
          <a:p>
            <a:pPr indent="0" marL="0">
              <a:lnSpc>
                <a:spcPts val="1500"/>
              </a:lnSpc>
              <a:buNone/>
            </a:pPr>
            <a:r>
              <a:rPr lang="en-US" sz="1150" dirty="0">
                <a:solidFill>
                  <a:srgbClr val="50555F"/>
                </a:solidFill>
                <a:latin typeface="Arial" pitchFamily="34" charset="0"/>
                <a:ea typeface="Arial" pitchFamily="34" charset="-122"/>
                <a:cs typeface="Arial" pitchFamily="34" charset="-120"/>
              </a:rPr>
              <a:t>35–40 % de las unidades urbanas están inoperativas</a:t>
            </a:r>
            <a:endParaRPr lang="en-US" sz="1150" dirty="0"/>
          </a:p>
        </p:txBody>
      </p:sp>
      <p:sp>
        <p:nvSpPr>
          <p:cNvPr id="9" name="Shape 7"/>
          <p:cNvSpPr/>
          <p:nvPr/>
        </p:nvSpPr>
        <p:spPr>
          <a:xfrm>
            <a:off x="969264" y="3383280"/>
            <a:ext cx="109728" cy="109728"/>
          </a:xfrm>
          <a:prstGeom prst="ellipse">
            <a:avLst/>
          </a:prstGeom>
          <a:solidFill>
            <a:srgbClr val="C4432B"/>
          </a:solidFill>
          <a:ln/>
        </p:spPr>
      </p:sp>
      <p:sp>
        <p:nvSpPr>
          <p:cNvPr id="10" name="Text 8"/>
          <p:cNvSpPr/>
          <p:nvPr/>
        </p:nvSpPr>
        <p:spPr>
          <a:xfrm>
            <a:off x="1188720" y="3282696"/>
            <a:ext cx="4480560" cy="457200"/>
          </a:xfrm>
          <a:prstGeom prst="rect">
            <a:avLst/>
          </a:prstGeom>
          <a:noFill/>
          <a:ln/>
        </p:spPr>
        <p:txBody>
          <a:bodyPr wrap="square" lIns="0" tIns="0" rIns="0" bIns="0" rtlCol="0" anchor="ctr"/>
          <a:lstStyle/>
          <a:p>
            <a:pPr indent="0" marL="0">
              <a:lnSpc>
                <a:spcPts val="1500"/>
              </a:lnSpc>
              <a:buNone/>
            </a:pPr>
            <a:r>
              <a:rPr lang="en-US" sz="1150" dirty="0">
                <a:solidFill>
                  <a:srgbClr val="50555F"/>
                </a:solidFill>
                <a:latin typeface="Arial" pitchFamily="34" charset="0"/>
                <a:ea typeface="Arial" pitchFamily="34" charset="-122"/>
                <a:cs typeface="Arial" pitchFamily="34" charset="-120"/>
              </a:rPr>
              <a:t>Faltan 45.000 unidades para normalizar el servicio</a:t>
            </a:r>
            <a:endParaRPr lang="en-US" sz="1150" dirty="0"/>
          </a:p>
        </p:txBody>
      </p:sp>
      <p:sp>
        <p:nvSpPr>
          <p:cNvPr id="11" name="Shape 9"/>
          <p:cNvSpPr/>
          <p:nvPr/>
        </p:nvSpPr>
        <p:spPr>
          <a:xfrm>
            <a:off x="969264" y="3858768"/>
            <a:ext cx="109728" cy="109728"/>
          </a:xfrm>
          <a:prstGeom prst="ellipse">
            <a:avLst/>
          </a:prstGeom>
          <a:solidFill>
            <a:srgbClr val="C4432B"/>
          </a:solidFill>
          <a:ln/>
        </p:spPr>
      </p:sp>
      <p:sp>
        <p:nvSpPr>
          <p:cNvPr id="12" name="Text 10"/>
          <p:cNvSpPr/>
          <p:nvPr/>
        </p:nvSpPr>
        <p:spPr>
          <a:xfrm>
            <a:off x="1188720" y="3758184"/>
            <a:ext cx="4480560" cy="457200"/>
          </a:xfrm>
          <a:prstGeom prst="rect">
            <a:avLst/>
          </a:prstGeom>
          <a:noFill/>
          <a:ln/>
        </p:spPr>
        <p:txBody>
          <a:bodyPr wrap="square" lIns="0" tIns="0" rIns="0" bIns="0" rtlCol="0" anchor="ctr"/>
          <a:lstStyle/>
          <a:p>
            <a:pPr indent="0" marL="0">
              <a:lnSpc>
                <a:spcPts val="1500"/>
              </a:lnSpc>
              <a:buNone/>
            </a:pPr>
            <a:r>
              <a:rPr lang="en-US" sz="1150" dirty="0">
                <a:solidFill>
                  <a:srgbClr val="50555F"/>
                </a:solidFill>
                <a:latin typeface="Arial" pitchFamily="34" charset="0"/>
                <a:ea typeface="Arial" pitchFamily="34" charset="-122"/>
                <a:cs typeface="Arial" pitchFamily="34" charset="-120"/>
              </a:rPr>
              <a:t>El pasaje regulado no cubre costos, y el 90 % de los insumos se paga en dólares</a:t>
            </a:r>
            <a:endParaRPr lang="en-US" sz="1150" dirty="0"/>
          </a:p>
        </p:txBody>
      </p:sp>
      <p:sp>
        <p:nvSpPr>
          <p:cNvPr id="13" name="Shape 11"/>
          <p:cNvSpPr/>
          <p:nvPr/>
        </p:nvSpPr>
        <p:spPr>
          <a:xfrm>
            <a:off x="6172200" y="2286000"/>
            <a:ext cx="5349240" cy="2103120"/>
          </a:xfrm>
          <a:prstGeom prst="roundRect">
            <a:avLst>
              <a:gd name="adj" fmla="val 3478"/>
            </a:avLst>
          </a:prstGeom>
          <a:solidFill>
            <a:srgbClr val="22252A"/>
          </a:solidFill>
          <a:ln/>
          <a:effectLst>
            <a:outerShdw sx="100000" sy="100000" kx="0" ky="0" algn="bl" rotWithShape="0" blurRad="101600" dist="12700" dir="5400000">
              <a:srgbClr val="000000">
                <a:alpha val="8000"/>
              </a:srgbClr>
            </a:outerShdw>
          </a:effectLst>
        </p:spPr>
      </p:sp>
      <p:sp>
        <p:nvSpPr>
          <p:cNvPr id="14" name="Text 12"/>
          <p:cNvSpPr/>
          <p:nvPr/>
        </p:nvSpPr>
        <p:spPr>
          <a:xfrm>
            <a:off x="6501384" y="2468880"/>
            <a:ext cx="4663440" cy="292608"/>
          </a:xfrm>
          <a:prstGeom prst="rect">
            <a:avLst/>
          </a:prstGeom>
          <a:noFill/>
          <a:ln/>
        </p:spPr>
        <p:txBody>
          <a:bodyPr wrap="square" lIns="0" tIns="0" rIns="0" bIns="0" rtlCol="0" anchor="ctr"/>
          <a:lstStyle/>
          <a:p>
            <a:pPr indent="0" marL="0">
              <a:buNone/>
            </a:pPr>
            <a:r>
              <a:rPr lang="en-US" sz="1300" b="1" dirty="0">
                <a:solidFill>
                  <a:srgbClr val="F2A73B"/>
                </a:solidFill>
                <a:latin typeface="Arial" pitchFamily="34" charset="0"/>
                <a:ea typeface="Arial" pitchFamily="34" charset="-122"/>
                <a:cs typeface="Arial" pitchFamily="34" charset="-120"/>
              </a:rPr>
              <a:t>Viene preagrupado — y eso cambia todo</a:t>
            </a:r>
            <a:endParaRPr lang="en-US" sz="1300" dirty="0"/>
          </a:p>
        </p:txBody>
      </p:sp>
      <p:sp>
        <p:nvSpPr>
          <p:cNvPr id="15" name="Text 13"/>
          <p:cNvSpPr/>
          <p:nvPr/>
        </p:nvSpPr>
        <p:spPr>
          <a:xfrm>
            <a:off x="6501384" y="2816352"/>
            <a:ext cx="4709160" cy="1463040"/>
          </a:xfrm>
          <a:prstGeom prst="rect">
            <a:avLst/>
          </a:prstGeom>
          <a:noFill/>
          <a:ln/>
        </p:spPr>
        <p:txBody>
          <a:bodyPr wrap="square" lIns="0" tIns="0" rIns="0" bIns="0" rtlCol="0" anchor="ctr"/>
          <a:lstStyle/>
          <a:p>
            <a:pPr indent="0" marL="0">
              <a:lnSpc>
                <a:spcPts val="1600"/>
              </a:lnSpc>
              <a:buNone/>
            </a:pPr>
            <a:r>
              <a:rPr lang="en-US" sz="1150" dirty="0">
                <a:solidFill>
                  <a:srgbClr val="D5D9DF"/>
                </a:solidFill>
                <a:latin typeface="Arial" pitchFamily="34" charset="0"/>
                <a:ea typeface="Arial" pitchFamily="34" charset="-122"/>
                <a:cs typeface="Arial" pitchFamily="34" charset="-120"/>
              </a:rPr>
              <a:t>Es el único segmento del mapa que ya está organizado: cooperativas, asociaciones, paradas asignadas, sindicato nacional.</a:t>
            </a:r>
            <a:endParaRPr lang="en-US" sz="1150" dirty="0"/>
          </a:p>
          <a:p>
            <a:pPr indent="0" marL="0">
              <a:lnSpc>
                <a:spcPts val="1600"/>
              </a:lnSpc>
              <a:buNone/>
            </a:pPr>
            <a:endParaRPr lang="en-US" sz="1150" dirty="0"/>
          </a:p>
          <a:p>
            <a:pPr indent="0" marL="0">
              <a:lnSpc>
                <a:spcPts val="1600"/>
              </a:lnSpc>
              <a:buNone/>
            </a:pPr>
            <a:r>
              <a:rPr lang="en-US" sz="1150" dirty="0">
                <a:solidFill>
                  <a:srgbClr val="D5D9DF"/>
                </a:solidFill>
                <a:latin typeface="Arial" pitchFamily="34" charset="0"/>
                <a:ea typeface="Arial" pitchFamily="34" charset="-122"/>
                <a:cs typeface="Arial" pitchFamily="34" charset="-120"/>
              </a:rPr>
              <a:t>Vender de a una cuesta lo mismo que a cualquiera. Vender a una asociación de treinta cambia la economía de adquisición por completo.</a:t>
            </a:r>
            <a:endParaRPr lang="en-US" sz="1150" dirty="0"/>
          </a:p>
        </p:txBody>
      </p:sp>
      <p:sp>
        <p:nvSpPr>
          <p:cNvPr id="16" name="Shape 14"/>
          <p:cNvSpPr/>
          <p:nvPr/>
        </p:nvSpPr>
        <p:spPr>
          <a:xfrm>
            <a:off x="640080" y="4617720"/>
            <a:ext cx="10881360" cy="1188720"/>
          </a:xfrm>
          <a:prstGeom prst="roundRect">
            <a:avLst>
              <a:gd name="adj" fmla="val 6154"/>
            </a:avLst>
          </a:prstGeom>
          <a:solidFill>
            <a:srgbClr val="F4F5F7"/>
          </a:solidFill>
          <a:ln/>
          <a:effectLst>
            <a:outerShdw sx="100000" sy="100000" kx="0" ky="0" algn="bl" rotWithShape="0" blurRad="101600" dist="12700" dir="5400000">
              <a:srgbClr val="000000">
                <a:alpha val="8000"/>
              </a:srgbClr>
            </a:outerShdw>
          </a:effectLst>
        </p:spPr>
      </p:sp>
      <p:sp>
        <p:nvSpPr>
          <p:cNvPr id="17" name="Shape 15"/>
          <p:cNvSpPr/>
          <p:nvPr/>
        </p:nvSpPr>
        <p:spPr>
          <a:xfrm>
            <a:off x="969264" y="4864608"/>
            <a:ext cx="457200" cy="457200"/>
          </a:xfrm>
          <a:prstGeom prst="ellipse">
            <a:avLst/>
          </a:prstGeom>
          <a:solidFill>
            <a:srgbClr val="C4432B"/>
          </a:solidFill>
          <a:ln/>
        </p:spPr>
      </p:sp>
      <p:sp>
        <p:nvSpPr>
          <p:cNvPr id="18" name="Text 16"/>
          <p:cNvSpPr/>
          <p:nvPr/>
        </p:nvSpPr>
        <p:spPr>
          <a:xfrm>
            <a:off x="969264" y="486460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t>
            </a:r>
            <a:endParaRPr lang="en-US" sz="1300" dirty="0"/>
          </a:p>
        </p:txBody>
      </p:sp>
      <p:sp>
        <p:nvSpPr>
          <p:cNvPr id="19" name="Text 17"/>
          <p:cNvSpPr/>
          <p:nvPr/>
        </p:nvSpPr>
        <p:spPr>
          <a:xfrm>
            <a:off x="1554480" y="4828032"/>
            <a:ext cx="4754880" cy="274320"/>
          </a:xfrm>
          <a:prstGeom prst="rect">
            <a:avLst/>
          </a:prstGeom>
          <a:noFill/>
          <a:ln/>
        </p:spPr>
        <p:txBody>
          <a:bodyPr wrap="square" lIns="0" tIns="0" rIns="0" bIns="0" rtlCol="0" anchor="ctr"/>
          <a:lstStyle/>
          <a:p>
            <a:pPr indent="0" marL="0">
              <a:buNone/>
            </a:pPr>
            <a:r>
              <a:rPr lang="en-US" sz="1300" b="1" dirty="0">
                <a:solidFill>
                  <a:srgbClr val="1A1C20"/>
                </a:solidFill>
                <a:latin typeface="Arial" pitchFamily="34" charset="0"/>
                <a:ea typeface="Arial" pitchFamily="34" charset="-122"/>
                <a:cs typeface="Arial" pitchFamily="34" charset="-120"/>
              </a:rPr>
              <a:t>Discrepancia abierta: ¿Owen o Horse?</a:t>
            </a:r>
            <a:endParaRPr lang="en-US" sz="1300" dirty="0"/>
          </a:p>
        </p:txBody>
      </p:sp>
      <p:sp>
        <p:nvSpPr>
          <p:cNvPr id="20" name="Text 18"/>
          <p:cNvSpPr/>
          <p:nvPr/>
        </p:nvSpPr>
        <p:spPr>
          <a:xfrm>
            <a:off x="1554480" y="5138928"/>
            <a:ext cx="9601200" cy="566928"/>
          </a:xfrm>
          <a:prstGeom prst="rect">
            <a:avLst/>
          </a:prstGeom>
          <a:noFill/>
          <a:ln/>
        </p:spPr>
        <p:txBody>
          <a:bodyPr wrap="square" lIns="0" tIns="0" rIns="0" bIns="0" rtlCol="0" anchor="ctr"/>
          <a:lstStyle/>
          <a:p>
            <a:pPr indent="0" marL="0">
              <a:lnSpc>
                <a:spcPts val="1500"/>
              </a:lnSpc>
              <a:buNone/>
            </a:pPr>
            <a:r>
              <a:rPr lang="en-US" sz="1150" dirty="0">
                <a:solidFill>
                  <a:srgbClr val="50555F"/>
                </a:solidFill>
                <a:latin typeface="Arial" pitchFamily="34" charset="0"/>
                <a:ea typeface="Arial" pitchFamily="34" charset="-122"/>
                <a:cs typeface="Arial" pitchFamily="34" charset="-120"/>
              </a:rPr>
              <a:t>Arranca reporta Owen. Las fuentes públicas asocian el Horse con «mototaxistas y repartidores». No se resuelve a favor de la prensa — el piso de venta es evidencia primaria — pero obliga a tratarlo como hipótesis abierta (H2) y a no construir argumentos que dependan de la respuesta.</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F2A73B"/>
                </a:solidFill>
                <a:latin typeface="Arial" pitchFamily="34" charset="0"/>
                <a:ea typeface="Arial" pitchFamily="34" charset="-122"/>
                <a:cs typeface="Arial" pitchFamily="34" charset="-120"/>
              </a:rPr>
              <a:t>SECUNDARIO  ·  3,60  —  Y EL DE MAYOR TECHO</a:t>
            </a:r>
            <a:endParaRPr lang="en-US" sz="1100" dirty="0"/>
          </a:p>
        </p:txBody>
      </p:sp>
      <p:sp>
        <p:nvSpPr>
          <p:cNvPr id="3" name="Text 1"/>
          <p:cNvSpPr/>
          <p:nvPr/>
        </p:nvSpPr>
        <p:spPr>
          <a:xfrm>
            <a:off x="640080" y="676656"/>
            <a:ext cx="10881360" cy="685800"/>
          </a:xfrm>
          <a:prstGeom prst="rect">
            <a:avLst/>
          </a:prstGeom>
          <a:noFill/>
          <a:ln/>
        </p:spPr>
        <p:txBody>
          <a:bodyPr wrap="square" lIns="0" tIns="0" rIns="0" bIns="0" rtlCol="0" anchor="t"/>
          <a:lstStyle/>
          <a:p>
            <a:pPr indent="0" marL="0">
              <a:buNone/>
            </a:pPr>
            <a:r>
              <a:rPr lang="en-US" sz="3200" b="1" dirty="0">
                <a:solidFill>
                  <a:srgbClr val="1A1C20"/>
                </a:solidFill>
                <a:latin typeface="Cambria" pitchFamily="34" charset="0"/>
                <a:ea typeface="Cambria" pitchFamily="34" charset="-122"/>
                <a:cs typeface="Cambria" pitchFamily="34" charset="-120"/>
              </a:rPr>
              <a:t>03 · El acarreador del interior</a:t>
            </a:r>
            <a:endParaRPr lang="en-US" sz="3200" dirty="0"/>
          </a:p>
        </p:txBody>
      </p:sp>
      <p:sp>
        <p:nvSpPr>
          <p:cNvPr id="4" name="Text 2"/>
          <p:cNvSpPr/>
          <p:nvPr/>
        </p:nvSpPr>
        <p:spPr>
          <a:xfrm>
            <a:off x="640080" y="1572768"/>
            <a:ext cx="10881360" cy="566928"/>
          </a:xfrm>
          <a:prstGeom prst="rect">
            <a:avLst/>
          </a:prstGeom>
          <a:noFill/>
          <a:ln/>
        </p:spPr>
        <p:txBody>
          <a:bodyPr wrap="square" lIns="0" tIns="0" rIns="0" bIns="0" rtlCol="0" anchor="ctr"/>
          <a:lstStyle/>
          <a:p>
            <a:pPr indent="0" marL="0">
              <a:lnSpc>
                <a:spcPts val="2100"/>
              </a:lnSpc>
              <a:buNone/>
            </a:pPr>
            <a:r>
              <a:rPr lang="en-US" sz="1400" dirty="0">
                <a:solidFill>
                  <a:srgbClr val="3A3F49"/>
                </a:solidFill>
                <a:latin typeface="Arial" pitchFamily="34" charset="0"/>
                <a:ea typeface="Arial" pitchFamily="34" charset="-122"/>
                <a:cs typeface="Arial" pitchFamily="34" charset="-120"/>
              </a:rPr>
              <a:t>Mueve materiales, insumos y cosecha por camino de tierra. Para él la moto no es transporte: es infraestructura de trabajo donde no llega otra cosa.</a:t>
            </a:r>
            <a:endParaRPr lang="en-US" sz="1400" dirty="0"/>
          </a:p>
        </p:txBody>
      </p:sp>
      <p:sp>
        <p:nvSpPr>
          <p:cNvPr id="5" name="Shape 3"/>
          <p:cNvSpPr/>
          <p:nvPr/>
        </p:nvSpPr>
        <p:spPr>
          <a:xfrm>
            <a:off x="640080" y="2286000"/>
            <a:ext cx="10881360" cy="1627632"/>
          </a:xfrm>
          <a:prstGeom prst="roundRect">
            <a:avLst>
              <a:gd name="adj" fmla="val 4494"/>
            </a:avLst>
          </a:prstGeom>
          <a:solidFill>
            <a:srgbClr val="22252A"/>
          </a:solidFill>
          <a:ln/>
          <a:effectLst>
            <a:outerShdw sx="100000" sy="100000" kx="0" ky="0" algn="bl" rotWithShape="0" blurRad="101600" dist="12700" dir="5400000">
              <a:srgbClr val="000000">
                <a:alpha val="8000"/>
              </a:srgbClr>
            </a:outerShdw>
          </a:effectLst>
        </p:spPr>
      </p:sp>
      <p:sp>
        <p:nvSpPr>
          <p:cNvPr id="6" name="Text 4"/>
          <p:cNvSpPr/>
          <p:nvPr/>
        </p:nvSpPr>
        <p:spPr>
          <a:xfrm>
            <a:off x="1024128" y="2450592"/>
            <a:ext cx="10058400" cy="749808"/>
          </a:xfrm>
          <a:prstGeom prst="rect">
            <a:avLst/>
          </a:prstGeom>
          <a:noFill/>
          <a:ln/>
        </p:spPr>
        <p:txBody>
          <a:bodyPr wrap="square" lIns="0" tIns="0" rIns="0" bIns="0" rtlCol="0" anchor="ctr"/>
          <a:lstStyle/>
          <a:p>
            <a:pPr indent="0" marL="0">
              <a:lnSpc>
                <a:spcPts val="2600"/>
              </a:lnSpc>
              <a:buNone/>
            </a:pPr>
            <a:r>
              <a:rPr lang="en-US" sz="1900" b="1" dirty="0">
                <a:solidFill>
                  <a:srgbClr val="FFFFFF"/>
                </a:solidFill>
                <a:latin typeface="Cambria" pitchFamily="34" charset="0"/>
                <a:ea typeface="Cambria" pitchFamily="34" charset="-122"/>
                <a:cs typeface="Cambria" pitchFamily="34" charset="-120"/>
              </a:rPr>
              <a:t>No sale Secundario porque sea mal cliente. Sale Secundario porque</a:t>
            </a:r>
            <a:endParaRPr lang="en-US" sz="1900" dirty="0"/>
          </a:p>
          <a:p>
            <a:pPr indent="0" marL="0">
              <a:lnSpc>
                <a:spcPts val="2600"/>
              </a:lnSpc>
              <a:buNone/>
            </a:pPr>
            <a:r>
              <a:rPr lang="en-US" sz="1900" b="1" dirty="0">
                <a:solidFill>
                  <a:srgbClr val="FFFFFF"/>
                </a:solidFill>
                <a:latin typeface="Cambria" pitchFamily="34" charset="0"/>
                <a:ea typeface="Cambria" pitchFamily="34" charset="-122"/>
                <a:cs typeface="Cambria" pitchFamily="34" charset="-120"/>
              </a:rPr>
              <a:t>Arranca todavía no está montada para servirlo.</a:t>
            </a:r>
            <a:endParaRPr lang="en-US" sz="1900" dirty="0"/>
          </a:p>
        </p:txBody>
      </p:sp>
      <p:sp>
        <p:nvSpPr>
          <p:cNvPr id="7" name="Text 5"/>
          <p:cNvSpPr/>
          <p:nvPr/>
        </p:nvSpPr>
        <p:spPr>
          <a:xfrm>
            <a:off x="1024128" y="3200400"/>
            <a:ext cx="10241280" cy="640080"/>
          </a:xfrm>
          <a:prstGeom prst="rect">
            <a:avLst/>
          </a:prstGeom>
          <a:noFill/>
          <a:ln/>
        </p:spPr>
        <p:txBody>
          <a:bodyPr wrap="square" lIns="0" tIns="0" rIns="0" bIns="0" rtlCol="0" anchor="ctr"/>
          <a:lstStyle/>
          <a:p>
            <a:pPr indent="0" marL="0">
              <a:lnSpc>
                <a:spcPts val="1700"/>
              </a:lnSpc>
              <a:buNone/>
            </a:pPr>
            <a:r>
              <a:rPr lang="en-US" sz="1200" dirty="0">
                <a:solidFill>
                  <a:srgbClr val="D5D9DF"/>
                </a:solidFill>
                <a:latin typeface="Arial" pitchFamily="34" charset="0"/>
                <a:ea typeface="Arial" pitchFamily="34" charset="-122"/>
                <a:cs typeface="Arial" pitchFamily="34" charset="-120"/>
              </a:rPr>
              <a:t>Los dos criterios que lo hunden —costo de servirlo y calidad de pago— no describen al cliente: describen una brecha de cobertura. El financiamiento no llega a su plaza (4 sedes frente a 170+ concesionarios) y la postventa se la queda el mecánico del pueblo.</a:t>
            </a:r>
            <a:endParaRPr lang="en-US" sz="1200" dirty="0"/>
          </a:p>
        </p:txBody>
      </p:sp>
      <p:sp>
        <p:nvSpPr>
          <p:cNvPr id="8" name="Shape 6"/>
          <p:cNvSpPr/>
          <p:nvPr/>
        </p:nvSpPr>
        <p:spPr>
          <a:xfrm>
            <a:off x="640080" y="4096512"/>
            <a:ext cx="5349240" cy="1755648"/>
          </a:xfrm>
          <a:prstGeom prst="roundRect">
            <a:avLst>
              <a:gd name="adj" fmla="val 4167"/>
            </a:avLst>
          </a:prstGeom>
          <a:solidFill>
            <a:srgbClr val="F4F5F7"/>
          </a:solidFill>
          <a:ln/>
          <a:effectLst>
            <a:outerShdw sx="100000" sy="100000" kx="0" ky="0" algn="bl" rotWithShape="0" blurRad="101600" dist="12700" dir="5400000">
              <a:srgbClr val="000000">
                <a:alpha val="8000"/>
              </a:srgbClr>
            </a:outerShdw>
          </a:effectLst>
        </p:spPr>
      </p:sp>
      <p:sp>
        <p:nvSpPr>
          <p:cNvPr id="9" name="Text 7"/>
          <p:cNvSpPr/>
          <p:nvPr/>
        </p:nvSpPr>
        <p:spPr>
          <a:xfrm>
            <a:off x="969264" y="4261104"/>
            <a:ext cx="4663440" cy="274320"/>
          </a:xfrm>
          <a:prstGeom prst="rect">
            <a:avLst/>
          </a:prstGeom>
          <a:noFill/>
          <a:ln/>
        </p:spPr>
        <p:txBody>
          <a:bodyPr wrap="square" lIns="0" tIns="0" rIns="0" bIns="0" rtlCol="0" anchor="ctr"/>
          <a:lstStyle/>
          <a:p>
            <a:pPr indent="0" marL="0">
              <a:buNone/>
            </a:pPr>
            <a:r>
              <a:rPr lang="en-US" sz="1250" b="1" dirty="0">
                <a:solidFill>
                  <a:srgbClr val="1A1C20"/>
                </a:solidFill>
                <a:latin typeface="Arial" pitchFamily="34" charset="0"/>
                <a:ea typeface="Arial" pitchFamily="34" charset="-122"/>
                <a:cs typeface="Arial" pitchFamily="34" charset="-120"/>
              </a:rPr>
              <a:t>Si se cierran esas dos brechas</a:t>
            </a:r>
            <a:endParaRPr lang="en-US" sz="1250" dirty="0"/>
          </a:p>
        </p:txBody>
      </p:sp>
      <p:sp>
        <p:nvSpPr>
          <p:cNvPr id="10" name="Text 8"/>
          <p:cNvSpPr/>
          <p:nvPr/>
        </p:nvSpPr>
        <p:spPr>
          <a:xfrm>
            <a:off x="969264" y="4572000"/>
            <a:ext cx="1371600" cy="548640"/>
          </a:xfrm>
          <a:prstGeom prst="rect">
            <a:avLst/>
          </a:prstGeom>
          <a:noFill/>
          <a:ln/>
        </p:spPr>
        <p:txBody>
          <a:bodyPr wrap="square" lIns="0" tIns="0" rIns="0" bIns="0" rtlCol="0" anchor="ctr"/>
          <a:lstStyle/>
          <a:p>
            <a:pPr indent="0" marL="0">
              <a:buNone/>
            </a:pPr>
            <a:r>
              <a:rPr lang="en-US" sz="3200" b="1" dirty="0">
                <a:solidFill>
                  <a:srgbClr val="6E7480"/>
                </a:solidFill>
                <a:latin typeface="Cambria" pitchFamily="34" charset="0"/>
                <a:ea typeface="Cambria" pitchFamily="34" charset="-122"/>
                <a:cs typeface="Cambria" pitchFamily="34" charset="-120"/>
              </a:rPr>
              <a:t>3,60</a:t>
            </a:r>
            <a:endParaRPr lang="en-US" sz="3200" dirty="0"/>
          </a:p>
        </p:txBody>
      </p:sp>
      <p:sp>
        <p:nvSpPr>
          <p:cNvPr id="11" name="Text 9"/>
          <p:cNvSpPr/>
          <p:nvPr/>
        </p:nvSpPr>
        <p:spPr>
          <a:xfrm>
            <a:off x="2331720" y="4626864"/>
            <a:ext cx="548640" cy="457200"/>
          </a:xfrm>
          <a:prstGeom prst="rect">
            <a:avLst/>
          </a:prstGeom>
          <a:noFill/>
          <a:ln/>
        </p:spPr>
        <p:txBody>
          <a:bodyPr wrap="square" lIns="0" tIns="0" rIns="0" bIns="0" rtlCol="0" anchor="ctr"/>
          <a:lstStyle/>
          <a:p>
            <a:pPr algn="ctr" indent="0" marL="0">
              <a:buNone/>
            </a:pPr>
            <a:r>
              <a:rPr lang="en-US" sz="2200" dirty="0">
                <a:solidFill>
                  <a:srgbClr val="6E7480"/>
                </a:solidFill>
                <a:latin typeface="Arial" pitchFamily="34" charset="0"/>
                <a:ea typeface="Arial" pitchFamily="34" charset="-122"/>
                <a:cs typeface="Arial" pitchFamily="34" charset="-120"/>
              </a:rPr>
              <a:t>→</a:t>
            </a:r>
            <a:endParaRPr lang="en-US" sz="2200" dirty="0"/>
          </a:p>
        </p:txBody>
      </p:sp>
      <p:sp>
        <p:nvSpPr>
          <p:cNvPr id="12" name="Text 10"/>
          <p:cNvSpPr/>
          <p:nvPr/>
        </p:nvSpPr>
        <p:spPr>
          <a:xfrm>
            <a:off x="2926080" y="4572000"/>
            <a:ext cx="1371600" cy="548640"/>
          </a:xfrm>
          <a:prstGeom prst="rect">
            <a:avLst/>
          </a:prstGeom>
          <a:noFill/>
          <a:ln/>
        </p:spPr>
        <p:txBody>
          <a:bodyPr wrap="square" lIns="0" tIns="0" rIns="0" bIns="0" rtlCol="0" anchor="ctr"/>
          <a:lstStyle/>
          <a:p>
            <a:pPr indent="0" marL="0">
              <a:buNone/>
            </a:pPr>
            <a:r>
              <a:rPr lang="en-US" sz="3200" b="1" dirty="0">
                <a:solidFill>
                  <a:srgbClr val="F2A73B"/>
                </a:solidFill>
                <a:latin typeface="Cambria" pitchFamily="34" charset="0"/>
                <a:ea typeface="Cambria" pitchFamily="34" charset="-122"/>
                <a:cs typeface="Cambria" pitchFamily="34" charset="-120"/>
              </a:rPr>
              <a:t>4,2</a:t>
            </a:r>
            <a:endParaRPr lang="en-US" sz="3200" dirty="0"/>
          </a:p>
        </p:txBody>
      </p:sp>
      <p:sp>
        <p:nvSpPr>
          <p:cNvPr id="13" name="Text 11"/>
          <p:cNvSpPr/>
          <p:nvPr/>
        </p:nvSpPr>
        <p:spPr>
          <a:xfrm>
            <a:off x="969264" y="5193792"/>
            <a:ext cx="4663440" cy="457200"/>
          </a:xfrm>
          <a:prstGeom prst="rect">
            <a:avLst/>
          </a:prstGeom>
          <a:noFill/>
          <a:ln/>
        </p:spPr>
        <p:txBody>
          <a:bodyPr wrap="square" lIns="0" tIns="0" rIns="0" bIns="0" rtlCol="0" anchor="ctr"/>
          <a:lstStyle/>
          <a:p>
            <a:pPr indent="0" marL="0">
              <a:lnSpc>
                <a:spcPts val="1500"/>
              </a:lnSpc>
              <a:buNone/>
            </a:pPr>
            <a:r>
              <a:rPr lang="en-US" sz="1150" dirty="0">
                <a:solidFill>
                  <a:srgbClr val="50555F"/>
                </a:solidFill>
                <a:latin typeface="Arial" pitchFamily="34" charset="0"/>
                <a:ea typeface="Arial" pitchFamily="34" charset="-122"/>
                <a:cs typeface="Arial" pitchFamily="34" charset="-120"/>
              </a:rPr>
              <a:t>Pasa a Primario, con el ticket más alto del mapa.</a:t>
            </a:r>
            <a:endParaRPr lang="en-US" sz="1150" dirty="0"/>
          </a:p>
        </p:txBody>
      </p:sp>
      <p:sp>
        <p:nvSpPr>
          <p:cNvPr id="14" name="Shape 12"/>
          <p:cNvSpPr/>
          <p:nvPr/>
        </p:nvSpPr>
        <p:spPr>
          <a:xfrm>
            <a:off x="6172200" y="4096512"/>
            <a:ext cx="5349240" cy="1755648"/>
          </a:xfrm>
          <a:prstGeom prst="roundRect">
            <a:avLst>
              <a:gd name="adj" fmla="val 4167"/>
            </a:avLst>
          </a:prstGeom>
          <a:solidFill>
            <a:srgbClr val="F4F5F7"/>
          </a:solidFill>
          <a:ln/>
          <a:effectLst>
            <a:outerShdw sx="100000" sy="100000" kx="0" ky="0" algn="bl" rotWithShape="0" blurRad="101600" dist="12700" dir="5400000">
              <a:srgbClr val="000000">
                <a:alpha val="8000"/>
              </a:srgbClr>
            </a:outerShdw>
          </a:effectLst>
        </p:spPr>
      </p:sp>
      <p:sp>
        <p:nvSpPr>
          <p:cNvPr id="15" name="Text 13"/>
          <p:cNvSpPr/>
          <p:nvPr/>
        </p:nvSpPr>
        <p:spPr>
          <a:xfrm>
            <a:off x="6501384" y="4261104"/>
            <a:ext cx="4663440" cy="274320"/>
          </a:xfrm>
          <a:prstGeom prst="rect">
            <a:avLst/>
          </a:prstGeom>
          <a:noFill/>
          <a:ln/>
        </p:spPr>
        <p:txBody>
          <a:bodyPr wrap="square" lIns="0" tIns="0" rIns="0" bIns="0" rtlCol="0" anchor="ctr"/>
          <a:lstStyle/>
          <a:p>
            <a:pPr indent="0" marL="0">
              <a:buNone/>
            </a:pPr>
            <a:r>
              <a:rPr lang="en-US" sz="1250" b="1" dirty="0">
                <a:solidFill>
                  <a:srgbClr val="C4432B"/>
                </a:solidFill>
                <a:latin typeface="Arial" pitchFamily="34" charset="0"/>
                <a:ea typeface="Arial" pitchFamily="34" charset="-122"/>
                <a:cs typeface="Arial" pitchFamily="34" charset="-120"/>
              </a:rPr>
              <a:t>La Atlas: el escalón que no se está vendiendo</a:t>
            </a:r>
            <a:endParaRPr lang="en-US" sz="1250" dirty="0"/>
          </a:p>
        </p:txBody>
      </p:sp>
      <p:sp>
        <p:nvSpPr>
          <p:cNvPr id="16" name="Text 14"/>
          <p:cNvSpPr/>
          <p:nvPr/>
        </p:nvSpPr>
        <p:spPr>
          <a:xfrm>
            <a:off x="6501384" y="4572000"/>
            <a:ext cx="4709160" cy="1188720"/>
          </a:xfrm>
          <a:prstGeom prst="rect">
            <a:avLst/>
          </a:prstGeom>
          <a:noFill/>
          <a:ln/>
        </p:spPr>
        <p:txBody>
          <a:bodyPr wrap="square" lIns="0" tIns="0" rIns="0" bIns="0" rtlCol="0" anchor="ctr"/>
          <a:lstStyle/>
          <a:p>
            <a:pPr indent="0" marL="0">
              <a:lnSpc>
                <a:spcPts val="1500"/>
              </a:lnSpc>
              <a:buNone/>
            </a:pPr>
            <a:r>
              <a:rPr lang="en-US" sz="1100" dirty="0">
                <a:solidFill>
                  <a:srgbClr val="50555F"/>
                </a:solidFill>
                <a:latin typeface="Arial" pitchFamily="34" charset="0"/>
                <a:ea typeface="Arial" pitchFamily="34" charset="-122"/>
                <a:cs typeface="Arial" pitchFamily="34" charset="-120"/>
              </a:rPr>
              <a:t>Trimotos de carga: hasta 1.000 kg, batea de 3,08 m², cabina y volteo hidráulico. Es el paso siguiente del acarreador cuando su negocio crece — y hoy se va del portafolio porque nadie se lo ofrece.</a:t>
            </a:r>
            <a:endParaRPr lang="en-US" sz="1100" dirty="0"/>
          </a:p>
          <a:p>
            <a:pPr indent="0" marL="0">
              <a:lnSpc>
                <a:spcPts val="1500"/>
              </a:lnSpc>
              <a:buNone/>
            </a:pPr>
            <a:endParaRPr lang="en-US" sz="1100" dirty="0"/>
          </a:p>
          <a:p>
            <a:pPr indent="0" marL="0">
              <a:lnSpc>
                <a:spcPts val="1500"/>
              </a:lnSpc>
              <a:buNone/>
            </a:pPr>
            <a:r>
              <a:rPr lang="en-US" sz="1100" dirty="0">
                <a:solidFill>
                  <a:srgbClr val="50555F"/>
                </a:solidFill>
                <a:latin typeface="Arial" pitchFamily="34" charset="0"/>
                <a:ea typeface="Arial" pitchFamily="34" charset="-122"/>
                <a:cs typeface="Arial" pitchFamily="34" charset="-120"/>
              </a:rPr>
              <a:t>Ojo: sin precio público, y garantía de 6 meses / 6.000 km.</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F2A73B"/>
                </a:solidFill>
                <a:latin typeface="Arial" pitchFamily="34" charset="0"/>
                <a:ea typeface="Arial" pitchFamily="34" charset="-122"/>
                <a:cs typeface="Arial" pitchFamily="34" charset="-120"/>
              </a:rPr>
              <a:t>SECUNDARIOS Y OPORTUNISTAS</a:t>
            </a:r>
            <a:endParaRPr lang="en-US" sz="1100" dirty="0"/>
          </a:p>
        </p:txBody>
      </p:sp>
      <p:sp>
        <p:nvSpPr>
          <p:cNvPr id="3" name="Text 1"/>
          <p:cNvSpPr/>
          <p:nvPr/>
        </p:nvSpPr>
        <p:spPr>
          <a:xfrm>
            <a:off x="640080" y="676656"/>
            <a:ext cx="10881360" cy="685800"/>
          </a:xfrm>
          <a:prstGeom prst="rect">
            <a:avLst/>
          </a:prstGeom>
          <a:noFill/>
          <a:ln/>
        </p:spPr>
        <p:txBody>
          <a:bodyPr wrap="square" lIns="0" tIns="0" rIns="0" bIns="0" rtlCol="0" anchor="t"/>
          <a:lstStyle/>
          <a:p>
            <a:pPr indent="0" marL="0">
              <a:buNone/>
            </a:pPr>
            <a:r>
              <a:rPr lang="en-US" sz="3200" b="1" dirty="0">
                <a:solidFill>
                  <a:srgbClr val="1A1C20"/>
                </a:solidFill>
                <a:latin typeface="Cambria" pitchFamily="34" charset="0"/>
                <a:ea typeface="Cambria" pitchFamily="34" charset="-122"/>
                <a:cs typeface="Cambria" pitchFamily="34" charset="-120"/>
              </a:rPr>
              <a:t>Los otros tres perfiles</a:t>
            </a:r>
            <a:endParaRPr lang="en-US" sz="3200" dirty="0"/>
          </a:p>
        </p:txBody>
      </p:sp>
      <p:sp>
        <p:nvSpPr>
          <p:cNvPr id="4" name="Shape 2"/>
          <p:cNvSpPr/>
          <p:nvPr/>
        </p:nvSpPr>
        <p:spPr>
          <a:xfrm>
            <a:off x="640080" y="1691640"/>
            <a:ext cx="10881360" cy="1298448"/>
          </a:xfrm>
          <a:prstGeom prst="roundRect">
            <a:avLst>
              <a:gd name="adj" fmla="val 5634"/>
            </a:avLst>
          </a:prstGeom>
          <a:solidFill>
            <a:srgbClr val="F4F5F7"/>
          </a:solidFill>
          <a:ln/>
          <a:effectLst>
            <a:outerShdw sx="100000" sy="100000" kx="0" ky="0" algn="bl" rotWithShape="0" blurRad="101600" dist="12700" dir="5400000">
              <a:srgbClr val="000000">
                <a:alpha val="8000"/>
              </a:srgbClr>
            </a:outerShdw>
          </a:effectLst>
        </p:spPr>
      </p:sp>
      <p:sp>
        <p:nvSpPr>
          <p:cNvPr id="5" name="Shape 3"/>
          <p:cNvSpPr/>
          <p:nvPr/>
        </p:nvSpPr>
        <p:spPr>
          <a:xfrm>
            <a:off x="950976" y="2057400"/>
            <a:ext cx="566928" cy="566928"/>
          </a:xfrm>
          <a:prstGeom prst="ellipse">
            <a:avLst/>
          </a:prstGeom>
          <a:solidFill>
            <a:srgbClr val="22252A"/>
          </a:solidFill>
          <a:ln/>
        </p:spPr>
      </p:sp>
      <p:sp>
        <p:nvSpPr>
          <p:cNvPr id="6" name="Text 4"/>
          <p:cNvSpPr/>
          <p:nvPr/>
        </p:nvSpPr>
        <p:spPr>
          <a:xfrm>
            <a:off x="950976" y="2057400"/>
            <a:ext cx="566928" cy="566928"/>
          </a:xfrm>
          <a:prstGeom prst="rect">
            <a:avLst/>
          </a:prstGeom>
          <a:noFill/>
          <a:ln/>
        </p:spPr>
        <p:txBody>
          <a:bodyPr wrap="square" lIns="0" tIns="0" rIns="0" bIns="0" rtlCol="0" anchor="ctr"/>
          <a:lstStyle/>
          <a:p>
            <a:pPr algn="ctr" indent="0" marL="0">
              <a:buNone/>
            </a:pPr>
            <a:r>
              <a:rPr lang="en-US" sz="1300" b="1" dirty="0">
                <a:solidFill>
                  <a:srgbClr val="F2A73B"/>
                </a:solidFill>
                <a:latin typeface="Arial" pitchFamily="34" charset="0"/>
                <a:ea typeface="Arial" pitchFamily="34" charset="-122"/>
                <a:cs typeface="Arial" pitchFamily="34" charset="-120"/>
              </a:rPr>
              <a:t>05</a:t>
            </a:r>
            <a:endParaRPr lang="en-US" sz="1300" dirty="0"/>
          </a:p>
        </p:txBody>
      </p:sp>
      <p:sp>
        <p:nvSpPr>
          <p:cNvPr id="7" name="Text 5"/>
          <p:cNvSpPr/>
          <p:nvPr/>
        </p:nvSpPr>
        <p:spPr>
          <a:xfrm>
            <a:off x="1691640" y="1929384"/>
            <a:ext cx="3200400" cy="310896"/>
          </a:xfrm>
          <a:prstGeom prst="rect">
            <a:avLst/>
          </a:prstGeom>
          <a:noFill/>
          <a:ln/>
        </p:spPr>
        <p:txBody>
          <a:bodyPr wrap="square" lIns="0" tIns="0" rIns="0" bIns="0" rtlCol="0" anchor="ctr"/>
          <a:lstStyle/>
          <a:p>
            <a:pPr indent="0" marL="0">
              <a:buNone/>
            </a:pPr>
            <a:r>
              <a:rPr lang="en-US" sz="1450" b="1" dirty="0">
                <a:solidFill>
                  <a:srgbClr val="1A1C20"/>
                </a:solidFill>
                <a:latin typeface="Arial" pitchFamily="34" charset="0"/>
                <a:ea typeface="Arial" pitchFamily="34" charset="-122"/>
                <a:cs typeface="Arial" pitchFamily="34" charset="-120"/>
              </a:rPr>
              <a:t>Joven de primera moto</a:t>
            </a:r>
            <a:endParaRPr lang="en-US" sz="1450" dirty="0"/>
          </a:p>
        </p:txBody>
      </p:sp>
      <p:sp>
        <p:nvSpPr>
          <p:cNvPr id="8" name="Text 6"/>
          <p:cNvSpPr/>
          <p:nvPr/>
        </p:nvSpPr>
        <p:spPr>
          <a:xfrm>
            <a:off x="1691640" y="2295144"/>
            <a:ext cx="914400" cy="384048"/>
          </a:xfrm>
          <a:prstGeom prst="rect">
            <a:avLst/>
          </a:prstGeom>
          <a:noFill/>
          <a:ln/>
        </p:spPr>
        <p:txBody>
          <a:bodyPr wrap="square" lIns="0" tIns="0" rIns="0" bIns="0" rtlCol="0" anchor="ctr"/>
          <a:lstStyle/>
          <a:p>
            <a:pPr indent="0" marL="0">
              <a:buNone/>
            </a:pPr>
            <a:r>
              <a:rPr lang="en-US" sz="2200" b="1" dirty="0">
                <a:solidFill>
                  <a:srgbClr val="5B6472"/>
                </a:solidFill>
                <a:latin typeface="Cambria" pitchFamily="34" charset="0"/>
                <a:ea typeface="Cambria" pitchFamily="34" charset="-122"/>
                <a:cs typeface="Cambria" pitchFamily="34" charset="-120"/>
              </a:rPr>
              <a:t>3,00</a:t>
            </a:r>
            <a:endParaRPr lang="en-US" sz="2200" dirty="0"/>
          </a:p>
        </p:txBody>
      </p:sp>
      <p:sp>
        <p:nvSpPr>
          <p:cNvPr id="9" name="Text 7"/>
          <p:cNvSpPr/>
          <p:nvPr/>
        </p:nvSpPr>
        <p:spPr>
          <a:xfrm>
            <a:off x="2606040" y="2386584"/>
            <a:ext cx="2011680" cy="274320"/>
          </a:xfrm>
          <a:prstGeom prst="rect">
            <a:avLst/>
          </a:prstGeom>
          <a:noFill/>
          <a:ln/>
        </p:spPr>
        <p:txBody>
          <a:bodyPr wrap="square" lIns="0" tIns="0" rIns="0" bIns="0" rtlCol="0" anchor="ctr"/>
          <a:lstStyle/>
          <a:p>
            <a:pPr indent="0" marL="0">
              <a:buNone/>
            </a:pPr>
            <a:r>
              <a:rPr lang="en-US" sz="1100" b="1" dirty="0">
                <a:solidFill>
                  <a:srgbClr val="6E7480"/>
                </a:solidFill>
                <a:latin typeface="Arial" pitchFamily="34" charset="0"/>
                <a:ea typeface="Arial" pitchFamily="34" charset="-122"/>
                <a:cs typeface="Arial" pitchFamily="34" charset="-120"/>
              </a:rPr>
              <a:t>Secundario</a:t>
            </a:r>
            <a:endParaRPr lang="en-US" sz="1100" dirty="0"/>
          </a:p>
        </p:txBody>
      </p:sp>
      <p:sp>
        <p:nvSpPr>
          <p:cNvPr id="10" name="Text 8"/>
          <p:cNvSpPr/>
          <p:nvPr/>
        </p:nvSpPr>
        <p:spPr>
          <a:xfrm>
            <a:off x="5074920" y="1929384"/>
            <a:ext cx="6172200" cy="868680"/>
          </a:xfrm>
          <a:prstGeom prst="rect">
            <a:avLst/>
          </a:prstGeom>
          <a:noFill/>
          <a:ln/>
        </p:spPr>
        <p:txBody>
          <a:bodyPr wrap="square" lIns="0" tIns="0" rIns="0" bIns="0" rtlCol="0" anchor="ctr"/>
          <a:lstStyle/>
          <a:p>
            <a:pPr indent="0" marL="0">
              <a:lnSpc>
                <a:spcPts val="1600"/>
              </a:lnSpc>
              <a:buNone/>
            </a:pPr>
            <a:r>
              <a:rPr lang="en-US" sz="1150" dirty="0">
                <a:solidFill>
                  <a:srgbClr val="50555F"/>
                </a:solidFill>
                <a:latin typeface="Arial" pitchFamily="34" charset="0"/>
                <a:ea typeface="Arial" pitchFamily="34" charset="-122"/>
                <a:cs typeface="Arial" pitchFamily="34" charset="-120"/>
              </a:rPr>
              <a:t>Vale por lo que viene después, no por lo que compra. Es el único perfil que alimenta a los demás: el muchacho que hoy compra una Xpress es, en dos o tres años, el rider o el mototaxista. Segmento de adquisición, no de rentabilidad.</a:t>
            </a:r>
            <a:endParaRPr lang="en-US" sz="1150" dirty="0"/>
          </a:p>
        </p:txBody>
      </p:sp>
      <p:sp>
        <p:nvSpPr>
          <p:cNvPr id="11" name="Shape 9"/>
          <p:cNvSpPr/>
          <p:nvPr/>
        </p:nvSpPr>
        <p:spPr>
          <a:xfrm>
            <a:off x="640080" y="3136392"/>
            <a:ext cx="10881360" cy="1298448"/>
          </a:xfrm>
          <a:prstGeom prst="roundRect">
            <a:avLst>
              <a:gd name="adj" fmla="val 5634"/>
            </a:avLst>
          </a:prstGeom>
          <a:solidFill>
            <a:srgbClr val="F4F5F7"/>
          </a:solidFill>
          <a:ln/>
          <a:effectLst>
            <a:outerShdw sx="100000" sy="100000" kx="0" ky="0" algn="bl" rotWithShape="0" blurRad="101600" dist="12700" dir="5400000">
              <a:srgbClr val="000000">
                <a:alpha val="8000"/>
              </a:srgbClr>
            </a:outerShdw>
          </a:effectLst>
        </p:spPr>
      </p:sp>
      <p:sp>
        <p:nvSpPr>
          <p:cNvPr id="12" name="Shape 10"/>
          <p:cNvSpPr/>
          <p:nvPr/>
        </p:nvSpPr>
        <p:spPr>
          <a:xfrm>
            <a:off x="950976" y="3502152"/>
            <a:ext cx="566928" cy="566928"/>
          </a:xfrm>
          <a:prstGeom prst="ellipse">
            <a:avLst/>
          </a:prstGeom>
          <a:solidFill>
            <a:srgbClr val="22252A"/>
          </a:solidFill>
          <a:ln/>
        </p:spPr>
      </p:sp>
      <p:sp>
        <p:nvSpPr>
          <p:cNvPr id="13" name="Text 11"/>
          <p:cNvSpPr/>
          <p:nvPr/>
        </p:nvSpPr>
        <p:spPr>
          <a:xfrm>
            <a:off x="950976" y="3502152"/>
            <a:ext cx="566928" cy="566928"/>
          </a:xfrm>
          <a:prstGeom prst="rect">
            <a:avLst/>
          </a:prstGeom>
          <a:noFill/>
          <a:ln/>
        </p:spPr>
        <p:txBody>
          <a:bodyPr wrap="square" lIns="0" tIns="0" rIns="0" bIns="0" rtlCol="0" anchor="ctr"/>
          <a:lstStyle/>
          <a:p>
            <a:pPr algn="ctr" indent="0" marL="0">
              <a:buNone/>
            </a:pPr>
            <a:r>
              <a:rPr lang="en-US" sz="1300" b="1" dirty="0">
                <a:solidFill>
                  <a:srgbClr val="F2A73B"/>
                </a:solidFill>
                <a:latin typeface="Arial" pitchFamily="34" charset="0"/>
                <a:ea typeface="Arial" pitchFamily="34" charset="-122"/>
                <a:cs typeface="Arial" pitchFamily="34" charset="-120"/>
              </a:rPr>
              <a:t>06</a:t>
            </a:r>
            <a:endParaRPr lang="en-US" sz="1300" dirty="0"/>
          </a:p>
        </p:txBody>
      </p:sp>
      <p:sp>
        <p:nvSpPr>
          <p:cNvPr id="14" name="Text 12"/>
          <p:cNvSpPr/>
          <p:nvPr/>
        </p:nvSpPr>
        <p:spPr>
          <a:xfrm>
            <a:off x="1691640" y="3374136"/>
            <a:ext cx="3200400" cy="310896"/>
          </a:xfrm>
          <a:prstGeom prst="rect">
            <a:avLst/>
          </a:prstGeom>
          <a:noFill/>
          <a:ln/>
        </p:spPr>
        <p:txBody>
          <a:bodyPr wrap="square" lIns="0" tIns="0" rIns="0" bIns="0" rtlCol="0" anchor="ctr"/>
          <a:lstStyle/>
          <a:p>
            <a:pPr indent="0" marL="0">
              <a:buNone/>
            </a:pPr>
            <a:r>
              <a:rPr lang="en-US" sz="1450" b="1" dirty="0">
                <a:solidFill>
                  <a:srgbClr val="1A1C20"/>
                </a:solidFill>
                <a:latin typeface="Arial" pitchFamily="34" charset="0"/>
                <a:ea typeface="Arial" pitchFamily="34" charset="-122"/>
                <a:cs typeface="Arial" pitchFamily="34" charset="-120"/>
              </a:rPr>
              <a:t>Usuaria urbana</a:t>
            </a:r>
            <a:endParaRPr lang="en-US" sz="1450" dirty="0"/>
          </a:p>
        </p:txBody>
      </p:sp>
      <p:sp>
        <p:nvSpPr>
          <p:cNvPr id="15" name="Text 13"/>
          <p:cNvSpPr/>
          <p:nvPr/>
        </p:nvSpPr>
        <p:spPr>
          <a:xfrm>
            <a:off x="1691640" y="3739896"/>
            <a:ext cx="914400" cy="384048"/>
          </a:xfrm>
          <a:prstGeom prst="rect">
            <a:avLst/>
          </a:prstGeom>
          <a:noFill/>
          <a:ln/>
        </p:spPr>
        <p:txBody>
          <a:bodyPr wrap="square" lIns="0" tIns="0" rIns="0" bIns="0" rtlCol="0" anchor="ctr"/>
          <a:lstStyle/>
          <a:p>
            <a:pPr indent="0" marL="0">
              <a:buNone/>
            </a:pPr>
            <a:r>
              <a:rPr lang="en-US" sz="2200" b="1" dirty="0">
                <a:solidFill>
                  <a:srgbClr val="6E7480"/>
                </a:solidFill>
                <a:latin typeface="Cambria" pitchFamily="34" charset="0"/>
                <a:ea typeface="Cambria" pitchFamily="34" charset="-122"/>
                <a:cs typeface="Cambria" pitchFamily="34" charset="-120"/>
              </a:rPr>
              <a:t>2,75</a:t>
            </a:r>
            <a:endParaRPr lang="en-US" sz="2200" dirty="0"/>
          </a:p>
        </p:txBody>
      </p:sp>
      <p:sp>
        <p:nvSpPr>
          <p:cNvPr id="16" name="Text 14"/>
          <p:cNvSpPr/>
          <p:nvPr/>
        </p:nvSpPr>
        <p:spPr>
          <a:xfrm>
            <a:off x="2606040" y="3831336"/>
            <a:ext cx="2011680" cy="274320"/>
          </a:xfrm>
          <a:prstGeom prst="rect">
            <a:avLst/>
          </a:prstGeom>
          <a:noFill/>
          <a:ln/>
        </p:spPr>
        <p:txBody>
          <a:bodyPr wrap="square" lIns="0" tIns="0" rIns="0" bIns="0" rtlCol="0" anchor="ctr"/>
          <a:lstStyle/>
          <a:p>
            <a:pPr indent="0" marL="0">
              <a:buNone/>
            </a:pPr>
            <a:r>
              <a:rPr lang="en-US" sz="1100" b="1" dirty="0">
                <a:solidFill>
                  <a:srgbClr val="6E7480"/>
                </a:solidFill>
                <a:latin typeface="Arial" pitchFamily="34" charset="0"/>
                <a:ea typeface="Arial" pitchFamily="34" charset="-122"/>
                <a:cs typeface="Arial" pitchFamily="34" charset="-120"/>
              </a:rPr>
              <a:t>Oportunista</a:t>
            </a:r>
            <a:endParaRPr lang="en-US" sz="1100" dirty="0"/>
          </a:p>
        </p:txBody>
      </p:sp>
      <p:sp>
        <p:nvSpPr>
          <p:cNvPr id="17" name="Text 15"/>
          <p:cNvSpPr/>
          <p:nvPr/>
        </p:nvSpPr>
        <p:spPr>
          <a:xfrm>
            <a:off x="5074920" y="3374136"/>
            <a:ext cx="6172200" cy="868680"/>
          </a:xfrm>
          <a:prstGeom prst="rect">
            <a:avLst/>
          </a:prstGeom>
          <a:noFill/>
          <a:ln/>
        </p:spPr>
        <p:txBody>
          <a:bodyPr wrap="square" lIns="0" tIns="0" rIns="0" bIns="0" rtlCol="0" anchor="ctr"/>
          <a:lstStyle/>
          <a:p>
            <a:pPr indent="0" marL="0">
              <a:lnSpc>
                <a:spcPts val="1600"/>
              </a:lnSpc>
              <a:buNone/>
            </a:pPr>
            <a:r>
              <a:rPr lang="en-US" sz="1150" dirty="0">
                <a:solidFill>
                  <a:srgbClr val="50555F"/>
                </a:solidFill>
                <a:latin typeface="Arial" pitchFamily="34" charset="0"/>
                <a:ea typeface="Arial" pitchFamily="34" charset="-122"/>
                <a:cs typeface="Arial" pitchFamily="34" charset="-120"/>
              </a:rPr>
              <a:t>HIPÓTESIS deliberada. No estaba en el brief y no hay estadística venezolana que la sustente. Se incluye porque la industria ya mueve producto hacia ahí — y se documenta con la prueba que la eliminaría si falla.</a:t>
            </a:r>
            <a:endParaRPr lang="en-US" sz="1150" dirty="0"/>
          </a:p>
        </p:txBody>
      </p:sp>
      <p:sp>
        <p:nvSpPr>
          <p:cNvPr id="18" name="Shape 16"/>
          <p:cNvSpPr/>
          <p:nvPr/>
        </p:nvSpPr>
        <p:spPr>
          <a:xfrm>
            <a:off x="640080" y="4581144"/>
            <a:ext cx="10881360" cy="1298448"/>
          </a:xfrm>
          <a:prstGeom prst="roundRect">
            <a:avLst>
              <a:gd name="adj" fmla="val 5634"/>
            </a:avLst>
          </a:prstGeom>
          <a:solidFill>
            <a:srgbClr val="F4F5F7"/>
          </a:solidFill>
          <a:ln/>
          <a:effectLst>
            <a:outerShdw sx="100000" sy="100000" kx="0" ky="0" algn="bl" rotWithShape="0" blurRad="101600" dist="12700" dir="5400000">
              <a:srgbClr val="000000">
                <a:alpha val="8000"/>
              </a:srgbClr>
            </a:outerShdw>
          </a:effectLst>
        </p:spPr>
      </p:sp>
      <p:sp>
        <p:nvSpPr>
          <p:cNvPr id="19" name="Shape 17"/>
          <p:cNvSpPr/>
          <p:nvPr/>
        </p:nvSpPr>
        <p:spPr>
          <a:xfrm>
            <a:off x="950976" y="4946904"/>
            <a:ext cx="566928" cy="566928"/>
          </a:xfrm>
          <a:prstGeom prst="ellipse">
            <a:avLst/>
          </a:prstGeom>
          <a:solidFill>
            <a:srgbClr val="22252A"/>
          </a:solidFill>
          <a:ln/>
        </p:spPr>
      </p:sp>
      <p:sp>
        <p:nvSpPr>
          <p:cNvPr id="20" name="Text 18"/>
          <p:cNvSpPr/>
          <p:nvPr/>
        </p:nvSpPr>
        <p:spPr>
          <a:xfrm>
            <a:off x="950976" y="4946904"/>
            <a:ext cx="566928" cy="566928"/>
          </a:xfrm>
          <a:prstGeom prst="rect">
            <a:avLst/>
          </a:prstGeom>
          <a:noFill/>
          <a:ln/>
        </p:spPr>
        <p:txBody>
          <a:bodyPr wrap="square" lIns="0" tIns="0" rIns="0" bIns="0" rtlCol="0" anchor="ctr"/>
          <a:lstStyle/>
          <a:p>
            <a:pPr algn="ctr" indent="0" marL="0">
              <a:buNone/>
            </a:pPr>
            <a:r>
              <a:rPr lang="en-US" sz="1300" b="1" dirty="0">
                <a:solidFill>
                  <a:srgbClr val="F2A73B"/>
                </a:solidFill>
                <a:latin typeface="Arial" pitchFamily="34" charset="0"/>
                <a:ea typeface="Arial" pitchFamily="34" charset="-122"/>
                <a:cs typeface="Arial" pitchFamily="34" charset="-120"/>
              </a:rPr>
              <a:t>04</a:t>
            </a:r>
            <a:endParaRPr lang="en-US" sz="1300" dirty="0"/>
          </a:p>
        </p:txBody>
      </p:sp>
      <p:sp>
        <p:nvSpPr>
          <p:cNvPr id="21" name="Text 19"/>
          <p:cNvSpPr/>
          <p:nvPr/>
        </p:nvSpPr>
        <p:spPr>
          <a:xfrm>
            <a:off x="1691640" y="4818888"/>
            <a:ext cx="3200400" cy="310896"/>
          </a:xfrm>
          <a:prstGeom prst="rect">
            <a:avLst/>
          </a:prstGeom>
          <a:noFill/>
          <a:ln/>
        </p:spPr>
        <p:txBody>
          <a:bodyPr wrap="square" lIns="0" tIns="0" rIns="0" bIns="0" rtlCol="0" anchor="ctr"/>
          <a:lstStyle/>
          <a:p>
            <a:pPr indent="0" marL="0">
              <a:buNone/>
            </a:pPr>
            <a:r>
              <a:rPr lang="en-US" sz="1450" b="1" dirty="0">
                <a:solidFill>
                  <a:srgbClr val="1A1C20"/>
                </a:solidFill>
                <a:latin typeface="Arial" pitchFamily="34" charset="0"/>
                <a:ea typeface="Arial" pitchFamily="34" charset="-122"/>
                <a:cs typeface="Arial" pitchFamily="34" charset="-120"/>
              </a:rPr>
              <a:t>Utilitario doméstico</a:t>
            </a:r>
            <a:endParaRPr lang="en-US" sz="1450" dirty="0"/>
          </a:p>
        </p:txBody>
      </p:sp>
      <p:sp>
        <p:nvSpPr>
          <p:cNvPr id="22" name="Text 20"/>
          <p:cNvSpPr/>
          <p:nvPr/>
        </p:nvSpPr>
        <p:spPr>
          <a:xfrm>
            <a:off x="1691640" y="5184648"/>
            <a:ext cx="914400" cy="384048"/>
          </a:xfrm>
          <a:prstGeom prst="rect">
            <a:avLst/>
          </a:prstGeom>
          <a:noFill/>
          <a:ln/>
        </p:spPr>
        <p:txBody>
          <a:bodyPr wrap="square" lIns="0" tIns="0" rIns="0" bIns="0" rtlCol="0" anchor="ctr"/>
          <a:lstStyle/>
          <a:p>
            <a:pPr indent="0" marL="0">
              <a:buNone/>
            </a:pPr>
            <a:r>
              <a:rPr lang="en-US" sz="2200" b="1" dirty="0">
                <a:solidFill>
                  <a:srgbClr val="6E7480"/>
                </a:solidFill>
                <a:latin typeface="Cambria" pitchFamily="34" charset="0"/>
                <a:ea typeface="Cambria" pitchFamily="34" charset="-122"/>
                <a:cs typeface="Cambria" pitchFamily="34" charset="-120"/>
              </a:rPr>
              <a:t>2,55</a:t>
            </a:r>
            <a:endParaRPr lang="en-US" sz="2200" dirty="0"/>
          </a:p>
        </p:txBody>
      </p:sp>
      <p:sp>
        <p:nvSpPr>
          <p:cNvPr id="23" name="Text 21"/>
          <p:cNvSpPr/>
          <p:nvPr/>
        </p:nvSpPr>
        <p:spPr>
          <a:xfrm>
            <a:off x="2606040" y="5276088"/>
            <a:ext cx="2011680" cy="274320"/>
          </a:xfrm>
          <a:prstGeom prst="rect">
            <a:avLst/>
          </a:prstGeom>
          <a:noFill/>
          <a:ln/>
        </p:spPr>
        <p:txBody>
          <a:bodyPr wrap="square" lIns="0" tIns="0" rIns="0" bIns="0" rtlCol="0" anchor="ctr"/>
          <a:lstStyle/>
          <a:p>
            <a:pPr indent="0" marL="0">
              <a:buNone/>
            </a:pPr>
            <a:r>
              <a:rPr lang="en-US" sz="1100" b="1" dirty="0">
                <a:solidFill>
                  <a:srgbClr val="6E7480"/>
                </a:solidFill>
                <a:latin typeface="Arial" pitchFamily="34" charset="0"/>
                <a:ea typeface="Arial" pitchFamily="34" charset="-122"/>
                <a:cs typeface="Arial" pitchFamily="34" charset="-120"/>
              </a:rPr>
              <a:t>Oportunista</a:t>
            </a:r>
            <a:endParaRPr lang="en-US" sz="1100" dirty="0"/>
          </a:p>
        </p:txBody>
      </p:sp>
      <p:sp>
        <p:nvSpPr>
          <p:cNvPr id="24" name="Text 22"/>
          <p:cNvSpPr/>
          <p:nvPr/>
        </p:nvSpPr>
        <p:spPr>
          <a:xfrm>
            <a:off x="5074920" y="4818888"/>
            <a:ext cx="6172200" cy="868680"/>
          </a:xfrm>
          <a:prstGeom prst="rect">
            <a:avLst/>
          </a:prstGeom>
          <a:noFill/>
          <a:ln/>
        </p:spPr>
        <p:txBody>
          <a:bodyPr wrap="square" lIns="0" tIns="0" rIns="0" bIns="0" rtlCol="0" anchor="ctr"/>
          <a:lstStyle/>
          <a:p>
            <a:pPr indent="0" marL="0">
              <a:lnSpc>
                <a:spcPts val="1600"/>
              </a:lnSpc>
              <a:buNone/>
            </a:pPr>
            <a:r>
              <a:rPr lang="en-US" sz="1150" dirty="0">
                <a:solidFill>
                  <a:srgbClr val="50555F"/>
                </a:solidFill>
                <a:latin typeface="Arial" pitchFamily="34" charset="0"/>
                <a:ea typeface="Arial" pitchFamily="34" charset="-122"/>
                <a:cs typeface="Arial" pitchFamily="34" charset="-120"/>
              </a:rPr>
              <a:t>El segmento que el brief describía como central es el peor documentado y el de menor valor unitario. Puede ser el más numeroso del país y aun así el menos rentable por unidad. Primero medirlo; la inversión se decide después del número.</a:t>
            </a:r>
            <a:endParaRPr lang="en-US" sz="1150" dirty="0"/>
          </a:p>
        </p:txBody>
      </p:sp>
      <p:sp>
        <p:nvSpPr>
          <p:cNvPr id="25" name="Text 23"/>
          <p:cNvSpPr/>
          <p:nvPr/>
        </p:nvSpPr>
        <p:spPr>
          <a:xfrm>
            <a:off x="640080" y="6291072"/>
            <a:ext cx="10881360" cy="310896"/>
          </a:xfrm>
          <a:prstGeom prst="rect">
            <a:avLst/>
          </a:prstGeom>
          <a:noFill/>
          <a:ln/>
        </p:spPr>
        <p:txBody>
          <a:bodyPr wrap="square" lIns="0" tIns="0" rIns="0" bIns="0" rtlCol="0" anchor="ctr"/>
          <a:lstStyle/>
          <a:p>
            <a:pPr indent="0" marL="0">
              <a:buNone/>
            </a:pPr>
            <a:r>
              <a:rPr lang="en-US" sz="950" i="1" dirty="0">
                <a:solidFill>
                  <a:srgbClr val="6E7480"/>
                </a:solidFill>
                <a:latin typeface="Arial" pitchFamily="34" charset="0"/>
                <a:ea typeface="Arial" pitchFamily="34" charset="-122"/>
                <a:cs typeface="Arial" pitchFamily="34" charset="-120"/>
              </a:rPr>
              <a:t>«Oportunista» significa atender bien cuando llega, sin gastar presupuesto en salir a buscarlo. No significa despreciar.</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F2A73B"/>
                </a:solidFill>
                <a:latin typeface="Arial" pitchFamily="34" charset="0"/>
                <a:ea typeface="Arial" pitchFamily="34" charset="-122"/>
                <a:cs typeface="Arial" pitchFamily="34" charset="-120"/>
              </a:rPr>
              <a:t>MATRIZ SEGMENTO ↔ MODELO</a:t>
            </a:r>
            <a:endParaRPr lang="en-US" sz="1100" dirty="0"/>
          </a:p>
        </p:txBody>
      </p:sp>
      <p:sp>
        <p:nvSpPr>
          <p:cNvPr id="3" name="Text 1"/>
          <p:cNvSpPr/>
          <p:nvPr/>
        </p:nvSpPr>
        <p:spPr>
          <a:xfrm>
            <a:off x="640080" y="676656"/>
            <a:ext cx="10881360" cy="685800"/>
          </a:xfrm>
          <a:prstGeom prst="rect">
            <a:avLst/>
          </a:prstGeom>
          <a:noFill/>
          <a:ln/>
        </p:spPr>
        <p:txBody>
          <a:bodyPr wrap="square" lIns="0" tIns="0" rIns="0" bIns="0" rtlCol="0" anchor="t"/>
          <a:lstStyle/>
          <a:p>
            <a:pPr indent="0" marL="0">
              <a:buNone/>
            </a:pPr>
            <a:r>
              <a:rPr lang="en-US" sz="3200" b="1" dirty="0">
                <a:solidFill>
                  <a:srgbClr val="1A1C20"/>
                </a:solidFill>
                <a:latin typeface="Cambria" pitchFamily="34" charset="0"/>
                <a:ea typeface="Cambria" pitchFamily="34" charset="-122"/>
                <a:cs typeface="Cambria" pitchFamily="34" charset="-120"/>
              </a:rPr>
              <a:t>Qué moto le corresponde a cada quién</a:t>
            </a:r>
            <a:endParaRPr lang="en-US" sz="3200" dirty="0"/>
          </a:p>
        </p:txBody>
      </p:sp>
      <p:sp>
        <p:nvSpPr>
          <p:cNvPr id="4" name="Text 2"/>
          <p:cNvSpPr/>
          <p:nvPr/>
        </p:nvSpPr>
        <p:spPr>
          <a:xfrm>
            <a:off x="1143000" y="1572768"/>
            <a:ext cx="2743200" cy="274320"/>
          </a:xfrm>
          <a:prstGeom prst="rect">
            <a:avLst/>
          </a:prstGeom>
          <a:noFill/>
          <a:ln/>
        </p:spPr>
        <p:txBody>
          <a:bodyPr wrap="square" lIns="0" tIns="0" rIns="0" bIns="0" rtlCol="0" anchor="ctr"/>
          <a:lstStyle/>
          <a:p>
            <a:pPr indent="0" marL="0">
              <a:buNone/>
            </a:pPr>
            <a:r>
              <a:rPr lang="en-US" sz="1000" b="1" spc="100" kern="0" dirty="0">
                <a:solidFill>
                  <a:srgbClr val="6E7480"/>
                </a:solidFill>
                <a:latin typeface="Arial" pitchFamily="34" charset="0"/>
                <a:ea typeface="Arial" pitchFamily="34" charset="-122"/>
                <a:cs typeface="Arial" pitchFamily="34" charset="-120"/>
              </a:rPr>
              <a:t>SEGMENTO</a:t>
            </a:r>
            <a:endParaRPr lang="en-US" sz="1000" dirty="0"/>
          </a:p>
        </p:txBody>
      </p:sp>
      <p:sp>
        <p:nvSpPr>
          <p:cNvPr id="5" name="Text 3"/>
          <p:cNvSpPr/>
          <p:nvPr/>
        </p:nvSpPr>
        <p:spPr>
          <a:xfrm>
            <a:off x="3886200" y="1572768"/>
            <a:ext cx="2880360" cy="274320"/>
          </a:xfrm>
          <a:prstGeom prst="rect">
            <a:avLst/>
          </a:prstGeom>
          <a:noFill/>
          <a:ln/>
        </p:spPr>
        <p:txBody>
          <a:bodyPr wrap="square" lIns="0" tIns="0" rIns="0" bIns="0" rtlCol="0" anchor="ctr"/>
          <a:lstStyle/>
          <a:p>
            <a:pPr indent="0" marL="0">
              <a:buNone/>
            </a:pPr>
            <a:r>
              <a:rPr lang="en-US" sz="1000" b="1" spc="100" kern="0" dirty="0">
                <a:solidFill>
                  <a:srgbClr val="6E7480"/>
                </a:solidFill>
                <a:latin typeface="Arial" pitchFamily="34" charset="0"/>
                <a:ea typeface="Arial" pitchFamily="34" charset="-122"/>
                <a:cs typeface="Arial" pitchFamily="34" charset="-120"/>
              </a:rPr>
              <a:t>MODELO PRIMARIO</a:t>
            </a:r>
            <a:endParaRPr lang="en-US" sz="1000" dirty="0"/>
          </a:p>
        </p:txBody>
      </p:sp>
      <p:sp>
        <p:nvSpPr>
          <p:cNvPr id="6" name="Text 4"/>
          <p:cNvSpPr/>
          <p:nvPr/>
        </p:nvSpPr>
        <p:spPr>
          <a:xfrm>
            <a:off x="6766560" y="1572768"/>
            <a:ext cx="3017520" cy="274320"/>
          </a:xfrm>
          <a:prstGeom prst="rect">
            <a:avLst/>
          </a:prstGeom>
          <a:noFill/>
          <a:ln/>
        </p:spPr>
        <p:txBody>
          <a:bodyPr wrap="square" lIns="0" tIns="0" rIns="0" bIns="0" rtlCol="0" anchor="ctr"/>
          <a:lstStyle/>
          <a:p>
            <a:pPr indent="0" marL="0">
              <a:buNone/>
            </a:pPr>
            <a:r>
              <a:rPr lang="en-US" sz="1000" b="1" spc="100" kern="0" dirty="0">
                <a:solidFill>
                  <a:srgbClr val="6E7480"/>
                </a:solidFill>
                <a:latin typeface="Arial" pitchFamily="34" charset="0"/>
                <a:ea typeface="Arial" pitchFamily="34" charset="-122"/>
                <a:cs typeface="Arial" pitchFamily="34" charset="-120"/>
              </a:rPr>
              <a:t>SECUNDARIOS Y CRECIMIENTO</a:t>
            </a:r>
            <a:endParaRPr lang="en-US" sz="1000" dirty="0"/>
          </a:p>
        </p:txBody>
      </p:sp>
      <p:sp>
        <p:nvSpPr>
          <p:cNvPr id="7" name="Text 5"/>
          <p:cNvSpPr/>
          <p:nvPr/>
        </p:nvSpPr>
        <p:spPr>
          <a:xfrm>
            <a:off x="9784080" y="1572768"/>
            <a:ext cx="1737360" cy="274320"/>
          </a:xfrm>
          <a:prstGeom prst="rect">
            <a:avLst/>
          </a:prstGeom>
          <a:noFill/>
          <a:ln/>
        </p:spPr>
        <p:txBody>
          <a:bodyPr wrap="square" lIns="0" tIns="0" rIns="0" bIns="0" rtlCol="0" anchor="ctr"/>
          <a:lstStyle/>
          <a:p>
            <a:pPr indent="0" marL="0">
              <a:buNone/>
            </a:pPr>
            <a:r>
              <a:rPr lang="en-US" sz="1000" b="1" spc="100" kern="0" dirty="0">
                <a:solidFill>
                  <a:srgbClr val="6E7480"/>
                </a:solidFill>
                <a:latin typeface="Arial" pitchFamily="34" charset="0"/>
                <a:ea typeface="Arial" pitchFamily="34" charset="-122"/>
                <a:cs typeface="Arial" pitchFamily="34" charset="-120"/>
              </a:rPr>
              <a:t>EVITAR</a:t>
            </a:r>
            <a:endParaRPr lang="en-US" sz="1000" dirty="0"/>
          </a:p>
        </p:txBody>
      </p:sp>
      <p:sp>
        <p:nvSpPr>
          <p:cNvPr id="8" name="Shape 6"/>
          <p:cNvSpPr/>
          <p:nvPr/>
        </p:nvSpPr>
        <p:spPr>
          <a:xfrm>
            <a:off x="640080" y="1901952"/>
            <a:ext cx="10881360" cy="566928"/>
          </a:xfrm>
          <a:prstGeom prst="rect">
            <a:avLst/>
          </a:prstGeom>
          <a:solidFill>
            <a:srgbClr val="F4F5F7"/>
          </a:solidFill>
          <a:ln/>
        </p:spPr>
      </p:sp>
      <p:sp>
        <p:nvSpPr>
          <p:cNvPr id="9" name="Text 7"/>
          <p:cNvSpPr/>
          <p:nvPr/>
        </p:nvSpPr>
        <p:spPr>
          <a:xfrm>
            <a:off x="731520" y="1901952"/>
            <a:ext cx="393192" cy="566928"/>
          </a:xfrm>
          <a:prstGeom prst="rect">
            <a:avLst/>
          </a:prstGeom>
          <a:noFill/>
          <a:ln/>
        </p:spPr>
        <p:txBody>
          <a:bodyPr wrap="square" lIns="0" tIns="0" rIns="0" bIns="0" rtlCol="0" anchor="ctr"/>
          <a:lstStyle/>
          <a:p>
            <a:pPr indent="0" marL="0">
              <a:buNone/>
            </a:pPr>
            <a:r>
              <a:rPr lang="en-US" sz="1100" b="1" dirty="0">
                <a:solidFill>
                  <a:srgbClr val="50555F"/>
                </a:solidFill>
                <a:latin typeface="Arial" pitchFamily="34" charset="0"/>
                <a:ea typeface="Arial" pitchFamily="34" charset="-122"/>
                <a:cs typeface="Arial" pitchFamily="34" charset="-120"/>
              </a:rPr>
              <a:t>01</a:t>
            </a:r>
            <a:endParaRPr lang="en-US" sz="1100" dirty="0"/>
          </a:p>
        </p:txBody>
      </p:sp>
      <p:sp>
        <p:nvSpPr>
          <p:cNvPr id="10" name="Text 8"/>
          <p:cNvSpPr/>
          <p:nvPr/>
        </p:nvSpPr>
        <p:spPr>
          <a:xfrm>
            <a:off x="1197864" y="1901952"/>
            <a:ext cx="2633472" cy="566928"/>
          </a:xfrm>
          <a:prstGeom prst="rect">
            <a:avLst/>
          </a:prstGeom>
          <a:noFill/>
          <a:ln/>
        </p:spPr>
        <p:txBody>
          <a:bodyPr wrap="square" lIns="0" tIns="0" rIns="0" bIns="0" rtlCol="0" anchor="ctr"/>
          <a:lstStyle/>
          <a:p>
            <a:pPr indent="0" marL="0">
              <a:buNone/>
            </a:pPr>
            <a:r>
              <a:rPr lang="en-US" sz="1150" b="1" dirty="0">
                <a:solidFill>
                  <a:srgbClr val="50555F"/>
                </a:solidFill>
                <a:latin typeface="Arial" pitchFamily="34" charset="0"/>
                <a:ea typeface="Arial" pitchFamily="34" charset="-122"/>
                <a:cs typeface="Arial" pitchFamily="34" charset="-120"/>
              </a:rPr>
              <a:t>Rider de aplicaciones</a:t>
            </a:r>
            <a:endParaRPr lang="en-US" sz="1150" dirty="0"/>
          </a:p>
        </p:txBody>
      </p:sp>
      <p:sp>
        <p:nvSpPr>
          <p:cNvPr id="11" name="Text 9"/>
          <p:cNvSpPr/>
          <p:nvPr/>
        </p:nvSpPr>
        <p:spPr>
          <a:xfrm>
            <a:off x="3941064" y="1901952"/>
            <a:ext cx="2770632" cy="566928"/>
          </a:xfrm>
          <a:prstGeom prst="rect">
            <a:avLst/>
          </a:prstGeom>
          <a:noFill/>
          <a:ln/>
        </p:spPr>
        <p:txBody>
          <a:bodyPr wrap="square" lIns="0" tIns="0" rIns="0" bIns="0" rtlCol="0" anchor="ctr"/>
          <a:lstStyle/>
          <a:p>
            <a:pPr indent="0" marL="0">
              <a:buNone/>
            </a:pPr>
            <a:r>
              <a:rPr lang="en-US" sz="1150" b="1" dirty="0">
                <a:solidFill>
                  <a:srgbClr val="1A1C20"/>
                </a:solidFill>
                <a:latin typeface="Arial" pitchFamily="34" charset="0"/>
                <a:ea typeface="Arial" pitchFamily="34" charset="-122"/>
                <a:cs typeface="Arial" pitchFamily="34" charset="-120"/>
              </a:rPr>
              <a:t>Horse · Owen 150</a:t>
            </a:r>
            <a:endParaRPr lang="en-US" sz="1150" dirty="0"/>
          </a:p>
        </p:txBody>
      </p:sp>
      <p:sp>
        <p:nvSpPr>
          <p:cNvPr id="12" name="Text 10"/>
          <p:cNvSpPr/>
          <p:nvPr/>
        </p:nvSpPr>
        <p:spPr>
          <a:xfrm>
            <a:off x="6821424" y="1901952"/>
            <a:ext cx="2907792" cy="566928"/>
          </a:xfrm>
          <a:prstGeom prst="rect">
            <a:avLst/>
          </a:prstGeom>
          <a:noFill/>
          <a:ln/>
        </p:spPr>
        <p:txBody>
          <a:bodyPr wrap="square" lIns="0" tIns="0" rIns="0" bIns="0" rtlCol="0" anchor="ctr"/>
          <a:lstStyle/>
          <a:p>
            <a:pPr indent="0" marL="0">
              <a:buNone/>
            </a:pPr>
            <a:r>
              <a:rPr lang="en-US" sz="1150" dirty="0">
                <a:solidFill>
                  <a:srgbClr val="50555F"/>
                </a:solidFill>
                <a:latin typeface="Arial" pitchFamily="34" charset="0"/>
                <a:ea typeface="Arial" pitchFamily="34" charset="-122"/>
                <a:cs typeface="Arial" pitchFamily="34" charset="-120"/>
              </a:rPr>
              <a:t>Xpress · Owen 200S · Arsen II</a:t>
            </a:r>
            <a:endParaRPr lang="en-US" sz="1150" dirty="0"/>
          </a:p>
        </p:txBody>
      </p:sp>
      <p:sp>
        <p:nvSpPr>
          <p:cNvPr id="13" name="Text 11"/>
          <p:cNvSpPr/>
          <p:nvPr/>
        </p:nvSpPr>
        <p:spPr>
          <a:xfrm>
            <a:off x="9838944" y="1901952"/>
            <a:ext cx="1627632" cy="566928"/>
          </a:xfrm>
          <a:prstGeom prst="rect">
            <a:avLst/>
          </a:prstGeom>
          <a:noFill/>
          <a:ln/>
        </p:spPr>
        <p:txBody>
          <a:bodyPr wrap="square" lIns="0" tIns="0" rIns="0" bIns="0" rtlCol="0" anchor="ctr"/>
          <a:lstStyle/>
          <a:p>
            <a:pPr indent="0" marL="0">
              <a:buNone/>
            </a:pPr>
            <a:r>
              <a:rPr lang="en-US" sz="1150" dirty="0">
                <a:solidFill>
                  <a:srgbClr val="C4432B"/>
                </a:solidFill>
                <a:latin typeface="Arial" pitchFamily="34" charset="0"/>
                <a:ea typeface="Arial" pitchFamily="34" charset="-122"/>
                <a:cs typeface="Arial" pitchFamily="34" charset="-120"/>
              </a:rPr>
              <a:t>Matrix (tanque 7 L)</a:t>
            </a:r>
            <a:endParaRPr lang="en-US" sz="1150" dirty="0"/>
          </a:p>
        </p:txBody>
      </p:sp>
      <p:sp>
        <p:nvSpPr>
          <p:cNvPr id="14" name="Text 12"/>
          <p:cNvSpPr/>
          <p:nvPr/>
        </p:nvSpPr>
        <p:spPr>
          <a:xfrm>
            <a:off x="731520" y="2468880"/>
            <a:ext cx="393192" cy="566928"/>
          </a:xfrm>
          <a:prstGeom prst="rect">
            <a:avLst/>
          </a:prstGeom>
          <a:noFill/>
          <a:ln/>
        </p:spPr>
        <p:txBody>
          <a:bodyPr wrap="square" lIns="0" tIns="0" rIns="0" bIns="0" rtlCol="0" anchor="ctr"/>
          <a:lstStyle/>
          <a:p>
            <a:pPr indent="0" marL="0">
              <a:buNone/>
            </a:pPr>
            <a:r>
              <a:rPr lang="en-US" sz="1100" b="1" dirty="0">
                <a:solidFill>
                  <a:srgbClr val="50555F"/>
                </a:solidFill>
                <a:latin typeface="Arial" pitchFamily="34" charset="0"/>
                <a:ea typeface="Arial" pitchFamily="34" charset="-122"/>
                <a:cs typeface="Arial" pitchFamily="34" charset="-120"/>
              </a:rPr>
              <a:t>02</a:t>
            </a:r>
            <a:endParaRPr lang="en-US" sz="1100" dirty="0"/>
          </a:p>
        </p:txBody>
      </p:sp>
      <p:sp>
        <p:nvSpPr>
          <p:cNvPr id="15" name="Text 13"/>
          <p:cNvSpPr/>
          <p:nvPr/>
        </p:nvSpPr>
        <p:spPr>
          <a:xfrm>
            <a:off x="1197864" y="2468880"/>
            <a:ext cx="2633472" cy="566928"/>
          </a:xfrm>
          <a:prstGeom prst="rect">
            <a:avLst/>
          </a:prstGeom>
          <a:noFill/>
          <a:ln/>
        </p:spPr>
        <p:txBody>
          <a:bodyPr wrap="square" lIns="0" tIns="0" rIns="0" bIns="0" rtlCol="0" anchor="ctr"/>
          <a:lstStyle/>
          <a:p>
            <a:pPr indent="0" marL="0">
              <a:buNone/>
            </a:pPr>
            <a:r>
              <a:rPr lang="en-US" sz="1150" b="1" dirty="0">
                <a:solidFill>
                  <a:srgbClr val="50555F"/>
                </a:solidFill>
                <a:latin typeface="Arial" pitchFamily="34" charset="0"/>
                <a:ea typeface="Arial" pitchFamily="34" charset="-122"/>
                <a:cs typeface="Arial" pitchFamily="34" charset="-120"/>
              </a:rPr>
              <a:t>Mototaxista urbano</a:t>
            </a:r>
            <a:endParaRPr lang="en-US" sz="1150" dirty="0"/>
          </a:p>
        </p:txBody>
      </p:sp>
      <p:sp>
        <p:nvSpPr>
          <p:cNvPr id="16" name="Text 14"/>
          <p:cNvSpPr/>
          <p:nvPr/>
        </p:nvSpPr>
        <p:spPr>
          <a:xfrm>
            <a:off x="3941064" y="2468880"/>
            <a:ext cx="2770632" cy="566928"/>
          </a:xfrm>
          <a:prstGeom prst="rect">
            <a:avLst/>
          </a:prstGeom>
          <a:noFill/>
          <a:ln/>
        </p:spPr>
        <p:txBody>
          <a:bodyPr wrap="square" lIns="0" tIns="0" rIns="0" bIns="0" rtlCol="0" anchor="ctr"/>
          <a:lstStyle/>
          <a:p>
            <a:pPr indent="0" marL="0">
              <a:buNone/>
            </a:pPr>
            <a:r>
              <a:rPr lang="en-US" sz="1150" b="1" dirty="0">
                <a:solidFill>
                  <a:srgbClr val="1A1C20"/>
                </a:solidFill>
                <a:latin typeface="Arial" pitchFamily="34" charset="0"/>
                <a:ea typeface="Arial" pitchFamily="34" charset="-122"/>
                <a:cs typeface="Arial" pitchFamily="34" charset="-120"/>
              </a:rPr>
              <a:t>Owen 150 / Horse</a:t>
            </a:r>
            <a:endParaRPr lang="en-US" sz="1150" dirty="0"/>
          </a:p>
        </p:txBody>
      </p:sp>
      <p:sp>
        <p:nvSpPr>
          <p:cNvPr id="17" name="Text 15"/>
          <p:cNvSpPr/>
          <p:nvPr/>
        </p:nvSpPr>
        <p:spPr>
          <a:xfrm>
            <a:off x="6821424" y="2468880"/>
            <a:ext cx="2907792" cy="566928"/>
          </a:xfrm>
          <a:prstGeom prst="rect">
            <a:avLst/>
          </a:prstGeom>
          <a:noFill/>
          <a:ln/>
        </p:spPr>
        <p:txBody>
          <a:bodyPr wrap="square" lIns="0" tIns="0" rIns="0" bIns="0" rtlCol="0" anchor="ctr"/>
          <a:lstStyle/>
          <a:p>
            <a:pPr indent="0" marL="0">
              <a:buNone/>
            </a:pPr>
            <a:r>
              <a:rPr lang="en-US" sz="1150" dirty="0">
                <a:solidFill>
                  <a:srgbClr val="50555F"/>
                </a:solidFill>
                <a:latin typeface="Arial" pitchFamily="34" charset="0"/>
                <a:ea typeface="Arial" pitchFamily="34" charset="-122"/>
                <a:cs typeface="Arial" pitchFamily="34" charset="-120"/>
              </a:rPr>
              <a:t>Owen 200S</a:t>
            </a:r>
            <a:endParaRPr lang="en-US" sz="1150" dirty="0"/>
          </a:p>
        </p:txBody>
      </p:sp>
      <p:sp>
        <p:nvSpPr>
          <p:cNvPr id="18" name="Text 16"/>
          <p:cNvSpPr/>
          <p:nvPr/>
        </p:nvSpPr>
        <p:spPr>
          <a:xfrm>
            <a:off x="9838944" y="2468880"/>
            <a:ext cx="1627632" cy="566928"/>
          </a:xfrm>
          <a:prstGeom prst="rect">
            <a:avLst/>
          </a:prstGeom>
          <a:noFill/>
          <a:ln/>
        </p:spPr>
        <p:txBody>
          <a:bodyPr wrap="square" lIns="0" tIns="0" rIns="0" bIns="0" rtlCol="0" anchor="ctr"/>
          <a:lstStyle/>
          <a:p>
            <a:pPr indent="0" marL="0">
              <a:buNone/>
            </a:pPr>
            <a:r>
              <a:rPr lang="en-US" sz="1150" dirty="0">
                <a:solidFill>
                  <a:srgbClr val="C4432B"/>
                </a:solidFill>
                <a:latin typeface="Arial" pitchFamily="34" charset="0"/>
                <a:ea typeface="Arial" pitchFamily="34" charset="-122"/>
                <a:cs typeface="Arial" pitchFamily="34" charset="-120"/>
              </a:rPr>
              <a:t>Scooter y deportivas</a:t>
            </a:r>
            <a:endParaRPr lang="en-US" sz="1150" dirty="0"/>
          </a:p>
        </p:txBody>
      </p:sp>
      <p:sp>
        <p:nvSpPr>
          <p:cNvPr id="19" name="Shape 17"/>
          <p:cNvSpPr/>
          <p:nvPr/>
        </p:nvSpPr>
        <p:spPr>
          <a:xfrm>
            <a:off x="640080" y="3035808"/>
            <a:ext cx="10881360" cy="566928"/>
          </a:xfrm>
          <a:prstGeom prst="rect">
            <a:avLst/>
          </a:prstGeom>
          <a:solidFill>
            <a:srgbClr val="F4F5F7"/>
          </a:solidFill>
          <a:ln/>
        </p:spPr>
      </p:sp>
      <p:sp>
        <p:nvSpPr>
          <p:cNvPr id="20" name="Text 18"/>
          <p:cNvSpPr/>
          <p:nvPr/>
        </p:nvSpPr>
        <p:spPr>
          <a:xfrm>
            <a:off x="731520" y="3035808"/>
            <a:ext cx="393192" cy="566928"/>
          </a:xfrm>
          <a:prstGeom prst="rect">
            <a:avLst/>
          </a:prstGeom>
          <a:noFill/>
          <a:ln/>
        </p:spPr>
        <p:txBody>
          <a:bodyPr wrap="square" lIns="0" tIns="0" rIns="0" bIns="0" rtlCol="0" anchor="ctr"/>
          <a:lstStyle/>
          <a:p>
            <a:pPr indent="0" marL="0">
              <a:buNone/>
            </a:pPr>
            <a:r>
              <a:rPr lang="en-US" sz="1100" b="1" dirty="0">
                <a:solidFill>
                  <a:srgbClr val="50555F"/>
                </a:solidFill>
                <a:latin typeface="Arial" pitchFamily="34" charset="0"/>
                <a:ea typeface="Arial" pitchFamily="34" charset="-122"/>
                <a:cs typeface="Arial" pitchFamily="34" charset="-120"/>
              </a:rPr>
              <a:t>03</a:t>
            </a:r>
            <a:endParaRPr lang="en-US" sz="1100" dirty="0"/>
          </a:p>
        </p:txBody>
      </p:sp>
      <p:sp>
        <p:nvSpPr>
          <p:cNvPr id="21" name="Text 19"/>
          <p:cNvSpPr/>
          <p:nvPr/>
        </p:nvSpPr>
        <p:spPr>
          <a:xfrm>
            <a:off x="1197864" y="3035808"/>
            <a:ext cx="2633472" cy="566928"/>
          </a:xfrm>
          <a:prstGeom prst="rect">
            <a:avLst/>
          </a:prstGeom>
          <a:noFill/>
          <a:ln/>
        </p:spPr>
        <p:txBody>
          <a:bodyPr wrap="square" lIns="0" tIns="0" rIns="0" bIns="0" rtlCol="0" anchor="ctr"/>
          <a:lstStyle/>
          <a:p>
            <a:pPr indent="0" marL="0">
              <a:buNone/>
            </a:pPr>
            <a:r>
              <a:rPr lang="en-US" sz="1150" b="1" dirty="0">
                <a:solidFill>
                  <a:srgbClr val="50555F"/>
                </a:solidFill>
                <a:latin typeface="Arial" pitchFamily="34" charset="0"/>
                <a:ea typeface="Arial" pitchFamily="34" charset="-122"/>
                <a:cs typeface="Arial" pitchFamily="34" charset="-120"/>
              </a:rPr>
              <a:t>Acarreador del interior</a:t>
            </a:r>
            <a:endParaRPr lang="en-US" sz="1150" dirty="0"/>
          </a:p>
        </p:txBody>
      </p:sp>
      <p:sp>
        <p:nvSpPr>
          <p:cNvPr id="22" name="Text 20"/>
          <p:cNvSpPr/>
          <p:nvPr/>
        </p:nvSpPr>
        <p:spPr>
          <a:xfrm>
            <a:off x="3941064" y="3035808"/>
            <a:ext cx="2770632" cy="566928"/>
          </a:xfrm>
          <a:prstGeom prst="rect">
            <a:avLst/>
          </a:prstGeom>
          <a:noFill/>
          <a:ln/>
        </p:spPr>
        <p:txBody>
          <a:bodyPr wrap="square" lIns="0" tIns="0" rIns="0" bIns="0" rtlCol="0" anchor="ctr"/>
          <a:lstStyle/>
          <a:p>
            <a:pPr indent="0" marL="0">
              <a:buNone/>
            </a:pPr>
            <a:r>
              <a:rPr lang="en-US" sz="1150" b="1" dirty="0">
                <a:solidFill>
                  <a:srgbClr val="1A1C20"/>
                </a:solidFill>
                <a:latin typeface="Arial" pitchFamily="34" charset="0"/>
                <a:ea typeface="Arial" pitchFamily="34" charset="-122"/>
                <a:cs typeface="Arial" pitchFamily="34" charset="-120"/>
              </a:rPr>
              <a:t>Horse</a:t>
            </a:r>
            <a:endParaRPr lang="en-US" sz="1150" dirty="0"/>
          </a:p>
        </p:txBody>
      </p:sp>
      <p:sp>
        <p:nvSpPr>
          <p:cNvPr id="23" name="Text 21"/>
          <p:cNvSpPr/>
          <p:nvPr/>
        </p:nvSpPr>
        <p:spPr>
          <a:xfrm>
            <a:off x="6821424" y="3035808"/>
            <a:ext cx="2907792" cy="566928"/>
          </a:xfrm>
          <a:prstGeom prst="rect">
            <a:avLst/>
          </a:prstGeom>
          <a:noFill/>
          <a:ln/>
        </p:spPr>
        <p:txBody>
          <a:bodyPr wrap="square" lIns="0" tIns="0" rIns="0" bIns="0" rtlCol="0" anchor="ctr"/>
          <a:lstStyle/>
          <a:p>
            <a:pPr indent="0" marL="0">
              <a:buNone/>
            </a:pPr>
            <a:r>
              <a:rPr lang="en-US" sz="1150" dirty="0">
                <a:solidFill>
                  <a:srgbClr val="50555F"/>
                </a:solidFill>
                <a:latin typeface="Arial" pitchFamily="34" charset="0"/>
                <a:ea typeface="Arial" pitchFamily="34" charset="-122"/>
                <a:cs typeface="Arial" pitchFamily="34" charset="-120"/>
              </a:rPr>
              <a:t>TX 150 · TX 250 GS · Atlas</a:t>
            </a:r>
            <a:endParaRPr lang="en-US" sz="1150" dirty="0"/>
          </a:p>
        </p:txBody>
      </p:sp>
      <p:sp>
        <p:nvSpPr>
          <p:cNvPr id="24" name="Text 22"/>
          <p:cNvSpPr/>
          <p:nvPr/>
        </p:nvSpPr>
        <p:spPr>
          <a:xfrm>
            <a:off x="9838944" y="3035808"/>
            <a:ext cx="1627632" cy="566928"/>
          </a:xfrm>
          <a:prstGeom prst="rect">
            <a:avLst/>
          </a:prstGeom>
          <a:noFill/>
          <a:ln/>
        </p:spPr>
        <p:txBody>
          <a:bodyPr wrap="square" lIns="0" tIns="0" rIns="0" bIns="0" rtlCol="0" anchor="ctr"/>
          <a:lstStyle/>
          <a:p>
            <a:pPr indent="0" marL="0">
              <a:buNone/>
            </a:pPr>
            <a:r>
              <a:rPr lang="en-US" sz="1150" dirty="0">
                <a:solidFill>
                  <a:srgbClr val="C4432B"/>
                </a:solidFill>
                <a:latin typeface="Arial" pitchFamily="34" charset="0"/>
                <a:ea typeface="Arial" pitchFamily="34" charset="-122"/>
                <a:cs typeface="Arial" pitchFamily="34" charset="-120"/>
              </a:rPr>
              <a:t>Matrix y scooter</a:t>
            </a:r>
            <a:endParaRPr lang="en-US" sz="1150" dirty="0"/>
          </a:p>
        </p:txBody>
      </p:sp>
      <p:sp>
        <p:nvSpPr>
          <p:cNvPr id="25" name="Text 23"/>
          <p:cNvSpPr/>
          <p:nvPr/>
        </p:nvSpPr>
        <p:spPr>
          <a:xfrm>
            <a:off x="731520" y="3602736"/>
            <a:ext cx="393192" cy="566928"/>
          </a:xfrm>
          <a:prstGeom prst="rect">
            <a:avLst/>
          </a:prstGeom>
          <a:noFill/>
          <a:ln/>
        </p:spPr>
        <p:txBody>
          <a:bodyPr wrap="square" lIns="0" tIns="0" rIns="0" bIns="0" rtlCol="0" anchor="ctr"/>
          <a:lstStyle/>
          <a:p>
            <a:pPr indent="0" marL="0">
              <a:buNone/>
            </a:pPr>
            <a:r>
              <a:rPr lang="en-US" sz="1100" b="1" dirty="0">
                <a:solidFill>
                  <a:srgbClr val="50555F"/>
                </a:solidFill>
                <a:latin typeface="Arial" pitchFamily="34" charset="0"/>
                <a:ea typeface="Arial" pitchFamily="34" charset="-122"/>
                <a:cs typeface="Arial" pitchFamily="34" charset="-120"/>
              </a:rPr>
              <a:t>04</a:t>
            </a:r>
            <a:endParaRPr lang="en-US" sz="1100" dirty="0"/>
          </a:p>
        </p:txBody>
      </p:sp>
      <p:sp>
        <p:nvSpPr>
          <p:cNvPr id="26" name="Text 24"/>
          <p:cNvSpPr/>
          <p:nvPr/>
        </p:nvSpPr>
        <p:spPr>
          <a:xfrm>
            <a:off x="1197864" y="3602736"/>
            <a:ext cx="2633472" cy="566928"/>
          </a:xfrm>
          <a:prstGeom prst="rect">
            <a:avLst/>
          </a:prstGeom>
          <a:noFill/>
          <a:ln/>
        </p:spPr>
        <p:txBody>
          <a:bodyPr wrap="square" lIns="0" tIns="0" rIns="0" bIns="0" rtlCol="0" anchor="ctr"/>
          <a:lstStyle/>
          <a:p>
            <a:pPr indent="0" marL="0">
              <a:buNone/>
            </a:pPr>
            <a:r>
              <a:rPr lang="en-US" sz="1150" b="1" dirty="0">
                <a:solidFill>
                  <a:srgbClr val="50555F"/>
                </a:solidFill>
                <a:latin typeface="Arial" pitchFamily="34" charset="0"/>
                <a:ea typeface="Arial" pitchFamily="34" charset="-122"/>
                <a:cs typeface="Arial" pitchFamily="34" charset="-120"/>
              </a:rPr>
              <a:t>Utilitario doméstico</a:t>
            </a:r>
            <a:endParaRPr lang="en-US" sz="1150" dirty="0"/>
          </a:p>
        </p:txBody>
      </p:sp>
      <p:sp>
        <p:nvSpPr>
          <p:cNvPr id="27" name="Text 25"/>
          <p:cNvSpPr/>
          <p:nvPr/>
        </p:nvSpPr>
        <p:spPr>
          <a:xfrm>
            <a:off x="3941064" y="3602736"/>
            <a:ext cx="2770632" cy="566928"/>
          </a:xfrm>
          <a:prstGeom prst="rect">
            <a:avLst/>
          </a:prstGeom>
          <a:noFill/>
          <a:ln/>
        </p:spPr>
        <p:txBody>
          <a:bodyPr wrap="square" lIns="0" tIns="0" rIns="0" bIns="0" rtlCol="0" anchor="ctr"/>
          <a:lstStyle/>
          <a:p>
            <a:pPr indent="0" marL="0">
              <a:buNone/>
            </a:pPr>
            <a:r>
              <a:rPr lang="en-US" sz="1150" b="1" dirty="0">
                <a:solidFill>
                  <a:srgbClr val="1A1C20"/>
                </a:solidFill>
                <a:latin typeface="Arial" pitchFamily="34" charset="0"/>
                <a:ea typeface="Arial" pitchFamily="34" charset="-122"/>
                <a:cs typeface="Arial" pitchFamily="34" charset="-120"/>
              </a:rPr>
              <a:t>Horse · Owen 150</a:t>
            </a:r>
            <a:endParaRPr lang="en-US" sz="1150" dirty="0"/>
          </a:p>
        </p:txBody>
      </p:sp>
      <p:sp>
        <p:nvSpPr>
          <p:cNvPr id="28" name="Text 26"/>
          <p:cNvSpPr/>
          <p:nvPr/>
        </p:nvSpPr>
        <p:spPr>
          <a:xfrm>
            <a:off x="6821424" y="3602736"/>
            <a:ext cx="2907792" cy="566928"/>
          </a:xfrm>
          <a:prstGeom prst="rect">
            <a:avLst/>
          </a:prstGeom>
          <a:noFill/>
          <a:ln/>
        </p:spPr>
        <p:txBody>
          <a:bodyPr wrap="square" lIns="0" tIns="0" rIns="0" bIns="0" rtlCol="0" anchor="ctr"/>
          <a:lstStyle/>
          <a:p>
            <a:pPr indent="0" marL="0">
              <a:buNone/>
            </a:pPr>
            <a:r>
              <a:rPr lang="en-US" sz="1150" dirty="0">
                <a:solidFill>
                  <a:srgbClr val="50555F"/>
                </a:solidFill>
                <a:latin typeface="Arial" pitchFamily="34" charset="0"/>
                <a:ea typeface="Arial" pitchFamily="34" charset="-122"/>
                <a:cs typeface="Arial" pitchFamily="34" charset="-120"/>
              </a:rPr>
              <a:t>Xpress Lite · TX 150</a:t>
            </a:r>
            <a:endParaRPr lang="en-US" sz="1150" dirty="0"/>
          </a:p>
        </p:txBody>
      </p:sp>
      <p:sp>
        <p:nvSpPr>
          <p:cNvPr id="29" name="Text 27"/>
          <p:cNvSpPr/>
          <p:nvPr/>
        </p:nvSpPr>
        <p:spPr>
          <a:xfrm>
            <a:off x="9838944" y="3602736"/>
            <a:ext cx="1627632" cy="566928"/>
          </a:xfrm>
          <a:prstGeom prst="rect">
            <a:avLst/>
          </a:prstGeom>
          <a:noFill/>
          <a:ln/>
        </p:spPr>
        <p:txBody>
          <a:bodyPr wrap="square" lIns="0" tIns="0" rIns="0" bIns="0" rtlCol="0" anchor="ctr"/>
          <a:lstStyle/>
          <a:p>
            <a:pPr indent="0" marL="0">
              <a:buNone/>
            </a:pPr>
            <a:r>
              <a:rPr lang="en-US" sz="1150" dirty="0">
                <a:solidFill>
                  <a:srgbClr val="C4432B"/>
                </a:solidFill>
                <a:latin typeface="Arial" pitchFamily="34" charset="0"/>
                <a:ea typeface="Arial" pitchFamily="34" charset="-122"/>
                <a:cs typeface="Arial" pitchFamily="34" charset="-120"/>
              </a:rPr>
              <a:t>Scooter si hay tierra</a:t>
            </a:r>
            <a:endParaRPr lang="en-US" sz="1150" dirty="0"/>
          </a:p>
        </p:txBody>
      </p:sp>
      <p:sp>
        <p:nvSpPr>
          <p:cNvPr id="30" name="Shape 28"/>
          <p:cNvSpPr/>
          <p:nvPr/>
        </p:nvSpPr>
        <p:spPr>
          <a:xfrm>
            <a:off x="640080" y="4169664"/>
            <a:ext cx="10881360" cy="566928"/>
          </a:xfrm>
          <a:prstGeom prst="rect">
            <a:avLst/>
          </a:prstGeom>
          <a:solidFill>
            <a:srgbClr val="F4F5F7"/>
          </a:solidFill>
          <a:ln/>
        </p:spPr>
      </p:sp>
      <p:sp>
        <p:nvSpPr>
          <p:cNvPr id="31" name="Text 29"/>
          <p:cNvSpPr/>
          <p:nvPr/>
        </p:nvSpPr>
        <p:spPr>
          <a:xfrm>
            <a:off x="731520" y="4169664"/>
            <a:ext cx="393192" cy="566928"/>
          </a:xfrm>
          <a:prstGeom prst="rect">
            <a:avLst/>
          </a:prstGeom>
          <a:noFill/>
          <a:ln/>
        </p:spPr>
        <p:txBody>
          <a:bodyPr wrap="square" lIns="0" tIns="0" rIns="0" bIns="0" rtlCol="0" anchor="ctr"/>
          <a:lstStyle/>
          <a:p>
            <a:pPr indent="0" marL="0">
              <a:buNone/>
            </a:pPr>
            <a:r>
              <a:rPr lang="en-US" sz="1100" b="1" dirty="0">
                <a:solidFill>
                  <a:srgbClr val="50555F"/>
                </a:solidFill>
                <a:latin typeface="Arial" pitchFamily="34" charset="0"/>
                <a:ea typeface="Arial" pitchFamily="34" charset="-122"/>
                <a:cs typeface="Arial" pitchFamily="34" charset="-120"/>
              </a:rPr>
              <a:t>05</a:t>
            </a:r>
            <a:endParaRPr lang="en-US" sz="1100" dirty="0"/>
          </a:p>
        </p:txBody>
      </p:sp>
      <p:sp>
        <p:nvSpPr>
          <p:cNvPr id="32" name="Text 30"/>
          <p:cNvSpPr/>
          <p:nvPr/>
        </p:nvSpPr>
        <p:spPr>
          <a:xfrm>
            <a:off x="1197864" y="4169664"/>
            <a:ext cx="2633472" cy="566928"/>
          </a:xfrm>
          <a:prstGeom prst="rect">
            <a:avLst/>
          </a:prstGeom>
          <a:noFill/>
          <a:ln/>
        </p:spPr>
        <p:txBody>
          <a:bodyPr wrap="square" lIns="0" tIns="0" rIns="0" bIns="0" rtlCol="0" anchor="ctr"/>
          <a:lstStyle/>
          <a:p>
            <a:pPr indent="0" marL="0">
              <a:buNone/>
            </a:pPr>
            <a:r>
              <a:rPr lang="en-US" sz="1150" b="1" dirty="0">
                <a:solidFill>
                  <a:srgbClr val="50555F"/>
                </a:solidFill>
                <a:latin typeface="Arial" pitchFamily="34" charset="0"/>
                <a:ea typeface="Arial" pitchFamily="34" charset="-122"/>
                <a:cs typeface="Arial" pitchFamily="34" charset="-120"/>
              </a:rPr>
              <a:t>Joven de primera moto</a:t>
            </a:r>
            <a:endParaRPr lang="en-US" sz="1150" dirty="0"/>
          </a:p>
        </p:txBody>
      </p:sp>
      <p:sp>
        <p:nvSpPr>
          <p:cNvPr id="33" name="Text 31"/>
          <p:cNvSpPr/>
          <p:nvPr/>
        </p:nvSpPr>
        <p:spPr>
          <a:xfrm>
            <a:off x="3941064" y="4169664"/>
            <a:ext cx="2770632" cy="566928"/>
          </a:xfrm>
          <a:prstGeom prst="rect">
            <a:avLst/>
          </a:prstGeom>
          <a:noFill/>
          <a:ln/>
        </p:spPr>
        <p:txBody>
          <a:bodyPr wrap="square" lIns="0" tIns="0" rIns="0" bIns="0" rtlCol="0" anchor="ctr"/>
          <a:lstStyle/>
          <a:p>
            <a:pPr indent="0" marL="0">
              <a:buNone/>
            </a:pPr>
            <a:r>
              <a:rPr lang="en-US" sz="1150" b="1" dirty="0">
                <a:solidFill>
                  <a:srgbClr val="1A1C20"/>
                </a:solidFill>
                <a:latin typeface="Arial" pitchFamily="34" charset="0"/>
                <a:ea typeface="Arial" pitchFamily="34" charset="-122"/>
                <a:cs typeface="Arial" pitchFamily="34" charset="-120"/>
              </a:rPr>
              <a:t>Xpress Lite · Xpress 150/200S</a:t>
            </a:r>
            <a:endParaRPr lang="en-US" sz="1150" dirty="0"/>
          </a:p>
        </p:txBody>
      </p:sp>
      <p:sp>
        <p:nvSpPr>
          <p:cNvPr id="34" name="Text 32"/>
          <p:cNvSpPr/>
          <p:nvPr/>
        </p:nvSpPr>
        <p:spPr>
          <a:xfrm>
            <a:off x="6821424" y="4169664"/>
            <a:ext cx="2907792" cy="566928"/>
          </a:xfrm>
          <a:prstGeom prst="rect">
            <a:avLst/>
          </a:prstGeom>
          <a:noFill/>
          <a:ln/>
        </p:spPr>
        <p:txBody>
          <a:bodyPr wrap="square" lIns="0" tIns="0" rIns="0" bIns="0" rtlCol="0" anchor="ctr"/>
          <a:lstStyle/>
          <a:p>
            <a:pPr indent="0" marL="0">
              <a:buNone/>
            </a:pPr>
            <a:r>
              <a:rPr lang="en-US" sz="1150" dirty="0">
                <a:solidFill>
                  <a:srgbClr val="50555F"/>
                </a:solidFill>
                <a:latin typeface="Arial" pitchFamily="34" charset="0"/>
                <a:ea typeface="Arial" pitchFamily="34" charset="-122"/>
                <a:cs typeface="Arial" pitchFamily="34" charset="-120"/>
              </a:rPr>
              <a:t>RK 200 · RK 250 · Arsen II</a:t>
            </a:r>
            <a:endParaRPr lang="en-US" sz="1150" dirty="0"/>
          </a:p>
        </p:txBody>
      </p:sp>
      <p:sp>
        <p:nvSpPr>
          <p:cNvPr id="35" name="Text 33"/>
          <p:cNvSpPr/>
          <p:nvPr/>
        </p:nvSpPr>
        <p:spPr>
          <a:xfrm>
            <a:off x="9838944" y="4169664"/>
            <a:ext cx="1627632" cy="566928"/>
          </a:xfrm>
          <a:prstGeom prst="rect">
            <a:avLst/>
          </a:prstGeom>
          <a:noFill/>
          <a:ln/>
        </p:spPr>
        <p:txBody>
          <a:bodyPr wrap="square" lIns="0" tIns="0" rIns="0" bIns="0" rtlCol="0" anchor="ctr"/>
          <a:lstStyle/>
          <a:p>
            <a:pPr indent="0" marL="0">
              <a:buNone/>
            </a:pPr>
            <a:r>
              <a:rPr lang="en-US" sz="1150" dirty="0">
                <a:solidFill>
                  <a:srgbClr val="C4432B"/>
                </a:solidFill>
                <a:latin typeface="Arial" pitchFamily="34" charset="0"/>
                <a:ea typeface="Arial" pitchFamily="34" charset="-122"/>
                <a:cs typeface="Arial" pitchFamily="34" charset="-120"/>
              </a:rPr>
              <a:t>—</a:t>
            </a:r>
            <a:endParaRPr lang="en-US" sz="1150" dirty="0"/>
          </a:p>
        </p:txBody>
      </p:sp>
      <p:sp>
        <p:nvSpPr>
          <p:cNvPr id="36" name="Text 34"/>
          <p:cNvSpPr/>
          <p:nvPr/>
        </p:nvSpPr>
        <p:spPr>
          <a:xfrm>
            <a:off x="731520" y="4736592"/>
            <a:ext cx="393192" cy="566928"/>
          </a:xfrm>
          <a:prstGeom prst="rect">
            <a:avLst/>
          </a:prstGeom>
          <a:noFill/>
          <a:ln/>
        </p:spPr>
        <p:txBody>
          <a:bodyPr wrap="square" lIns="0" tIns="0" rIns="0" bIns="0" rtlCol="0" anchor="ctr"/>
          <a:lstStyle/>
          <a:p>
            <a:pPr indent="0" marL="0">
              <a:buNone/>
            </a:pPr>
            <a:r>
              <a:rPr lang="en-US" sz="1100" b="1" dirty="0">
                <a:solidFill>
                  <a:srgbClr val="50555F"/>
                </a:solidFill>
                <a:latin typeface="Arial" pitchFamily="34" charset="0"/>
                <a:ea typeface="Arial" pitchFamily="34" charset="-122"/>
                <a:cs typeface="Arial" pitchFamily="34" charset="-120"/>
              </a:rPr>
              <a:t>06</a:t>
            </a:r>
            <a:endParaRPr lang="en-US" sz="1100" dirty="0"/>
          </a:p>
        </p:txBody>
      </p:sp>
      <p:sp>
        <p:nvSpPr>
          <p:cNvPr id="37" name="Text 35"/>
          <p:cNvSpPr/>
          <p:nvPr/>
        </p:nvSpPr>
        <p:spPr>
          <a:xfrm>
            <a:off x="1197864" y="4736592"/>
            <a:ext cx="2633472" cy="566928"/>
          </a:xfrm>
          <a:prstGeom prst="rect">
            <a:avLst/>
          </a:prstGeom>
          <a:noFill/>
          <a:ln/>
        </p:spPr>
        <p:txBody>
          <a:bodyPr wrap="square" lIns="0" tIns="0" rIns="0" bIns="0" rtlCol="0" anchor="ctr"/>
          <a:lstStyle/>
          <a:p>
            <a:pPr indent="0" marL="0">
              <a:buNone/>
            </a:pPr>
            <a:r>
              <a:rPr lang="en-US" sz="1150" b="1" dirty="0">
                <a:solidFill>
                  <a:srgbClr val="50555F"/>
                </a:solidFill>
                <a:latin typeface="Arial" pitchFamily="34" charset="0"/>
                <a:ea typeface="Arial" pitchFamily="34" charset="-122"/>
                <a:cs typeface="Arial" pitchFamily="34" charset="-120"/>
              </a:rPr>
              <a:t>Usuaria urbana</a:t>
            </a:r>
            <a:endParaRPr lang="en-US" sz="1150" dirty="0"/>
          </a:p>
        </p:txBody>
      </p:sp>
      <p:sp>
        <p:nvSpPr>
          <p:cNvPr id="38" name="Text 36"/>
          <p:cNvSpPr/>
          <p:nvPr/>
        </p:nvSpPr>
        <p:spPr>
          <a:xfrm>
            <a:off x="3941064" y="4736592"/>
            <a:ext cx="2770632" cy="566928"/>
          </a:xfrm>
          <a:prstGeom prst="rect">
            <a:avLst/>
          </a:prstGeom>
          <a:noFill/>
          <a:ln/>
        </p:spPr>
        <p:txBody>
          <a:bodyPr wrap="square" lIns="0" tIns="0" rIns="0" bIns="0" rtlCol="0" anchor="ctr"/>
          <a:lstStyle/>
          <a:p>
            <a:pPr indent="0" marL="0">
              <a:buNone/>
            </a:pPr>
            <a:r>
              <a:rPr lang="en-US" sz="1150" b="1" dirty="0">
                <a:solidFill>
                  <a:srgbClr val="1A1C20"/>
                </a:solidFill>
                <a:latin typeface="Arial" pitchFamily="34" charset="0"/>
                <a:ea typeface="Arial" pitchFamily="34" charset="-122"/>
                <a:cs typeface="Arial" pitchFamily="34" charset="-120"/>
              </a:rPr>
              <a:t>Matrix II / Matrix Lite</a:t>
            </a:r>
            <a:endParaRPr lang="en-US" sz="1150" dirty="0"/>
          </a:p>
        </p:txBody>
      </p:sp>
      <p:sp>
        <p:nvSpPr>
          <p:cNvPr id="39" name="Text 37"/>
          <p:cNvSpPr/>
          <p:nvPr/>
        </p:nvSpPr>
        <p:spPr>
          <a:xfrm>
            <a:off x="6821424" y="4736592"/>
            <a:ext cx="2907792" cy="566928"/>
          </a:xfrm>
          <a:prstGeom prst="rect">
            <a:avLst/>
          </a:prstGeom>
          <a:noFill/>
          <a:ln/>
        </p:spPr>
        <p:txBody>
          <a:bodyPr wrap="square" lIns="0" tIns="0" rIns="0" bIns="0" rtlCol="0" anchor="ctr"/>
          <a:lstStyle/>
          <a:p>
            <a:pPr indent="0" marL="0">
              <a:buNone/>
            </a:pPr>
            <a:r>
              <a:rPr lang="en-US" sz="1150" dirty="0">
                <a:solidFill>
                  <a:srgbClr val="50555F"/>
                </a:solidFill>
                <a:latin typeface="Arial" pitchFamily="34" charset="0"/>
                <a:ea typeface="Arial" pitchFamily="34" charset="-122"/>
                <a:cs typeface="Arial" pitchFamily="34" charset="-120"/>
              </a:rPr>
              <a:t>New Outlook II</a:t>
            </a:r>
            <a:endParaRPr lang="en-US" sz="1150" dirty="0"/>
          </a:p>
        </p:txBody>
      </p:sp>
      <p:sp>
        <p:nvSpPr>
          <p:cNvPr id="40" name="Text 38"/>
          <p:cNvSpPr/>
          <p:nvPr/>
        </p:nvSpPr>
        <p:spPr>
          <a:xfrm>
            <a:off x="9838944" y="4736592"/>
            <a:ext cx="1627632" cy="566928"/>
          </a:xfrm>
          <a:prstGeom prst="rect">
            <a:avLst/>
          </a:prstGeom>
          <a:noFill/>
          <a:ln/>
        </p:spPr>
        <p:txBody>
          <a:bodyPr wrap="square" lIns="0" tIns="0" rIns="0" bIns="0" rtlCol="0" anchor="ctr"/>
          <a:lstStyle/>
          <a:p>
            <a:pPr indent="0" marL="0">
              <a:buNone/>
            </a:pPr>
            <a:r>
              <a:rPr lang="en-US" sz="1150" dirty="0">
                <a:solidFill>
                  <a:srgbClr val="C4432B"/>
                </a:solidFill>
                <a:latin typeface="Arial" pitchFamily="34" charset="0"/>
                <a:ea typeface="Arial" pitchFamily="34" charset="-122"/>
                <a:cs typeface="Arial" pitchFamily="34" charset="-120"/>
              </a:rPr>
              <a:t>—</a:t>
            </a:r>
            <a:endParaRPr lang="en-US" sz="1150" dirty="0"/>
          </a:p>
        </p:txBody>
      </p:sp>
      <p:sp>
        <p:nvSpPr>
          <p:cNvPr id="41" name="Shape 39"/>
          <p:cNvSpPr/>
          <p:nvPr/>
        </p:nvSpPr>
        <p:spPr>
          <a:xfrm>
            <a:off x="640080" y="5440680"/>
            <a:ext cx="10881360" cy="822960"/>
          </a:xfrm>
          <a:prstGeom prst="roundRect">
            <a:avLst>
              <a:gd name="adj" fmla="val 8889"/>
            </a:avLst>
          </a:prstGeom>
          <a:solidFill>
            <a:srgbClr val="22252A"/>
          </a:solidFill>
          <a:ln/>
          <a:effectLst>
            <a:outerShdw sx="100000" sy="100000" kx="0" ky="0" algn="bl" rotWithShape="0" blurRad="101600" dist="12700" dir="5400000">
              <a:srgbClr val="000000">
                <a:alpha val="8000"/>
              </a:srgbClr>
            </a:outerShdw>
          </a:effectLst>
        </p:spPr>
      </p:sp>
      <p:sp>
        <p:nvSpPr>
          <p:cNvPr id="42" name="Text 40"/>
          <p:cNvSpPr/>
          <p:nvPr/>
        </p:nvSpPr>
        <p:spPr>
          <a:xfrm>
            <a:off x="1024128" y="5596128"/>
            <a:ext cx="10058400" cy="502920"/>
          </a:xfrm>
          <a:prstGeom prst="rect">
            <a:avLst/>
          </a:prstGeom>
          <a:noFill/>
          <a:ln/>
        </p:spPr>
        <p:txBody>
          <a:bodyPr wrap="square" lIns="0" tIns="0" rIns="0" bIns="0" rtlCol="0" anchor="ctr"/>
          <a:lstStyle/>
          <a:p>
            <a:pPr indent="0" marL="0">
              <a:lnSpc>
                <a:spcPts val="1700"/>
              </a:lnSpc>
              <a:buNone/>
            </a:pPr>
            <a:r>
              <a:rPr lang="en-US" sz="1250" dirty="0">
                <a:solidFill>
                  <a:srgbClr val="D5D9DF"/>
                </a:solidFill>
                <a:latin typeface="Arial" pitchFamily="34" charset="0"/>
                <a:ea typeface="Arial" pitchFamily="34" charset="-122"/>
                <a:cs typeface="Arial" pitchFamily="34" charset="-120"/>
              </a:rPr>
              <a:t>El Horse y el Owen cargan con casi todo: cuatro de los seis segmentos —incluidos los dos Primarios— los tienen como modelo primario. La mayor parte del volumen descansa sobre dos modelos de ticket bajo.</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F2A73B"/>
                </a:solidFill>
                <a:latin typeface="Arial" pitchFamily="34" charset="0"/>
                <a:ea typeface="Arial" pitchFamily="34" charset="-122"/>
                <a:cs typeface="Arial" pitchFamily="34" charset="-120"/>
              </a:rPr>
              <a:t>CONTRASTE CON LA EVIDENCIA</a:t>
            </a:r>
            <a:endParaRPr lang="en-US" sz="1100" dirty="0"/>
          </a:p>
        </p:txBody>
      </p:sp>
      <p:sp>
        <p:nvSpPr>
          <p:cNvPr id="3" name="Text 1"/>
          <p:cNvSpPr/>
          <p:nvPr/>
        </p:nvSpPr>
        <p:spPr>
          <a:xfrm>
            <a:off x="640080" y="676656"/>
            <a:ext cx="10881360" cy="685800"/>
          </a:xfrm>
          <a:prstGeom prst="rect">
            <a:avLst/>
          </a:prstGeom>
          <a:noFill/>
          <a:ln/>
        </p:spPr>
        <p:txBody>
          <a:bodyPr wrap="square" lIns="0" tIns="0" rIns="0" bIns="0" rtlCol="0" anchor="t"/>
          <a:lstStyle/>
          <a:p>
            <a:pPr indent="0" marL="0">
              <a:buNone/>
            </a:pPr>
            <a:r>
              <a:rPr lang="en-US" sz="3200" b="1" dirty="0">
                <a:solidFill>
                  <a:srgbClr val="1A1C20"/>
                </a:solidFill>
                <a:latin typeface="Cambria" pitchFamily="34" charset="0"/>
                <a:ea typeface="Cambria" pitchFamily="34" charset="-122"/>
                <a:cs typeface="Cambria" pitchFamily="34" charset="-120"/>
              </a:rPr>
              <a:t>Las tres preferencias que reportó el equipo</a:t>
            </a:r>
            <a:endParaRPr lang="en-US" sz="3200" dirty="0"/>
          </a:p>
        </p:txBody>
      </p:sp>
      <p:sp>
        <p:nvSpPr>
          <p:cNvPr id="4" name="Shape 2"/>
          <p:cNvSpPr/>
          <p:nvPr/>
        </p:nvSpPr>
        <p:spPr>
          <a:xfrm>
            <a:off x="640080" y="1645920"/>
            <a:ext cx="10881360" cy="1371600"/>
          </a:xfrm>
          <a:prstGeom prst="roundRect">
            <a:avLst>
              <a:gd name="adj" fmla="val 5333"/>
            </a:avLst>
          </a:prstGeom>
          <a:solidFill>
            <a:srgbClr val="F4F5F7"/>
          </a:solidFill>
          <a:ln/>
          <a:effectLst>
            <a:outerShdw sx="100000" sy="100000" kx="0" ky="0" algn="bl" rotWithShape="0" blurRad="101600" dist="12700" dir="5400000">
              <a:srgbClr val="000000">
                <a:alpha val="8000"/>
              </a:srgbClr>
            </a:outerShdw>
          </a:effectLst>
        </p:spPr>
      </p:sp>
      <p:sp>
        <p:nvSpPr>
          <p:cNvPr id="5" name="Text 3"/>
          <p:cNvSpPr/>
          <p:nvPr/>
        </p:nvSpPr>
        <p:spPr>
          <a:xfrm>
            <a:off x="1005840" y="1865376"/>
            <a:ext cx="4023360" cy="310896"/>
          </a:xfrm>
          <a:prstGeom prst="rect">
            <a:avLst/>
          </a:prstGeom>
          <a:noFill/>
          <a:ln/>
        </p:spPr>
        <p:txBody>
          <a:bodyPr wrap="square" lIns="0" tIns="0" rIns="0" bIns="0" rtlCol="0" anchor="ctr"/>
          <a:lstStyle/>
          <a:p>
            <a:pPr indent="0" marL="0">
              <a:buNone/>
            </a:pPr>
            <a:r>
              <a:rPr lang="en-US" sz="1400" b="1" dirty="0">
                <a:solidFill>
                  <a:srgbClr val="1A1C20"/>
                </a:solidFill>
                <a:latin typeface="Arial" pitchFamily="34" charset="0"/>
                <a:ea typeface="Arial" pitchFamily="34" charset="-122"/>
                <a:cs typeface="Arial" pitchFamily="34" charset="-120"/>
              </a:rPr>
              <a:t>Horse en el Sur, por acarreo</a:t>
            </a:r>
            <a:endParaRPr lang="en-US" sz="1400" dirty="0"/>
          </a:p>
        </p:txBody>
      </p:sp>
      <p:sp>
        <p:nvSpPr>
          <p:cNvPr id="6" name="Shape 4"/>
          <p:cNvSpPr/>
          <p:nvPr/>
        </p:nvSpPr>
        <p:spPr>
          <a:xfrm>
            <a:off x="1005840" y="2286000"/>
            <a:ext cx="2331720" cy="310896"/>
          </a:xfrm>
          <a:prstGeom prst="roundRect">
            <a:avLst>
              <a:gd name="adj" fmla="val 47059"/>
            </a:avLst>
          </a:prstGeom>
          <a:solidFill>
            <a:srgbClr val="F2A73B"/>
          </a:solidFill>
          <a:ln/>
        </p:spPr>
      </p:sp>
      <p:sp>
        <p:nvSpPr>
          <p:cNvPr id="7" name="Text 5"/>
          <p:cNvSpPr/>
          <p:nvPr/>
        </p:nvSpPr>
        <p:spPr>
          <a:xfrm>
            <a:off x="1005840" y="2286000"/>
            <a:ext cx="2331720"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CONFIRMADA en el atributo</a:t>
            </a:r>
            <a:endParaRPr lang="en-US" sz="950" dirty="0"/>
          </a:p>
        </p:txBody>
      </p:sp>
      <p:sp>
        <p:nvSpPr>
          <p:cNvPr id="8" name="Text 6"/>
          <p:cNvSpPr/>
          <p:nvPr/>
        </p:nvSpPr>
        <p:spPr>
          <a:xfrm>
            <a:off x="5349240" y="1865376"/>
            <a:ext cx="5852160" cy="960120"/>
          </a:xfrm>
          <a:prstGeom prst="rect">
            <a:avLst/>
          </a:prstGeom>
          <a:noFill/>
          <a:ln/>
        </p:spPr>
        <p:txBody>
          <a:bodyPr wrap="square" lIns="0" tIns="0" rIns="0" bIns="0" rtlCol="0" anchor="ctr"/>
          <a:lstStyle/>
          <a:p>
            <a:pPr indent="0" marL="0">
              <a:lnSpc>
                <a:spcPts val="1500"/>
              </a:lnSpc>
              <a:buNone/>
            </a:pPr>
            <a:r>
              <a:rPr lang="en-US" sz="1100" dirty="0">
                <a:solidFill>
                  <a:srgbClr val="50555F"/>
                </a:solidFill>
                <a:latin typeface="Arial" pitchFamily="34" charset="0"/>
                <a:ea typeface="Arial" pitchFamily="34" charset="-122"/>
                <a:cs typeface="Arial" pitchFamily="34" charset="-120"/>
              </a:rPr>
              <a:t>No es casualidad regional: es un modelo diseñado para eso. Asiento de 70 cm, parrilla robusta, rines de 18", torque abajo. Lo que falta confirmar es la especificidad regional — no existe desagregación de ventas por región en Venezuela, para ninguna marca.</a:t>
            </a:r>
            <a:endParaRPr lang="en-US" sz="1100" dirty="0"/>
          </a:p>
        </p:txBody>
      </p:sp>
      <p:sp>
        <p:nvSpPr>
          <p:cNvPr id="9" name="Shape 7"/>
          <p:cNvSpPr/>
          <p:nvPr/>
        </p:nvSpPr>
        <p:spPr>
          <a:xfrm>
            <a:off x="640080" y="3163824"/>
            <a:ext cx="10881360" cy="1371600"/>
          </a:xfrm>
          <a:prstGeom prst="roundRect">
            <a:avLst>
              <a:gd name="adj" fmla="val 5333"/>
            </a:avLst>
          </a:prstGeom>
          <a:solidFill>
            <a:srgbClr val="F4F5F7"/>
          </a:solidFill>
          <a:ln/>
          <a:effectLst>
            <a:outerShdw sx="100000" sy="100000" kx="0" ky="0" algn="bl" rotWithShape="0" blurRad="101600" dist="12700" dir="5400000">
              <a:srgbClr val="000000">
                <a:alpha val="8000"/>
              </a:srgbClr>
            </a:outerShdw>
          </a:effectLst>
        </p:spPr>
      </p:sp>
      <p:sp>
        <p:nvSpPr>
          <p:cNvPr id="10" name="Text 8"/>
          <p:cNvSpPr/>
          <p:nvPr/>
        </p:nvSpPr>
        <p:spPr>
          <a:xfrm>
            <a:off x="1005840" y="3383280"/>
            <a:ext cx="4023360" cy="310896"/>
          </a:xfrm>
          <a:prstGeom prst="rect">
            <a:avLst/>
          </a:prstGeom>
          <a:noFill/>
          <a:ln/>
        </p:spPr>
        <p:txBody>
          <a:bodyPr wrap="square" lIns="0" tIns="0" rIns="0" bIns="0" rtlCol="0" anchor="ctr"/>
          <a:lstStyle/>
          <a:p>
            <a:pPr indent="0" marL="0">
              <a:buNone/>
            </a:pPr>
            <a:r>
              <a:rPr lang="en-US" sz="1400" b="1" dirty="0">
                <a:solidFill>
                  <a:srgbClr val="1A1C20"/>
                </a:solidFill>
                <a:latin typeface="Arial" pitchFamily="34" charset="0"/>
                <a:ea typeface="Arial" pitchFamily="34" charset="-122"/>
                <a:cs typeface="Arial" pitchFamily="34" charset="-120"/>
              </a:rPr>
              <a:t>Owen para el mototaxista</a:t>
            </a:r>
            <a:endParaRPr lang="en-US" sz="1400" dirty="0"/>
          </a:p>
        </p:txBody>
      </p:sp>
      <p:sp>
        <p:nvSpPr>
          <p:cNvPr id="11" name="Shape 9"/>
          <p:cNvSpPr/>
          <p:nvPr/>
        </p:nvSpPr>
        <p:spPr>
          <a:xfrm>
            <a:off x="1005840" y="3803904"/>
            <a:ext cx="2331720" cy="310896"/>
          </a:xfrm>
          <a:prstGeom prst="roundRect">
            <a:avLst>
              <a:gd name="adj" fmla="val 47059"/>
            </a:avLst>
          </a:prstGeom>
          <a:solidFill>
            <a:srgbClr val="C4432B"/>
          </a:solidFill>
          <a:ln/>
        </p:spPr>
      </p:sp>
      <p:sp>
        <p:nvSpPr>
          <p:cNvPr id="12" name="Text 10"/>
          <p:cNvSpPr/>
          <p:nvPr/>
        </p:nvSpPr>
        <p:spPr>
          <a:xfrm>
            <a:off x="1005840" y="3803904"/>
            <a:ext cx="2331720"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EN DISPUTA</a:t>
            </a:r>
            <a:endParaRPr lang="en-US" sz="950" dirty="0"/>
          </a:p>
        </p:txBody>
      </p:sp>
      <p:sp>
        <p:nvSpPr>
          <p:cNvPr id="13" name="Text 11"/>
          <p:cNvSpPr/>
          <p:nvPr/>
        </p:nvSpPr>
        <p:spPr>
          <a:xfrm>
            <a:off x="5349240" y="3383280"/>
            <a:ext cx="5852160" cy="960120"/>
          </a:xfrm>
          <a:prstGeom prst="rect">
            <a:avLst/>
          </a:prstGeom>
          <a:noFill/>
          <a:ln/>
        </p:spPr>
        <p:txBody>
          <a:bodyPr wrap="square" lIns="0" tIns="0" rIns="0" bIns="0" rtlCol="0" anchor="ctr"/>
          <a:lstStyle/>
          <a:p>
            <a:pPr indent="0" marL="0">
              <a:lnSpc>
                <a:spcPts val="1500"/>
              </a:lnSpc>
              <a:buNone/>
            </a:pPr>
            <a:r>
              <a:rPr lang="en-US" sz="1100" dirty="0">
                <a:solidFill>
                  <a:srgbClr val="50555F"/>
                </a:solidFill>
                <a:latin typeface="Arial" pitchFamily="34" charset="0"/>
                <a:ea typeface="Arial" pitchFamily="34" charset="-122"/>
                <a:cs typeface="Arial" pitchFamily="34" charset="-120"/>
              </a:rPr>
              <a:t>Las fuentes públicas asocian el Horse con mototaxistas y repartidores. El Owen aparece posicionado por confort. No se resuelve a favor de la prensa: el piso de venta es evidencia primaria, y la comunicación de marca suele ir detrás de la calle.</a:t>
            </a:r>
            <a:endParaRPr lang="en-US" sz="1100" dirty="0"/>
          </a:p>
        </p:txBody>
      </p:sp>
      <p:sp>
        <p:nvSpPr>
          <p:cNvPr id="14" name="Shape 12"/>
          <p:cNvSpPr/>
          <p:nvPr/>
        </p:nvSpPr>
        <p:spPr>
          <a:xfrm>
            <a:off x="640080" y="4681728"/>
            <a:ext cx="10881360" cy="1371600"/>
          </a:xfrm>
          <a:prstGeom prst="roundRect">
            <a:avLst>
              <a:gd name="adj" fmla="val 5333"/>
            </a:avLst>
          </a:prstGeom>
          <a:solidFill>
            <a:srgbClr val="F4F5F7"/>
          </a:solidFill>
          <a:ln/>
          <a:effectLst>
            <a:outerShdw sx="100000" sy="100000" kx="0" ky="0" algn="bl" rotWithShape="0" blurRad="101600" dist="12700" dir="5400000">
              <a:srgbClr val="000000">
                <a:alpha val="8000"/>
              </a:srgbClr>
            </a:outerShdw>
          </a:effectLst>
        </p:spPr>
      </p:sp>
      <p:sp>
        <p:nvSpPr>
          <p:cNvPr id="15" name="Text 13"/>
          <p:cNvSpPr/>
          <p:nvPr/>
        </p:nvSpPr>
        <p:spPr>
          <a:xfrm>
            <a:off x="1005840" y="4901184"/>
            <a:ext cx="4023360" cy="310896"/>
          </a:xfrm>
          <a:prstGeom prst="rect">
            <a:avLst/>
          </a:prstGeom>
          <a:noFill/>
          <a:ln/>
        </p:spPr>
        <p:txBody>
          <a:bodyPr wrap="square" lIns="0" tIns="0" rIns="0" bIns="0" rtlCol="0" anchor="ctr"/>
          <a:lstStyle/>
          <a:p>
            <a:pPr indent="0" marL="0">
              <a:buNone/>
            </a:pPr>
            <a:r>
              <a:rPr lang="en-US" sz="1400" b="1" dirty="0">
                <a:solidFill>
                  <a:srgbClr val="1A1C20"/>
                </a:solidFill>
                <a:latin typeface="Arial" pitchFamily="34" charset="0"/>
                <a:ea typeface="Arial" pitchFamily="34" charset="-122"/>
                <a:cs typeface="Arial" pitchFamily="34" charset="-120"/>
              </a:rPr>
              <a:t>Xpress para el primer vehículo</a:t>
            </a:r>
            <a:endParaRPr lang="en-US" sz="1400" dirty="0"/>
          </a:p>
        </p:txBody>
      </p:sp>
      <p:sp>
        <p:nvSpPr>
          <p:cNvPr id="16" name="Shape 14"/>
          <p:cNvSpPr/>
          <p:nvPr/>
        </p:nvSpPr>
        <p:spPr>
          <a:xfrm>
            <a:off x="1005840" y="5321808"/>
            <a:ext cx="2331720" cy="310896"/>
          </a:xfrm>
          <a:prstGeom prst="roundRect">
            <a:avLst>
              <a:gd name="adj" fmla="val 47059"/>
            </a:avLst>
          </a:prstGeom>
          <a:solidFill>
            <a:srgbClr val="F2A73B"/>
          </a:solidFill>
          <a:ln/>
        </p:spPr>
      </p:sp>
      <p:sp>
        <p:nvSpPr>
          <p:cNvPr id="17" name="Text 15"/>
          <p:cNvSpPr/>
          <p:nvPr/>
        </p:nvSpPr>
        <p:spPr>
          <a:xfrm>
            <a:off x="1005840" y="5321808"/>
            <a:ext cx="2331720"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CONFIRMADA, doblemente</a:t>
            </a:r>
            <a:endParaRPr lang="en-US" sz="950" dirty="0"/>
          </a:p>
        </p:txBody>
      </p:sp>
      <p:sp>
        <p:nvSpPr>
          <p:cNvPr id="18" name="Text 16"/>
          <p:cNvSpPr/>
          <p:nvPr/>
        </p:nvSpPr>
        <p:spPr>
          <a:xfrm>
            <a:off x="5349240" y="4901184"/>
            <a:ext cx="5852160" cy="960120"/>
          </a:xfrm>
          <a:prstGeom prst="rect">
            <a:avLst/>
          </a:prstGeom>
          <a:noFill/>
          <a:ln/>
        </p:spPr>
        <p:txBody>
          <a:bodyPr wrap="square" lIns="0" tIns="0" rIns="0" bIns="0" rtlCol="0" anchor="ctr"/>
          <a:lstStyle/>
          <a:p>
            <a:pPr indent="0" marL="0">
              <a:lnSpc>
                <a:spcPts val="1500"/>
              </a:lnSpc>
              <a:buNone/>
            </a:pPr>
            <a:r>
              <a:rPr lang="en-US" sz="1100" dirty="0">
                <a:solidFill>
                  <a:srgbClr val="50555F"/>
                </a:solidFill>
                <a:latin typeface="Arial" pitchFamily="34" charset="0"/>
                <a:ea typeface="Arial" pitchFamily="34" charset="-122"/>
                <a:cs typeface="Arial" pitchFamily="34" charset="-120"/>
              </a:rPr>
              <a:t>Por declaración —«el modelo más vendido, preferido por los jóvenes»— y por estructura de precio: la Xpress Lite es la puerta de entrada del portafolio, a US$1.020 con placa y seguro. Es la mejor respaldada de las tres.</a:t>
            </a:r>
            <a:endParaRPr lang="en-US" sz="1100" dirty="0"/>
          </a:p>
        </p:txBody>
      </p:sp>
      <p:sp>
        <p:nvSpPr>
          <p:cNvPr id="19" name="Text 17"/>
          <p:cNvSpPr/>
          <p:nvPr/>
        </p:nvSpPr>
        <p:spPr>
          <a:xfrm>
            <a:off x="640080" y="6291072"/>
            <a:ext cx="10881360" cy="310896"/>
          </a:xfrm>
          <a:prstGeom prst="rect">
            <a:avLst/>
          </a:prstGeom>
          <a:noFill/>
          <a:ln/>
        </p:spPr>
        <p:txBody>
          <a:bodyPr wrap="square" lIns="0" tIns="0" rIns="0" bIns="0" rtlCol="0" anchor="ctr"/>
          <a:lstStyle/>
          <a:p>
            <a:pPr indent="0" marL="0">
              <a:buNone/>
            </a:pPr>
            <a:r>
              <a:rPr lang="en-US" sz="950" i="1" dirty="0">
                <a:solidFill>
                  <a:srgbClr val="6E7480"/>
                </a:solidFill>
                <a:latin typeface="Arial" pitchFamily="34" charset="0"/>
                <a:ea typeface="Arial" pitchFamily="34" charset="-122"/>
                <a:cs typeface="Arial" pitchFamily="34" charset="-120"/>
              </a:rPr>
              <a:t>Ninguna preferencia se descarta por falta de fuente pública. Se convierten en hipótesis con umbral, resolubles con la facturación propia.</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F2A73B"/>
                </a:solidFill>
                <a:latin typeface="Arial" pitchFamily="34" charset="0"/>
                <a:ea typeface="Arial" pitchFamily="34" charset="-122"/>
                <a:cs typeface="Arial" pitchFamily="34" charset="-120"/>
              </a:rPr>
              <a:t>ANTI-CLIENTE</a:t>
            </a:r>
            <a:endParaRPr lang="en-US" sz="1100" dirty="0"/>
          </a:p>
        </p:txBody>
      </p:sp>
      <p:sp>
        <p:nvSpPr>
          <p:cNvPr id="3" name="Text 1"/>
          <p:cNvSpPr/>
          <p:nvPr/>
        </p:nvSpPr>
        <p:spPr>
          <a:xfrm>
            <a:off x="640080" y="676656"/>
            <a:ext cx="10881360" cy="685800"/>
          </a:xfrm>
          <a:prstGeom prst="rect">
            <a:avLst/>
          </a:prstGeom>
          <a:noFill/>
          <a:ln/>
        </p:spPr>
        <p:txBody>
          <a:bodyPr wrap="square" lIns="0" tIns="0" rIns="0" bIns="0" rtlCol="0" anchor="t"/>
          <a:lstStyle/>
          <a:p>
            <a:pPr indent="0" marL="0">
              <a:buNone/>
            </a:pPr>
            <a:r>
              <a:rPr lang="en-US" sz="3200" b="1" dirty="0">
                <a:solidFill>
                  <a:srgbClr val="1A1C20"/>
                </a:solidFill>
                <a:latin typeface="Cambria" pitchFamily="34" charset="0"/>
                <a:ea typeface="Cambria" pitchFamily="34" charset="-122"/>
                <a:cs typeface="Cambria" pitchFamily="34" charset="-120"/>
              </a:rPr>
              <a:t>A quién no perseguir</a:t>
            </a:r>
            <a:endParaRPr lang="en-US" sz="3200" dirty="0"/>
          </a:p>
        </p:txBody>
      </p:sp>
      <p:sp>
        <p:nvSpPr>
          <p:cNvPr id="4" name="Text 2"/>
          <p:cNvSpPr/>
          <p:nvPr/>
        </p:nvSpPr>
        <p:spPr>
          <a:xfrm>
            <a:off x="640080" y="1572768"/>
            <a:ext cx="10881360" cy="512064"/>
          </a:xfrm>
          <a:prstGeom prst="rect">
            <a:avLst/>
          </a:prstGeom>
          <a:noFill/>
          <a:ln/>
        </p:spPr>
        <p:txBody>
          <a:bodyPr wrap="square" lIns="0" tIns="0" rIns="0" bIns="0" rtlCol="0" anchor="ctr"/>
          <a:lstStyle/>
          <a:p>
            <a:pPr indent="0" marL="0">
              <a:lnSpc>
                <a:spcPts val="2000"/>
              </a:lnSpc>
              <a:buNone/>
            </a:pPr>
            <a:r>
              <a:rPr lang="en-US" sz="1400" dirty="0">
                <a:solidFill>
                  <a:srgbClr val="3A3F49"/>
                </a:solidFill>
                <a:latin typeface="Arial" pitchFamily="34" charset="0"/>
                <a:ea typeface="Arial" pitchFamily="34" charset="-122"/>
                <a:cs typeface="Arial" pitchFamily="34" charset="-120"/>
              </a:rPr>
              <a:t>Sin esta sección la definición no tiene filo. Un cliente ideal que no excluye a nadie no es un cliente ideal: es una descripción del mercado.</a:t>
            </a:r>
            <a:endParaRPr lang="en-US" sz="1400" dirty="0"/>
          </a:p>
        </p:txBody>
      </p:sp>
      <p:sp>
        <p:nvSpPr>
          <p:cNvPr id="5" name="Shape 3"/>
          <p:cNvSpPr/>
          <p:nvPr/>
        </p:nvSpPr>
        <p:spPr>
          <a:xfrm>
            <a:off x="640080" y="2148840"/>
            <a:ext cx="3401568" cy="3063240"/>
          </a:xfrm>
          <a:prstGeom prst="roundRect">
            <a:avLst>
              <a:gd name="adj" fmla="val 2388"/>
            </a:avLst>
          </a:prstGeom>
          <a:solidFill>
            <a:srgbClr val="22252A"/>
          </a:solidFill>
          <a:ln/>
          <a:effectLst>
            <a:outerShdw sx="100000" sy="100000" kx="0" ky="0" algn="bl" rotWithShape="0" blurRad="101600" dist="12700" dir="5400000">
              <a:srgbClr val="000000">
                <a:alpha val="8000"/>
              </a:srgbClr>
            </a:outerShdw>
          </a:effectLst>
        </p:spPr>
      </p:sp>
      <p:sp>
        <p:nvSpPr>
          <p:cNvPr id="6" name="Shape 4"/>
          <p:cNvSpPr/>
          <p:nvPr/>
        </p:nvSpPr>
        <p:spPr>
          <a:xfrm>
            <a:off x="950976" y="2395728"/>
            <a:ext cx="457200" cy="457200"/>
          </a:xfrm>
          <a:prstGeom prst="ellipse">
            <a:avLst/>
          </a:prstGeom>
          <a:solidFill>
            <a:srgbClr val="C4432B"/>
          </a:solidFill>
          <a:ln/>
        </p:spPr>
      </p:sp>
      <p:sp>
        <p:nvSpPr>
          <p:cNvPr id="7" name="Text 5"/>
          <p:cNvSpPr/>
          <p:nvPr/>
        </p:nvSpPr>
        <p:spPr>
          <a:xfrm>
            <a:off x="950976" y="239572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t>
            </a:r>
            <a:endParaRPr lang="en-US" sz="1300" dirty="0"/>
          </a:p>
        </p:txBody>
      </p:sp>
      <p:sp>
        <p:nvSpPr>
          <p:cNvPr id="8" name="Text 6"/>
          <p:cNvSpPr/>
          <p:nvPr/>
        </p:nvSpPr>
        <p:spPr>
          <a:xfrm>
            <a:off x="950976" y="2944368"/>
            <a:ext cx="2834640" cy="566928"/>
          </a:xfrm>
          <a:prstGeom prst="rect">
            <a:avLst/>
          </a:prstGeom>
          <a:noFill/>
          <a:ln/>
        </p:spPr>
        <p:txBody>
          <a:bodyPr wrap="square" lIns="0" tIns="0" rIns="0" bIns="0" rtlCol="0" anchor="ctr"/>
          <a:lstStyle/>
          <a:p>
            <a:pPr indent="0" marL="0">
              <a:lnSpc>
                <a:spcPts val="1900"/>
              </a:lnSpc>
              <a:buNone/>
            </a:pPr>
            <a:r>
              <a:rPr lang="en-US" sz="1400" b="1" dirty="0">
                <a:solidFill>
                  <a:srgbClr val="FFFFFF"/>
                </a:solidFill>
                <a:latin typeface="Arial" pitchFamily="34" charset="0"/>
                <a:ea typeface="Arial" pitchFamily="34" charset="-122"/>
                <a:cs typeface="Arial" pitchFamily="34" charset="-120"/>
              </a:rPr>
              <a:t>El comprador de precio puro</a:t>
            </a:r>
            <a:endParaRPr lang="en-US" sz="1400" dirty="0"/>
          </a:p>
        </p:txBody>
      </p:sp>
      <p:sp>
        <p:nvSpPr>
          <p:cNvPr id="9" name="Text 7"/>
          <p:cNvSpPr/>
          <p:nvPr/>
        </p:nvSpPr>
        <p:spPr>
          <a:xfrm>
            <a:off x="950976" y="3584448"/>
            <a:ext cx="2834640" cy="841248"/>
          </a:xfrm>
          <a:prstGeom prst="rect">
            <a:avLst/>
          </a:prstGeom>
          <a:noFill/>
          <a:ln/>
        </p:spPr>
        <p:txBody>
          <a:bodyPr wrap="square" lIns="0" tIns="0" rIns="0" bIns="0" rtlCol="0" anchor="ctr"/>
          <a:lstStyle/>
          <a:p>
            <a:pPr indent="0" marL="0">
              <a:lnSpc>
                <a:spcPts val="1500"/>
              </a:lnSpc>
              <a:buNone/>
            </a:pPr>
            <a:r>
              <a:rPr lang="en-US" sz="1100" dirty="0">
                <a:solidFill>
                  <a:srgbClr val="C9CDD4"/>
                </a:solidFill>
                <a:latin typeface="Arial" pitchFamily="34" charset="0"/>
                <a:ea typeface="Arial" pitchFamily="34" charset="-122"/>
                <a:cs typeface="Arial" pitchFamily="34" charset="-120"/>
              </a:rPr>
              <a:t>Sin ingreso ligado a la moto. Pide la inicial más baja y el plazo más largo, y no puede explicar de dónde sale la cuota.</a:t>
            </a:r>
            <a:endParaRPr lang="en-US" sz="1100" dirty="0"/>
          </a:p>
        </p:txBody>
      </p:sp>
      <p:sp>
        <p:nvSpPr>
          <p:cNvPr id="10" name="Text 8"/>
          <p:cNvSpPr/>
          <p:nvPr/>
        </p:nvSpPr>
        <p:spPr>
          <a:xfrm>
            <a:off x="950976" y="4434840"/>
            <a:ext cx="2834640" cy="658368"/>
          </a:xfrm>
          <a:prstGeom prst="rect">
            <a:avLst/>
          </a:prstGeom>
          <a:noFill/>
          <a:ln/>
        </p:spPr>
        <p:txBody>
          <a:bodyPr wrap="square" lIns="0" tIns="0" rIns="0" bIns="0" rtlCol="0" anchor="ctr"/>
          <a:lstStyle/>
          <a:p>
            <a:pPr indent="0" marL="0">
              <a:lnSpc>
                <a:spcPts val="1400"/>
              </a:lnSpc>
              <a:buNone/>
            </a:pPr>
            <a:r>
              <a:rPr lang="en-US" sz="1050" i="1" dirty="0">
                <a:solidFill>
                  <a:srgbClr val="F2A73B"/>
                </a:solidFill>
                <a:latin typeface="Arial" pitchFamily="34" charset="0"/>
                <a:ea typeface="Arial" pitchFamily="34" charset="-122"/>
                <a:cs typeface="Arial" pitchFamily="34" charset="-120"/>
              </a:rPr>
              <a:t>En un negocio de cuotas semanales, quien compra y no sostiene el plan no es una venta: es una pérdida con papeleo.</a:t>
            </a:r>
            <a:endParaRPr lang="en-US" sz="1050" dirty="0"/>
          </a:p>
        </p:txBody>
      </p:sp>
      <p:sp>
        <p:nvSpPr>
          <p:cNvPr id="11" name="Shape 9"/>
          <p:cNvSpPr/>
          <p:nvPr/>
        </p:nvSpPr>
        <p:spPr>
          <a:xfrm>
            <a:off x="4352544" y="2148840"/>
            <a:ext cx="3401568" cy="3063240"/>
          </a:xfrm>
          <a:prstGeom prst="roundRect">
            <a:avLst>
              <a:gd name="adj" fmla="val 2388"/>
            </a:avLst>
          </a:prstGeom>
          <a:solidFill>
            <a:srgbClr val="22252A"/>
          </a:solidFill>
          <a:ln/>
          <a:effectLst>
            <a:outerShdw sx="100000" sy="100000" kx="0" ky="0" algn="bl" rotWithShape="0" blurRad="101600" dist="12700" dir="5400000">
              <a:srgbClr val="000000">
                <a:alpha val="8000"/>
              </a:srgbClr>
            </a:outerShdw>
          </a:effectLst>
        </p:spPr>
      </p:sp>
      <p:sp>
        <p:nvSpPr>
          <p:cNvPr id="12" name="Shape 10"/>
          <p:cNvSpPr/>
          <p:nvPr/>
        </p:nvSpPr>
        <p:spPr>
          <a:xfrm>
            <a:off x="4663440" y="2395728"/>
            <a:ext cx="457200" cy="457200"/>
          </a:xfrm>
          <a:prstGeom prst="ellipse">
            <a:avLst/>
          </a:prstGeom>
          <a:solidFill>
            <a:srgbClr val="C4432B"/>
          </a:solidFill>
          <a:ln/>
        </p:spPr>
      </p:sp>
      <p:sp>
        <p:nvSpPr>
          <p:cNvPr id="13" name="Text 11"/>
          <p:cNvSpPr/>
          <p:nvPr/>
        </p:nvSpPr>
        <p:spPr>
          <a:xfrm>
            <a:off x="4663440" y="239572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t>
            </a:r>
            <a:endParaRPr lang="en-US" sz="1300" dirty="0"/>
          </a:p>
        </p:txBody>
      </p:sp>
      <p:sp>
        <p:nvSpPr>
          <p:cNvPr id="14" name="Text 12"/>
          <p:cNvSpPr/>
          <p:nvPr/>
        </p:nvSpPr>
        <p:spPr>
          <a:xfrm>
            <a:off x="4663440" y="2944368"/>
            <a:ext cx="2834640" cy="566928"/>
          </a:xfrm>
          <a:prstGeom prst="rect">
            <a:avLst/>
          </a:prstGeom>
          <a:noFill/>
          <a:ln/>
        </p:spPr>
        <p:txBody>
          <a:bodyPr wrap="square" lIns="0" tIns="0" rIns="0" bIns="0" rtlCol="0" anchor="ctr"/>
          <a:lstStyle/>
          <a:p>
            <a:pPr indent="0" marL="0">
              <a:lnSpc>
                <a:spcPts val="1900"/>
              </a:lnSpc>
              <a:buNone/>
            </a:pPr>
            <a:r>
              <a:rPr lang="en-US" sz="1400" b="1" dirty="0">
                <a:solidFill>
                  <a:srgbClr val="FFFFFF"/>
                </a:solidFill>
                <a:latin typeface="Arial" pitchFamily="34" charset="0"/>
                <a:ea typeface="Arial" pitchFamily="34" charset="-122"/>
                <a:cs typeface="Arial" pitchFamily="34" charset="-120"/>
              </a:rPr>
              <a:t>El comprador para reventa</a:t>
            </a:r>
            <a:endParaRPr lang="en-US" sz="1400" dirty="0"/>
          </a:p>
        </p:txBody>
      </p:sp>
      <p:sp>
        <p:nvSpPr>
          <p:cNvPr id="15" name="Text 13"/>
          <p:cNvSpPr/>
          <p:nvPr/>
        </p:nvSpPr>
        <p:spPr>
          <a:xfrm>
            <a:off x="4663440" y="3584448"/>
            <a:ext cx="2834640" cy="841248"/>
          </a:xfrm>
          <a:prstGeom prst="rect">
            <a:avLst/>
          </a:prstGeom>
          <a:noFill/>
          <a:ln/>
        </p:spPr>
        <p:txBody>
          <a:bodyPr wrap="square" lIns="0" tIns="0" rIns="0" bIns="0" rtlCol="0" anchor="ctr"/>
          <a:lstStyle/>
          <a:p>
            <a:pPr indent="0" marL="0">
              <a:lnSpc>
                <a:spcPts val="1500"/>
              </a:lnSpc>
              <a:buNone/>
            </a:pPr>
            <a:r>
              <a:rPr lang="en-US" sz="1100" dirty="0">
                <a:solidFill>
                  <a:srgbClr val="C9CDD4"/>
                </a:solidFill>
                <a:latin typeface="Arial" pitchFamily="34" charset="0"/>
                <a:ea typeface="Arial" pitchFamily="34" charset="-122"/>
                <a:cs typeface="Arial" pitchFamily="34" charset="-120"/>
              </a:rPr>
              <a:t>Pregunta por varias unidades sin ser flota ni asociación. Indiferente al color, la garantía y el servicio.</a:t>
            </a:r>
            <a:endParaRPr lang="en-US" sz="1100" dirty="0"/>
          </a:p>
        </p:txBody>
      </p:sp>
      <p:sp>
        <p:nvSpPr>
          <p:cNvPr id="16" name="Text 14"/>
          <p:cNvSpPr/>
          <p:nvPr/>
        </p:nvSpPr>
        <p:spPr>
          <a:xfrm>
            <a:off x="4663440" y="4434840"/>
            <a:ext cx="2834640" cy="658368"/>
          </a:xfrm>
          <a:prstGeom prst="rect">
            <a:avLst/>
          </a:prstGeom>
          <a:noFill/>
          <a:ln/>
        </p:spPr>
        <p:txBody>
          <a:bodyPr wrap="square" lIns="0" tIns="0" rIns="0" bIns="0" rtlCol="0" anchor="ctr"/>
          <a:lstStyle/>
          <a:p>
            <a:pPr indent="0" marL="0">
              <a:lnSpc>
                <a:spcPts val="1400"/>
              </a:lnSpc>
              <a:buNone/>
            </a:pPr>
            <a:r>
              <a:rPr lang="en-US" sz="1050" i="1" dirty="0">
                <a:solidFill>
                  <a:srgbClr val="F2A73B"/>
                </a:solidFill>
                <a:latin typeface="Arial" pitchFamily="34" charset="0"/>
                <a:ea typeface="Arial" pitchFamily="34" charset="-122"/>
                <a:cs typeface="Arial" pitchFamily="34" charset="-120"/>
              </a:rPr>
              <a:t>No es cliente: es competencia con descuento. Cero postventa, cero referidos, y compite contra la red en usados.</a:t>
            </a:r>
            <a:endParaRPr lang="en-US" sz="1050" dirty="0"/>
          </a:p>
        </p:txBody>
      </p:sp>
      <p:sp>
        <p:nvSpPr>
          <p:cNvPr id="17" name="Shape 15"/>
          <p:cNvSpPr/>
          <p:nvPr/>
        </p:nvSpPr>
        <p:spPr>
          <a:xfrm>
            <a:off x="8065008" y="2148840"/>
            <a:ext cx="3401568" cy="3063240"/>
          </a:xfrm>
          <a:prstGeom prst="roundRect">
            <a:avLst>
              <a:gd name="adj" fmla="val 2388"/>
            </a:avLst>
          </a:prstGeom>
          <a:solidFill>
            <a:srgbClr val="22252A"/>
          </a:solidFill>
          <a:ln/>
          <a:effectLst>
            <a:outerShdw sx="100000" sy="100000" kx="0" ky="0" algn="bl" rotWithShape="0" blurRad="101600" dist="12700" dir="5400000">
              <a:srgbClr val="000000">
                <a:alpha val="8000"/>
              </a:srgbClr>
            </a:outerShdw>
          </a:effectLst>
        </p:spPr>
      </p:sp>
      <p:sp>
        <p:nvSpPr>
          <p:cNvPr id="18" name="Shape 16"/>
          <p:cNvSpPr/>
          <p:nvPr/>
        </p:nvSpPr>
        <p:spPr>
          <a:xfrm>
            <a:off x="8375904" y="2395728"/>
            <a:ext cx="457200" cy="457200"/>
          </a:xfrm>
          <a:prstGeom prst="ellipse">
            <a:avLst/>
          </a:prstGeom>
          <a:solidFill>
            <a:srgbClr val="C4432B"/>
          </a:solidFill>
          <a:ln/>
        </p:spPr>
      </p:sp>
      <p:sp>
        <p:nvSpPr>
          <p:cNvPr id="19" name="Text 17"/>
          <p:cNvSpPr/>
          <p:nvPr/>
        </p:nvSpPr>
        <p:spPr>
          <a:xfrm>
            <a:off x="8375904" y="239572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t>
            </a:r>
            <a:endParaRPr lang="en-US" sz="1300" dirty="0"/>
          </a:p>
        </p:txBody>
      </p:sp>
      <p:sp>
        <p:nvSpPr>
          <p:cNvPr id="20" name="Text 18"/>
          <p:cNvSpPr/>
          <p:nvPr/>
        </p:nvSpPr>
        <p:spPr>
          <a:xfrm>
            <a:off x="8375904" y="2944368"/>
            <a:ext cx="2834640" cy="566928"/>
          </a:xfrm>
          <a:prstGeom prst="rect">
            <a:avLst/>
          </a:prstGeom>
          <a:noFill/>
          <a:ln/>
        </p:spPr>
        <p:txBody>
          <a:bodyPr wrap="square" lIns="0" tIns="0" rIns="0" bIns="0" rtlCol="0" anchor="ctr"/>
          <a:lstStyle/>
          <a:p>
            <a:pPr indent="0" marL="0">
              <a:lnSpc>
                <a:spcPts val="1900"/>
              </a:lnSpc>
              <a:buNone/>
            </a:pPr>
            <a:r>
              <a:rPr lang="en-US" sz="1400" b="1" dirty="0">
                <a:solidFill>
                  <a:srgbClr val="FFFFFF"/>
                </a:solidFill>
                <a:latin typeface="Arial" pitchFamily="34" charset="0"/>
                <a:ea typeface="Arial" pitchFamily="34" charset="-122"/>
                <a:cs typeface="Arial" pitchFamily="34" charset="-120"/>
              </a:rPr>
              <a:t>El uso que el portafolio no resuelve</a:t>
            </a:r>
            <a:endParaRPr lang="en-US" sz="1400" dirty="0"/>
          </a:p>
        </p:txBody>
      </p:sp>
      <p:sp>
        <p:nvSpPr>
          <p:cNvPr id="21" name="Text 19"/>
          <p:cNvSpPr/>
          <p:nvPr/>
        </p:nvSpPr>
        <p:spPr>
          <a:xfrm>
            <a:off x="8375904" y="3584448"/>
            <a:ext cx="2834640" cy="841248"/>
          </a:xfrm>
          <a:prstGeom prst="rect">
            <a:avLst/>
          </a:prstGeom>
          <a:noFill/>
          <a:ln/>
        </p:spPr>
        <p:txBody>
          <a:bodyPr wrap="square" lIns="0" tIns="0" rIns="0" bIns="0" rtlCol="0" anchor="ctr"/>
          <a:lstStyle/>
          <a:p>
            <a:pPr indent="0" marL="0">
              <a:lnSpc>
                <a:spcPts val="1500"/>
              </a:lnSpc>
              <a:buNone/>
            </a:pPr>
            <a:r>
              <a:rPr lang="en-US" sz="1100" dirty="0">
                <a:solidFill>
                  <a:srgbClr val="C9CDD4"/>
                </a:solidFill>
                <a:latin typeface="Arial" pitchFamily="34" charset="0"/>
                <a:ea typeface="Arial" pitchFamily="34" charset="-122"/>
                <a:cs typeface="Arial" pitchFamily="34" charset="-120"/>
              </a:rPr>
              <a:t>Scooter para carga, tierra o jornada larga. O una moto de dos ruedas para quien necesita una batea.</a:t>
            </a:r>
            <a:endParaRPr lang="en-US" sz="1100" dirty="0"/>
          </a:p>
        </p:txBody>
      </p:sp>
      <p:sp>
        <p:nvSpPr>
          <p:cNvPr id="22" name="Text 20"/>
          <p:cNvSpPr/>
          <p:nvPr/>
        </p:nvSpPr>
        <p:spPr>
          <a:xfrm>
            <a:off x="8375904" y="4434840"/>
            <a:ext cx="2834640" cy="658368"/>
          </a:xfrm>
          <a:prstGeom prst="rect">
            <a:avLst/>
          </a:prstGeom>
          <a:noFill/>
          <a:ln/>
        </p:spPr>
        <p:txBody>
          <a:bodyPr wrap="square" lIns="0" tIns="0" rIns="0" bIns="0" rtlCol="0" anchor="ctr"/>
          <a:lstStyle/>
          <a:p>
            <a:pPr indent="0" marL="0">
              <a:lnSpc>
                <a:spcPts val="1400"/>
              </a:lnSpc>
              <a:buNone/>
            </a:pPr>
            <a:r>
              <a:rPr lang="en-US" sz="1050" i="1" dirty="0">
                <a:solidFill>
                  <a:srgbClr val="F2A73B"/>
                </a:solidFill>
                <a:latin typeface="Arial" pitchFamily="34" charset="0"/>
                <a:ea typeface="Arial" pitchFamily="34" charset="-122"/>
                <a:cs typeface="Arial" pitchFamily="34" charset="-120"/>
              </a:rPr>
              <a:t>Es la peor venta posible: genera reclamo, desgasta la marca ante el gremio del cliente y suele terminar en devolución.</a:t>
            </a:r>
            <a:endParaRPr lang="en-US" sz="1050" dirty="0"/>
          </a:p>
        </p:txBody>
      </p:sp>
      <p:sp>
        <p:nvSpPr>
          <p:cNvPr id="23" name="Shape 21"/>
          <p:cNvSpPr/>
          <p:nvPr/>
        </p:nvSpPr>
        <p:spPr>
          <a:xfrm>
            <a:off x="640080" y="5440680"/>
            <a:ext cx="10881360" cy="658368"/>
          </a:xfrm>
          <a:prstGeom prst="roundRect">
            <a:avLst>
              <a:gd name="adj" fmla="val 11111"/>
            </a:avLst>
          </a:prstGeom>
          <a:solidFill>
            <a:srgbClr val="F4F5F7"/>
          </a:solidFill>
          <a:ln/>
          <a:effectLst>
            <a:outerShdw sx="100000" sy="100000" kx="0" ky="0" algn="bl" rotWithShape="0" blurRad="101600" dist="12700" dir="5400000">
              <a:srgbClr val="000000">
                <a:alpha val="8000"/>
              </a:srgbClr>
            </a:outerShdw>
          </a:effectLst>
        </p:spPr>
      </p:sp>
      <p:sp>
        <p:nvSpPr>
          <p:cNvPr id="24" name="Text 22"/>
          <p:cNvSpPr/>
          <p:nvPr/>
        </p:nvSpPr>
        <p:spPr>
          <a:xfrm>
            <a:off x="1005840" y="5532120"/>
            <a:ext cx="10149840" cy="457200"/>
          </a:xfrm>
          <a:prstGeom prst="rect">
            <a:avLst/>
          </a:prstGeom>
          <a:noFill/>
          <a:ln/>
        </p:spPr>
        <p:txBody>
          <a:bodyPr wrap="square" lIns="0" tIns="0" rIns="0" bIns="0" rtlCol="0" anchor="ctr"/>
          <a:lstStyle/>
          <a:p>
            <a:pPr indent="0" marL="0">
              <a:buNone/>
            </a:pPr>
            <a:r>
              <a:rPr lang="en-US" sz="1200" dirty="0">
                <a:solidFill>
                  <a:srgbClr val="3A3F49"/>
                </a:solidFill>
                <a:latin typeface="Arial" pitchFamily="34" charset="0"/>
                <a:ea typeface="Arial" pitchFamily="34" charset="-122"/>
                <a:cs typeface="Arial" pitchFamily="34" charset="-120"/>
              </a:rPr>
              <a:t>No es «no venderle». Es no ajustar la estructura para cerrarlo: si no califica con inicial y plazo sanos, bajar la inicial solo traslada el problema al mes cuatro.</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F2A73B"/>
                </a:solidFill>
                <a:latin typeface="Arial" pitchFamily="34" charset="0"/>
                <a:ea typeface="Arial" pitchFamily="34" charset="-122"/>
                <a:cs typeface="Arial" pitchFamily="34" charset="-120"/>
              </a:rPr>
              <a:t>PLAN DE VALIDACIÓN</a:t>
            </a:r>
            <a:endParaRPr lang="en-US" sz="1100" dirty="0"/>
          </a:p>
        </p:txBody>
      </p:sp>
      <p:sp>
        <p:nvSpPr>
          <p:cNvPr id="3" name="Text 1"/>
          <p:cNvSpPr/>
          <p:nvPr/>
        </p:nvSpPr>
        <p:spPr>
          <a:xfrm>
            <a:off x="640080" y="676656"/>
            <a:ext cx="10881360" cy="685800"/>
          </a:xfrm>
          <a:prstGeom prst="rect">
            <a:avLst/>
          </a:prstGeom>
          <a:noFill/>
          <a:ln/>
        </p:spPr>
        <p:txBody>
          <a:bodyPr wrap="square" lIns="0" tIns="0" rIns="0" bIns="0" rtlCol="0" anchor="t"/>
          <a:lstStyle/>
          <a:p>
            <a:pPr indent="0" marL="0">
              <a:buNone/>
            </a:pPr>
            <a:r>
              <a:rPr lang="en-US" sz="3200" b="1" dirty="0">
                <a:solidFill>
                  <a:srgbClr val="1A1C20"/>
                </a:solidFill>
                <a:latin typeface="Cambria" pitchFamily="34" charset="0"/>
                <a:ea typeface="Cambria" pitchFamily="34" charset="-122"/>
                <a:cs typeface="Cambria" pitchFamily="34" charset="-120"/>
              </a:rPr>
              <a:t>Todo esto es hipótesis. Así se comprueba.</a:t>
            </a:r>
            <a:endParaRPr lang="en-US" sz="3200" dirty="0"/>
          </a:p>
        </p:txBody>
      </p:sp>
      <p:sp>
        <p:nvSpPr>
          <p:cNvPr id="4" name="Text 2"/>
          <p:cNvSpPr/>
          <p:nvPr/>
        </p:nvSpPr>
        <p:spPr>
          <a:xfrm>
            <a:off x="640080" y="1572768"/>
            <a:ext cx="10881360" cy="548640"/>
          </a:xfrm>
          <a:prstGeom prst="rect">
            <a:avLst/>
          </a:prstGeom>
          <a:noFill/>
          <a:ln/>
        </p:spPr>
        <p:txBody>
          <a:bodyPr wrap="square" lIns="0" tIns="0" rIns="0" bIns="0" rtlCol="0" anchor="ctr"/>
          <a:lstStyle/>
          <a:p>
            <a:pPr indent="0" marL="0">
              <a:lnSpc>
                <a:spcPts val="2100"/>
              </a:lnSpc>
              <a:buNone/>
            </a:pPr>
            <a:r>
              <a:rPr lang="en-US" sz="1400" dirty="0">
                <a:solidFill>
                  <a:srgbClr val="3A3F49"/>
                </a:solidFill>
                <a:latin typeface="Arial" pitchFamily="34" charset="0"/>
                <a:ea typeface="Arial" pitchFamily="34" charset="-122"/>
                <a:cs typeface="Arial" pitchFamily="34" charset="-120"/>
              </a:rPr>
              <a:t>La estrategia se construyó sin data interna de ventas ni de financiamiento. Cada perfil y cada preferencia es una hipótesis falsable, con su umbral de confirmación y de descarte fijado antes de mirar los datos.</a:t>
            </a:r>
            <a:endParaRPr lang="en-US" sz="1400" dirty="0"/>
          </a:p>
        </p:txBody>
      </p:sp>
      <p:sp>
        <p:nvSpPr>
          <p:cNvPr id="5" name="Shape 3"/>
          <p:cNvSpPr/>
          <p:nvPr/>
        </p:nvSpPr>
        <p:spPr>
          <a:xfrm>
            <a:off x="640080" y="2267712"/>
            <a:ext cx="5349240" cy="2880360"/>
          </a:xfrm>
          <a:prstGeom prst="roundRect">
            <a:avLst>
              <a:gd name="adj" fmla="val 2540"/>
            </a:avLst>
          </a:prstGeom>
          <a:solidFill>
            <a:srgbClr val="F4F5F7"/>
          </a:solidFill>
          <a:ln/>
          <a:effectLst>
            <a:outerShdw sx="100000" sy="100000" kx="0" ky="0" algn="bl" rotWithShape="0" blurRad="101600" dist="12700" dir="5400000">
              <a:srgbClr val="000000">
                <a:alpha val="8000"/>
              </a:srgbClr>
            </a:outerShdw>
          </a:effectLst>
        </p:spPr>
      </p:sp>
      <p:sp>
        <p:nvSpPr>
          <p:cNvPr id="6" name="Text 4"/>
          <p:cNvSpPr/>
          <p:nvPr/>
        </p:nvSpPr>
        <p:spPr>
          <a:xfrm>
            <a:off x="969264" y="2450592"/>
            <a:ext cx="4663440" cy="292608"/>
          </a:xfrm>
          <a:prstGeom prst="rect">
            <a:avLst/>
          </a:prstGeom>
          <a:noFill/>
          <a:ln/>
        </p:spPr>
        <p:txBody>
          <a:bodyPr wrap="square" lIns="0" tIns="0" rIns="0" bIns="0" rtlCol="0" anchor="ctr"/>
          <a:lstStyle/>
          <a:p>
            <a:pPr indent="0" marL="0">
              <a:buNone/>
            </a:pPr>
            <a:r>
              <a:rPr lang="en-US" sz="1300" b="1" dirty="0">
                <a:solidFill>
                  <a:srgbClr val="1A1C20"/>
                </a:solidFill>
                <a:latin typeface="Arial" pitchFamily="34" charset="0"/>
                <a:ea typeface="Arial" pitchFamily="34" charset="-122"/>
                <a:cs typeface="Arial" pitchFamily="34" charset="-120"/>
              </a:rPr>
              <a:t>Las tres preguntas del punto de venta</a:t>
            </a:r>
            <a:endParaRPr lang="en-US" sz="1300" dirty="0"/>
          </a:p>
        </p:txBody>
      </p:sp>
      <p:sp>
        <p:nvSpPr>
          <p:cNvPr id="7" name="Text 5"/>
          <p:cNvSpPr/>
          <p:nvPr/>
        </p:nvSpPr>
        <p:spPr>
          <a:xfrm>
            <a:off x="969264" y="2788920"/>
            <a:ext cx="4709160" cy="548640"/>
          </a:xfrm>
          <a:prstGeom prst="rect">
            <a:avLst/>
          </a:prstGeom>
          <a:noFill/>
          <a:ln/>
        </p:spPr>
        <p:txBody>
          <a:bodyPr wrap="square" lIns="0" tIns="0" rIns="0" bIns="0" rtlCol="0" anchor="ctr"/>
          <a:lstStyle/>
          <a:p>
            <a:pPr indent="0" marL="0">
              <a:lnSpc>
                <a:spcPts val="1500"/>
              </a:lnSpc>
              <a:buNone/>
            </a:pPr>
            <a:r>
              <a:rPr lang="en-US" sz="1100" dirty="0">
                <a:solidFill>
                  <a:srgbClr val="60656F"/>
                </a:solidFill>
                <a:latin typeface="Arial" pitchFamily="34" charset="0"/>
                <a:ea typeface="Arial" pitchFamily="34" charset="-122"/>
                <a:cs typeface="Arial" pitchFamily="34" charset="-120"/>
              </a:rPr>
              <a:t>La fuente de datos más barata que tiene Arranca, y hoy no se está usando. No es un formulario: es el vendedor anotando tres campos.</a:t>
            </a:r>
            <a:endParaRPr lang="en-US" sz="1100" dirty="0"/>
          </a:p>
        </p:txBody>
      </p:sp>
      <p:sp>
        <p:nvSpPr>
          <p:cNvPr id="8" name="Shape 6"/>
          <p:cNvSpPr/>
          <p:nvPr/>
        </p:nvSpPr>
        <p:spPr>
          <a:xfrm>
            <a:off x="969264" y="3401568"/>
            <a:ext cx="347472" cy="347472"/>
          </a:xfrm>
          <a:prstGeom prst="ellipse">
            <a:avLst/>
          </a:prstGeom>
          <a:solidFill>
            <a:srgbClr val="F2A73B"/>
          </a:solidFill>
          <a:ln/>
        </p:spPr>
      </p:sp>
      <p:sp>
        <p:nvSpPr>
          <p:cNvPr id="9" name="Text 7"/>
          <p:cNvSpPr/>
          <p:nvPr/>
        </p:nvSpPr>
        <p:spPr>
          <a:xfrm>
            <a:off x="969264" y="3401568"/>
            <a:ext cx="347472" cy="347472"/>
          </a:xfrm>
          <a:prstGeom prst="rect">
            <a:avLst/>
          </a:prstGeom>
          <a:noFill/>
          <a:ln/>
        </p:spPr>
        <p:txBody>
          <a:bodyPr wrap="square" lIns="0" tIns="0" rIns="0" bIns="0" rtlCol="0" anchor="ctr"/>
          <a:lstStyle/>
          <a:p>
            <a:pPr algn="ctr" indent="0" marL="0">
              <a:buNone/>
            </a:pPr>
            <a:r>
              <a:rPr lang="en-US" sz="1300" b="1" dirty="0">
                <a:solidFill>
                  <a:srgbClr val="22252A"/>
                </a:solidFill>
                <a:latin typeface="Arial" pitchFamily="34" charset="0"/>
                <a:ea typeface="Arial" pitchFamily="34" charset="-122"/>
                <a:cs typeface="Arial" pitchFamily="34" charset="-120"/>
              </a:rPr>
              <a:t>1</a:t>
            </a:r>
            <a:endParaRPr lang="en-US" sz="1300" dirty="0"/>
          </a:p>
        </p:txBody>
      </p:sp>
      <p:sp>
        <p:nvSpPr>
          <p:cNvPr id="10" name="Text 8"/>
          <p:cNvSpPr/>
          <p:nvPr/>
        </p:nvSpPr>
        <p:spPr>
          <a:xfrm>
            <a:off x="1426464" y="3401568"/>
            <a:ext cx="4206240" cy="347472"/>
          </a:xfrm>
          <a:prstGeom prst="rect">
            <a:avLst/>
          </a:prstGeom>
          <a:noFill/>
          <a:ln/>
        </p:spPr>
        <p:txBody>
          <a:bodyPr wrap="square" lIns="0" tIns="0" rIns="0" bIns="0" rtlCol="0" anchor="ctr"/>
          <a:lstStyle/>
          <a:p>
            <a:pPr indent="0" marL="0">
              <a:buNone/>
            </a:pPr>
            <a:r>
              <a:rPr lang="en-US" sz="1150" b="1" dirty="0">
                <a:solidFill>
                  <a:srgbClr val="3A3F49"/>
                </a:solidFill>
                <a:latin typeface="Arial" pitchFamily="34" charset="0"/>
                <a:ea typeface="Arial" pitchFamily="34" charset="-122"/>
                <a:cs typeface="Arial" pitchFamily="34" charset="-120"/>
              </a:rPr>
              <a:t>¿Para qué la va a usar principalmente?</a:t>
            </a:r>
            <a:endParaRPr lang="en-US" sz="1150" dirty="0"/>
          </a:p>
        </p:txBody>
      </p:sp>
      <p:sp>
        <p:nvSpPr>
          <p:cNvPr id="11" name="Shape 9"/>
          <p:cNvSpPr/>
          <p:nvPr/>
        </p:nvSpPr>
        <p:spPr>
          <a:xfrm>
            <a:off x="969264" y="3904488"/>
            <a:ext cx="347472" cy="347472"/>
          </a:xfrm>
          <a:prstGeom prst="ellipse">
            <a:avLst/>
          </a:prstGeom>
          <a:solidFill>
            <a:srgbClr val="F2A73B"/>
          </a:solidFill>
          <a:ln/>
        </p:spPr>
      </p:sp>
      <p:sp>
        <p:nvSpPr>
          <p:cNvPr id="12" name="Text 10"/>
          <p:cNvSpPr/>
          <p:nvPr/>
        </p:nvSpPr>
        <p:spPr>
          <a:xfrm>
            <a:off x="969264" y="3904488"/>
            <a:ext cx="347472" cy="347472"/>
          </a:xfrm>
          <a:prstGeom prst="rect">
            <a:avLst/>
          </a:prstGeom>
          <a:noFill/>
          <a:ln/>
        </p:spPr>
        <p:txBody>
          <a:bodyPr wrap="square" lIns="0" tIns="0" rIns="0" bIns="0" rtlCol="0" anchor="ctr"/>
          <a:lstStyle/>
          <a:p>
            <a:pPr algn="ctr" indent="0" marL="0">
              <a:buNone/>
            </a:pPr>
            <a:r>
              <a:rPr lang="en-US" sz="1300" b="1" dirty="0">
                <a:solidFill>
                  <a:srgbClr val="22252A"/>
                </a:solidFill>
                <a:latin typeface="Arial" pitchFamily="34" charset="0"/>
                <a:ea typeface="Arial" pitchFamily="34" charset="-122"/>
                <a:cs typeface="Arial" pitchFamily="34" charset="-120"/>
              </a:rPr>
              <a:t>2</a:t>
            </a:r>
            <a:endParaRPr lang="en-US" sz="1300" dirty="0"/>
          </a:p>
        </p:txBody>
      </p:sp>
      <p:sp>
        <p:nvSpPr>
          <p:cNvPr id="13" name="Text 11"/>
          <p:cNvSpPr/>
          <p:nvPr/>
        </p:nvSpPr>
        <p:spPr>
          <a:xfrm>
            <a:off x="1426464" y="3904488"/>
            <a:ext cx="4206240" cy="347472"/>
          </a:xfrm>
          <a:prstGeom prst="rect">
            <a:avLst/>
          </a:prstGeom>
          <a:noFill/>
          <a:ln/>
        </p:spPr>
        <p:txBody>
          <a:bodyPr wrap="square" lIns="0" tIns="0" rIns="0" bIns="0" rtlCol="0" anchor="ctr"/>
          <a:lstStyle/>
          <a:p>
            <a:pPr indent="0" marL="0">
              <a:buNone/>
            </a:pPr>
            <a:r>
              <a:rPr lang="en-US" sz="1150" b="1" dirty="0">
                <a:solidFill>
                  <a:srgbClr val="3A3F49"/>
                </a:solidFill>
                <a:latin typeface="Arial" pitchFamily="34" charset="0"/>
                <a:ea typeface="Arial" pitchFamily="34" charset="-122"/>
                <a:cs typeface="Arial" pitchFamily="34" charset="-120"/>
              </a:rPr>
              <a:t>¿De dónde va a salir la cuota?</a:t>
            </a:r>
            <a:endParaRPr lang="en-US" sz="1150" dirty="0"/>
          </a:p>
        </p:txBody>
      </p:sp>
      <p:sp>
        <p:nvSpPr>
          <p:cNvPr id="14" name="Shape 12"/>
          <p:cNvSpPr/>
          <p:nvPr/>
        </p:nvSpPr>
        <p:spPr>
          <a:xfrm>
            <a:off x="969264" y="4407408"/>
            <a:ext cx="347472" cy="347472"/>
          </a:xfrm>
          <a:prstGeom prst="ellipse">
            <a:avLst/>
          </a:prstGeom>
          <a:solidFill>
            <a:srgbClr val="F2A73B"/>
          </a:solidFill>
          <a:ln/>
        </p:spPr>
      </p:sp>
      <p:sp>
        <p:nvSpPr>
          <p:cNvPr id="15" name="Text 13"/>
          <p:cNvSpPr/>
          <p:nvPr/>
        </p:nvSpPr>
        <p:spPr>
          <a:xfrm>
            <a:off x="969264" y="4407408"/>
            <a:ext cx="347472" cy="347472"/>
          </a:xfrm>
          <a:prstGeom prst="rect">
            <a:avLst/>
          </a:prstGeom>
          <a:noFill/>
          <a:ln/>
        </p:spPr>
        <p:txBody>
          <a:bodyPr wrap="square" lIns="0" tIns="0" rIns="0" bIns="0" rtlCol="0" anchor="ctr"/>
          <a:lstStyle/>
          <a:p>
            <a:pPr algn="ctr" indent="0" marL="0">
              <a:buNone/>
            </a:pPr>
            <a:r>
              <a:rPr lang="en-US" sz="1300" b="1" dirty="0">
                <a:solidFill>
                  <a:srgbClr val="22252A"/>
                </a:solidFill>
                <a:latin typeface="Arial" pitchFamily="34" charset="0"/>
                <a:ea typeface="Arial" pitchFamily="34" charset="-122"/>
                <a:cs typeface="Arial" pitchFamily="34" charset="-120"/>
              </a:rPr>
              <a:t>3</a:t>
            </a:r>
            <a:endParaRPr lang="en-US" sz="1300" dirty="0"/>
          </a:p>
        </p:txBody>
      </p:sp>
      <p:sp>
        <p:nvSpPr>
          <p:cNvPr id="16" name="Text 14"/>
          <p:cNvSpPr/>
          <p:nvPr/>
        </p:nvSpPr>
        <p:spPr>
          <a:xfrm>
            <a:off x="1426464" y="4407408"/>
            <a:ext cx="4206240" cy="347472"/>
          </a:xfrm>
          <a:prstGeom prst="rect">
            <a:avLst/>
          </a:prstGeom>
          <a:noFill/>
          <a:ln/>
        </p:spPr>
        <p:txBody>
          <a:bodyPr wrap="square" lIns="0" tIns="0" rIns="0" bIns="0" rtlCol="0" anchor="ctr"/>
          <a:lstStyle/>
          <a:p>
            <a:pPr indent="0" marL="0">
              <a:buNone/>
            </a:pPr>
            <a:r>
              <a:rPr lang="en-US" sz="1150" b="1" dirty="0">
                <a:solidFill>
                  <a:srgbClr val="3A3F49"/>
                </a:solidFill>
                <a:latin typeface="Arial" pitchFamily="34" charset="0"/>
                <a:ea typeface="Arial" pitchFamily="34" charset="-122"/>
                <a:cs typeface="Arial" pitchFamily="34" charset="-120"/>
              </a:rPr>
              <a:t>¿Cómo se enteró de Arranca?</a:t>
            </a:r>
            <a:endParaRPr lang="en-US" sz="1150" dirty="0"/>
          </a:p>
        </p:txBody>
      </p:sp>
      <p:sp>
        <p:nvSpPr>
          <p:cNvPr id="17" name="Shape 15"/>
          <p:cNvSpPr/>
          <p:nvPr/>
        </p:nvSpPr>
        <p:spPr>
          <a:xfrm>
            <a:off x="6172200" y="2267712"/>
            <a:ext cx="5349240" cy="2880360"/>
          </a:xfrm>
          <a:prstGeom prst="roundRect">
            <a:avLst>
              <a:gd name="adj" fmla="val 2540"/>
            </a:avLst>
          </a:prstGeom>
          <a:solidFill>
            <a:srgbClr val="22252A"/>
          </a:solidFill>
          <a:ln/>
          <a:effectLst>
            <a:outerShdw sx="100000" sy="100000" kx="0" ky="0" algn="bl" rotWithShape="0" blurRad="101600" dist="12700" dir="5400000">
              <a:srgbClr val="000000">
                <a:alpha val="8000"/>
              </a:srgbClr>
            </a:outerShdw>
          </a:effectLst>
        </p:spPr>
      </p:sp>
      <p:sp>
        <p:nvSpPr>
          <p:cNvPr id="18" name="Text 16"/>
          <p:cNvSpPr/>
          <p:nvPr/>
        </p:nvSpPr>
        <p:spPr>
          <a:xfrm>
            <a:off x="6501384" y="2450592"/>
            <a:ext cx="4663440" cy="292608"/>
          </a:xfrm>
          <a:prstGeom prst="rect">
            <a:avLst/>
          </a:prstGeom>
          <a:noFill/>
          <a:ln/>
        </p:spPr>
        <p:txBody>
          <a:bodyPr wrap="square" lIns="0" tIns="0" rIns="0" bIns="0" rtlCol="0" anchor="ctr"/>
          <a:lstStyle/>
          <a:p>
            <a:pPr indent="0" marL="0">
              <a:buNone/>
            </a:pPr>
            <a:r>
              <a:rPr lang="en-US" sz="1300" b="1" dirty="0">
                <a:solidFill>
                  <a:srgbClr val="F2A73B"/>
                </a:solidFill>
                <a:latin typeface="Arial" pitchFamily="34" charset="0"/>
                <a:ea typeface="Arial" pitchFamily="34" charset="-122"/>
                <a:cs typeface="Arial" pitchFamily="34" charset="-120"/>
              </a:rPr>
              <a:t>Orden de ejecución</a:t>
            </a:r>
            <a:endParaRPr lang="en-US" sz="1300" dirty="0"/>
          </a:p>
        </p:txBody>
      </p:sp>
      <p:sp>
        <p:nvSpPr>
          <p:cNvPr id="19" name="Text 17"/>
          <p:cNvSpPr/>
          <p:nvPr/>
        </p:nvSpPr>
        <p:spPr>
          <a:xfrm>
            <a:off x="6501384" y="2816352"/>
            <a:ext cx="1828800" cy="237744"/>
          </a:xfrm>
          <a:prstGeom prst="rect">
            <a:avLst/>
          </a:prstGeom>
          <a:noFill/>
          <a:ln/>
        </p:spPr>
        <p:txBody>
          <a:bodyPr wrap="square" lIns="0" tIns="0" rIns="0" bIns="0" rtlCol="0" anchor="ctr"/>
          <a:lstStyle/>
          <a:p>
            <a:pPr indent="0" marL="0">
              <a:buNone/>
            </a:pPr>
            <a:r>
              <a:rPr lang="en-US" sz="950" b="1" spc="100" kern="0" dirty="0">
                <a:solidFill>
                  <a:srgbClr val="F2A73B"/>
                </a:solidFill>
                <a:latin typeface="Arial" pitchFamily="34" charset="0"/>
                <a:ea typeface="Arial" pitchFamily="34" charset="-122"/>
                <a:cs typeface="Arial" pitchFamily="34" charset="-120"/>
              </a:rPr>
              <a:t>SEMANA 1</a:t>
            </a:r>
            <a:endParaRPr lang="en-US" sz="950" dirty="0"/>
          </a:p>
        </p:txBody>
      </p:sp>
      <p:sp>
        <p:nvSpPr>
          <p:cNvPr id="20" name="Text 18"/>
          <p:cNvSpPr/>
          <p:nvPr/>
        </p:nvSpPr>
        <p:spPr>
          <a:xfrm>
            <a:off x="6501384" y="3054096"/>
            <a:ext cx="4709160" cy="548640"/>
          </a:xfrm>
          <a:prstGeom prst="rect">
            <a:avLst/>
          </a:prstGeom>
          <a:noFill/>
          <a:ln/>
        </p:spPr>
        <p:txBody>
          <a:bodyPr wrap="square" lIns="0" tIns="0" rIns="0" bIns="0" rtlCol="0" anchor="ctr"/>
          <a:lstStyle/>
          <a:p>
            <a:pPr indent="0" marL="0">
              <a:lnSpc>
                <a:spcPts val="1500"/>
              </a:lnSpc>
              <a:buNone/>
            </a:pPr>
            <a:r>
              <a:rPr lang="en-US" sz="1100" dirty="0">
                <a:solidFill>
                  <a:srgbClr val="D5D9DF"/>
                </a:solidFill>
                <a:latin typeface="Arial" pitchFamily="34" charset="0"/>
                <a:ea typeface="Arial" pitchFamily="34" charset="-122"/>
                <a:cs typeface="Arial" pitchFamily="34" charset="-120"/>
              </a:rPr>
              <a:t>Arrancar el registro en punto de venta. Cada semana sin registrar es una semana perdida para siempre.</a:t>
            </a:r>
            <a:endParaRPr lang="en-US" sz="1100" dirty="0"/>
          </a:p>
        </p:txBody>
      </p:sp>
      <p:sp>
        <p:nvSpPr>
          <p:cNvPr id="21" name="Text 19"/>
          <p:cNvSpPr/>
          <p:nvPr/>
        </p:nvSpPr>
        <p:spPr>
          <a:xfrm>
            <a:off x="6501384" y="3602736"/>
            <a:ext cx="1828800" cy="237744"/>
          </a:xfrm>
          <a:prstGeom prst="rect">
            <a:avLst/>
          </a:prstGeom>
          <a:noFill/>
          <a:ln/>
        </p:spPr>
        <p:txBody>
          <a:bodyPr wrap="square" lIns="0" tIns="0" rIns="0" bIns="0" rtlCol="0" anchor="ctr"/>
          <a:lstStyle/>
          <a:p>
            <a:pPr indent="0" marL="0">
              <a:buNone/>
            </a:pPr>
            <a:r>
              <a:rPr lang="en-US" sz="950" b="1" spc="100" kern="0" dirty="0">
                <a:solidFill>
                  <a:srgbClr val="F2A73B"/>
                </a:solidFill>
                <a:latin typeface="Arial" pitchFamily="34" charset="0"/>
                <a:ea typeface="Arial" pitchFamily="34" charset="-122"/>
                <a:cs typeface="Arial" pitchFamily="34" charset="-120"/>
              </a:rPr>
              <a:t>SEMANAS 1–2</a:t>
            </a:r>
            <a:endParaRPr lang="en-US" sz="950" dirty="0"/>
          </a:p>
        </p:txBody>
      </p:sp>
      <p:sp>
        <p:nvSpPr>
          <p:cNvPr id="22" name="Text 20"/>
          <p:cNvSpPr/>
          <p:nvPr/>
        </p:nvSpPr>
        <p:spPr>
          <a:xfrm>
            <a:off x="6501384" y="3840480"/>
            <a:ext cx="4709160" cy="548640"/>
          </a:xfrm>
          <a:prstGeom prst="rect">
            <a:avLst/>
          </a:prstGeom>
          <a:noFill/>
          <a:ln/>
        </p:spPr>
        <p:txBody>
          <a:bodyPr wrap="square" lIns="0" tIns="0" rIns="0" bIns="0" rtlCol="0" anchor="ctr"/>
          <a:lstStyle/>
          <a:p>
            <a:pPr indent="0" marL="0">
              <a:lnSpc>
                <a:spcPts val="1500"/>
              </a:lnSpc>
              <a:buNone/>
            </a:pPr>
            <a:r>
              <a:rPr lang="en-US" sz="1100" dirty="0">
                <a:solidFill>
                  <a:srgbClr val="D5D9DF"/>
                </a:solidFill>
                <a:latin typeface="Arial" pitchFamily="34" charset="0"/>
                <a:ea typeface="Arial" pitchFamily="34" charset="-122"/>
                <a:cs typeface="Arial" pitchFamily="34" charset="-120"/>
              </a:rPr>
              <a:t>Pedir la extracción al área de financiamiento. El dato ya existe: resuelve seis de las nueve hipótesis con historial.</a:t>
            </a:r>
            <a:endParaRPr lang="en-US" sz="1100" dirty="0"/>
          </a:p>
        </p:txBody>
      </p:sp>
      <p:sp>
        <p:nvSpPr>
          <p:cNvPr id="23" name="Text 21"/>
          <p:cNvSpPr/>
          <p:nvPr/>
        </p:nvSpPr>
        <p:spPr>
          <a:xfrm>
            <a:off x="6501384" y="4389120"/>
            <a:ext cx="1828800" cy="237744"/>
          </a:xfrm>
          <a:prstGeom prst="rect">
            <a:avLst/>
          </a:prstGeom>
          <a:noFill/>
          <a:ln/>
        </p:spPr>
        <p:txBody>
          <a:bodyPr wrap="square" lIns="0" tIns="0" rIns="0" bIns="0" rtlCol="0" anchor="ctr"/>
          <a:lstStyle/>
          <a:p>
            <a:pPr indent="0" marL="0">
              <a:buNone/>
            </a:pPr>
            <a:r>
              <a:rPr lang="en-US" sz="950" b="1" spc="100" kern="0" dirty="0">
                <a:solidFill>
                  <a:srgbClr val="F2A73B"/>
                </a:solidFill>
                <a:latin typeface="Arial" pitchFamily="34" charset="0"/>
                <a:ea typeface="Arial" pitchFamily="34" charset="-122"/>
                <a:cs typeface="Arial" pitchFamily="34" charset="-120"/>
              </a:rPr>
              <a:t>SEMANAS 3–7</a:t>
            </a:r>
            <a:endParaRPr lang="en-US" sz="950" dirty="0"/>
          </a:p>
        </p:txBody>
      </p:sp>
      <p:sp>
        <p:nvSpPr>
          <p:cNvPr id="24" name="Text 22"/>
          <p:cNvSpPr/>
          <p:nvPr/>
        </p:nvSpPr>
        <p:spPr>
          <a:xfrm>
            <a:off x="6501384" y="4626864"/>
            <a:ext cx="4709160" cy="548640"/>
          </a:xfrm>
          <a:prstGeom prst="rect">
            <a:avLst/>
          </a:prstGeom>
          <a:noFill/>
          <a:ln/>
        </p:spPr>
        <p:txBody>
          <a:bodyPr wrap="square" lIns="0" tIns="0" rIns="0" bIns="0" rtlCol="0" anchor="ctr"/>
          <a:lstStyle/>
          <a:p>
            <a:pPr indent="0" marL="0">
              <a:lnSpc>
                <a:spcPts val="1500"/>
              </a:lnSpc>
              <a:buNone/>
            </a:pPr>
            <a:r>
              <a:rPr lang="en-US" sz="1100" dirty="0">
                <a:solidFill>
                  <a:srgbClr val="D5D9DF"/>
                </a:solidFill>
                <a:latin typeface="Arial" pitchFamily="34" charset="0"/>
                <a:ea typeface="Arial" pitchFamily="34" charset="-122"/>
                <a:cs typeface="Arial" pitchFamily="34" charset="-120"/>
              </a:rPr>
              <a:t>Entrevistas a los segmentos productivos, y después al interior.</a:t>
            </a:r>
            <a:endParaRPr lang="en-US" sz="1100" dirty="0"/>
          </a:p>
        </p:txBody>
      </p:sp>
      <p:sp>
        <p:nvSpPr>
          <p:cNvPr id="25" name="Shape 23"/>
          <p:cNvSpPr/>
          <p:nvPr/>
        </p:nvSpPr>
        <p:spPr>
          <a:xfrm>
            <a:off x="640080" y="5349240"/>
            <a:ext cx="10881360" cy="749808"/>
          </a:xfrm>
          <a:prstGeom prst="roundRect">
            <a:avLst>
              <a:gd name="adj" fmla="val 9756"/>
            </a:avLst>
          </a:prstGeom>
          <a:solidFill>
            <a:srgbClr val="F4F5F7"/>
          </a:solidFill>
          <a:ln/>
          <a:effectLst>
            <a:outerShdw sx="100000" sy="100000" kx="0" ky="0" algn="bl" rotWithShape="0" blurRad="101600" dist="12700" dir="5400000">
              <a:srgbClr val="000000">
                <a:alpha val="8000"/>
              </a:srgbClr>
            </a:outerShdw>
          </a:effectLst>
        </p:spPr>
      </p:sp>
      <p:sp>
        <p:nvSpPr>
          <p:cNvPr id="26" name="Text 24"/>
          <p:cNvSpPr/>
          <p:nvPr/>
        </p:nvSpPr>
        <p:spPr>
          <a:xfrm>
            <a:off x="1005840" y="5468112"/>
            <a:ext cx="10149840" cy="512064"/>
          </a:xfrm>
          <a:prstGeom prst="rect">
            <a:avLst/>
          </a:prstGeom>
          <a:noFill/>
          <a:ln/>
        </p:spPr>
        <p:txBody>
          <a:bodyPr wrap="square" lIns="0" tIns="0" rIns="0" bIns="0" rtlCol="0" anchor="ctr"/>
          <a:lstStyle/>
          <a:p>
            <a:pPr indent="0" marL="0">
              <a:buNone/>
            </a:pPr>
            <a:r>
              <a:rPr lang="en-US" sz="1200" dirty="0">
                <a:solidFill>
                  <a:srgbClr val="3A3F49"/>
                </a:solidFill>
                <a:latin typeface="Arial" pitchFamily="34" charset="0"/>
                <a:ea typeface="Arial" pitchFamily="34" charset="-122"/>
                <a:cs typeface="Arial" pitchFamily="34" charset="-120"/>
              </a:rPr>
              <a:t>Revisión a los 90 días. Un perfil que no resiste su propia prueba se elimina — no se conserva «por si acaso». Mantener perfiles no validados es lo que convierte una estrategia en folclore interno.</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22252A"/>
        </a:solidFill>
      </p:bgPr>
    </p:bg>
    <p:spTree>
      <p:nvGrpSpPr>
        <p:cNvPr id="1" name=""/>
        <p:cNvGrpSpPr/>
        <p:nvPr/>
      </p:nvGrpSpPr>
      <p:grpSpPr>
        <a:xfrm>
          <a:off x="0" y="0"/>
          <a:ext cx="0" cy="0"/>
          <a:chOff x="0" y="0"/>
          <a:chExt cx="0" cy="0"/>
        </a:xfrm>
      </p:grpSpPr>
      <p:sp>
        <p:nvSpPr>
          <p:cNvPr id="2" name="Shape 0"/>
          <p:cNvSpPr/>
          <p:nvPr/>
        </p:nvSpPr>
        <p:spPr>
          <a:xfrm>
            <a:off x="-1645920" y="4023360"/>
            <a:ext cx="4206240" cy="4206240"/>
          </a:xfrm>
          <a:prstGeom prst="ellipse">
            <a:avLst/>
          </a:prstGeom>
          <a:solidFill>
            <a:srgbClr val="31353D"/>
          </a:solidFill>
          <a:ln/>
        </p:spPr>
      </p:sp>
      <p:sp>
        <p:nvSpPr>
          <p:cNvPr id="3" name="Text 1"/>
          <p:cNvSpPr/>
          <p:nvPr/>
        </p:nvSpPr>
        <p:spPr>
          <a:xfrm>
            <a:off x="640080" y="868680"/>
            <a:ext cx="7680960" cy="292608"/>
          </a:xfrm>
          <a:prstGeom prst="rect">
            <a:avLst/>
          </a:prstGeom>
          <a:noFill/>
          <a:ln/>
        </p:spPr>
        <p:txBody>
          <a:bodyPr wrap="square" lIns="0" tIns="0" rIns="0" bIns="0" rtlCol="0" anchor="ctr"/>
          <a:lstStyle/>
          <a:p>
            <a:pPr indent="0" marL="0">
              <a:buNone/>
            </a:pPr>
            <a:r>
              <a:rPr lang="en-US" sz="1200" b="1" spc="300" kern="0" dirty="0">
                <a:solidFill>
                  <a:srgbClr val="F2A73B"/>
                </a:solidFill>
                <a:latin typeface="Arial" pitchFamily="34" charset="0"/>
                <a:ea typeface="Arial" pitchFamily="34" charset="-122"/>
                <a:cs typeface="Arial" pitchFamily="34" charset="-120"/>
              </a:rPr>
              <a:t>QUÉ HACER PRIMERO</a:t>
            </a:r>
            <a:endParaRPr lang="en-US" sz="1200" dirty="0"/>
          </a:p>
        </p:txBody>
      </p:sp>
      <p:sp>
        <p:nvSpPr>
          <p:cNvPr id="4" name="Text 2"/>
          <p:cNvSpPr/>
          <p:nvPr/>
        </p:nvSpPr>
        <p:spPr>
          <a:xfrm>
            <a:off x="640080" y="1234440"/>
            <a:ext cx="10058400" cy="6858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Tres acciones, en orden de retorno</a:t>
            </a:r>
            <a:endParaRPr lang="en-US" sz="3800" dirty="0"/>
          </a:p>
        </p:txBody>
      </p:sp>
      <p:sp>
        <p:nvSpPr>
          <p:cNvPr id="5" name="Shape 3"/>
          <p:cNvSpPr/>
          <p:nvPr/>
        </p:nvSpPr>
        <p:spPr>
          <a:xfrm>
            <a:off x="640080" y="2468880"/>
            <a:ext cx="566928" cy="566928"/>
          </a:xfrm>
          <a:prstGeom prst="ellipse">
            <a:avLst/>
          </a:prstGeom>
          <a:solidFill>
            <a:srgbClr val="F2A73B"/>
          </a:solidFill>
          <a:ln/>
        </p:spPr>
      </p:sp>
      <p:sp>
        <p:nvSpPr>
          <p:cNvPr id="6" name="Text 4"/>
          <p:cNvSpPr/>
          <p:nvPr/>
        </p:nvSpPr>
        <p:spPr>
          <a:xfrm>
            <a:off x="640080" y="2468880"/>
            <a:ext cx="566928" cy="566928"/>
          </a:xfrm>
          <a:prstGeom prst="rect">
            <a:avLst/>
          </a:prstGeom>
          <a:noFill/>
          <a:ln/>
        </p:spPr>
        <p:txBody>
          <a:bodyPr wrap="square" lIns="0" tIns="0" rIns="0" bIns="0" rtlCol="0" anchor="ctr"/>
          <a:lstStyle/>
          <a:p>
            <a:pPr algn="ctr" indent="0" marL="0">
              <a:buNone/>
            </a:pPr>
            <a:r>
              <a:rPr lang="en-US" sz="1300" b="1" dirty="0">
                <a:solidFill>
                  <a:srgbClr val="22252A"/>
                </a:solidFill>
                <a:latin typeface="Arial" pitchFamily="34" charset="0"/>
                <a:ea typeface="Arial" pitchFamily="34" charset="-122"/>
                <a:cs typeface="Arial" pitchFamily="34" charset="-120"/>
              </a:rPr>
              <a:t>1</a:t>
            </a:r>
            <a:endParaRPr lang="en-US" sz="1300" dirty="0"/>
          </a:p>
        </p:txBody>
      </p:sp>
      <p:sp>
        <p:nvSpPr>
          <p:cNvPr id="7" name="Text 5"/>
          <p:cNvSpPr/>
          <p:nvPr/>
        </p:nvSpPr>
        <p:spPr>
          <a:xfrm>
            <a:off x="1508760" y="2377440"/>
            <a:ext cx="2011680" cy="237744"/>
          </a:xfrm>
          <a:prstGeom prst="rect">
            <a:avLst/>
          </a:prstGeom>
          <a:noFill/>
          <a:ln/>
        </p:spPr>
        <p:txBody>
          <a:bodyPr wrap="square" lIns="0" tIns="0" rIns="0" bIns="0" rtlCol="0" anchor="ctr"/>
          <a:lstStyle/>
          <a:p>
            <a:pPr indent="0" marL="0">
              <a:buNone/>
            </a:pPr>
            <a:r>
              <a:rPr lang="en-US" sz="950" b="1" spc="150" kern="0" dirty="0">
                <a:solidFill>
                  <a:srgbClr val="F2A73B"/>
                </a:solidFill>
                <a:latin typeface="Arial" pitchFamily="34" charset="0"/>
                <a:ea typeface="Arial" pitchFamily="34" charset="-122"/>
                <a:cs typeface="Arial" pitchFamily="34" charset="-120"/>
              </a:rPr>
              <a:t>ESTA SEMANA</a:t>
            </a:r>
            <a:endParaRPr lang="en-US" sz="950" dirty="0"/>
          </a:p>
        </p:txBody>
      </p:sp>
      <p:sp>
        <p:nvSpPr>
          <p:cNvPr id="8" name="Text 6"/>
          <p:cNvSpPr/>
          <p:nvPr/>
        </p:nvSpPr>
        <p:spPr>
          <a:xfrm>
            <a:off x="1508760" y="2624328"/>
            <a:ext cx="9692640" cy="329184"/>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Arrancar el registro de tres preguntas en punto de venta</a:t>
            </a:r>
            <a:endParaRPr lang="en-US" sz="1600" dirty="0"/>
          </a:p>
        </p:txBody>
      </p:sp>
      <p:sp>
        <p:nvSpPr>
          <p:cNvPr id="9" name="Text 7"/>
          <p:cNvSpPr/>
          <p:nvPr/>
        </p:nvSpPr>
        <p:spPr>
          <a:xfrm>
            <a:off x="1508760" y="2980944"/>
            <a:ext cx="9692640" cy="292608"/>
          </a:xfrm>
          <a:prstGeom prst="rect">
            <a:avLst/>
          </a:prstGeom>
          <a:noFill/>
          <a:ln/>
        </p:spPr>
        <p:txBody>
          <a:bodyPr wrap="square" lIns="0" tIns="0" rIns="0" bIns="0" rtlCol="0" anchor="ctr"/>
          <a:lstStyle/>
          <a:p>
            <a:pPr indent="0" marL="0">
              <a:buNone/>
            </a:pPr>
            <a:r>
              <a:rPr lang="en-US" sz="1200" dirty="0">
                <a:solidFill>
                  <a:srgbClr val="9AA0AA"/>
                </a:solidFill>
                <a:latin typeface="Arial" pitchFamily="34" charset="0"/>
                <a:ea typeface="Arial" pitchFamily="34" charset="-122"/>
                <a:cs typeface="Arial" pitchFamily="34" charset="-120"/>
              </a:rPr>
              <a:t>Cuesta casi nada y es el cuello de botella de todo lo demás.</a:t>
            </a:r>
            <a:endParaRPr lang="en-US" sz="1200" dirty="0"/>
          </a:p>
        </p:txBody>
      </p:sp>
      <p:sp>
        <p:nvSpPr>
          <p:cNvPr id="10" name="Shape 8"/>
          <p:cNvSpPr/>
          <p:nvPr/>
        </p:nvSpPr>
        <p:spPr>
          <a:xfrm>
            <a:off x="640080" y="3639312"/>
            <a:ext cx="566928" cy="566928"/>
          </a:xfrm>
          <a:prstGeom prst="ellipse">
            <a:avLst/>
          </a:prstGeom>
          <a:solidFill>
            <a:srgbClr val="F2A73B"/>
          </a:solidFill>
          <a:ln/>
        </p:spPr>
      </p:sp>
      <p:sp>
        <p:nvSpPr>
          <p:cNvPr id="11" name="Text 9"/>
          <p:cNvSpPr/>
          <p:nvPr/>
        </p:nvSpPr>
        <p:spPr>
          <a:xfrm>
            <a:off x="640080" y="3639312"/>
            <a:ext cx="566928" cy="566928"/>
          </a:xfrm>
          <a:prstGeom prst="rect">
            <a:avLst/>
          </a:prstGeom>
          <a:noFill/>
          <a:ln/>
        </p:spPr>
        <p:txBody>
          <a:bodyPr wrap="square" lIns="0" tIns="0" rIns="0" bIns="0" rtlCol="0" anchor="ctr"/>
          <a:lstStyle/>
          <a:p>
            <a:pPr algn="ctr" indent="0" marL="0">
              <a:buNone/>
            </a:pPr>
            <a:r>
              <a:rPr lang="en-US" sz="1300" b="1" dirty="0">
                <a:solidFill>
                  <a:srgbClr val="22252A"/>
                </a:solidFill>
                <a:latin typeface="Arial" pitchFamily="34" charset="0"/>
                <a:ea typeface="Arial" pitchFamily="34" charset="-122"/>
                <a:cs typeface="Arial" pitchFamily="34" charset="-120"/>
              </a:rPr>
              <a:t>2</a:t>
            </a:r>
            <a:endParaRPr lang="en-US" sz="1300" dirty="0"/>
          </a:p>
        </p:txBody>
      </p:sp>
      <p:sp>
        <p:nvSpPr>
          <p:cNvPr id="12" name="Text 10"/>
          <p:cNvSpPr/>
          <p:nvPr/>
        </p:nvSpPr>
        <p:spPr>
          <a:xfrm>
            <a:off x="1508760" y="3547872"/>
            <a:ext cx="2011680" cy="237744"/>
          </a:xfrm>
          <a:prstGeom prst="rect">
            <a:avLst/>
          </a:prstGeom>
          <a:noFill/>
          <a:ln/>
        </p:spPr>
        <p:txBody>
          <a:bodyPr wrap="square" lIns="0" tIns="0" rIns="0" bIns="0" rtlCol="0" anchor="ctr"/>
          <a:lstStyle/>
          <a:p>
            <a:pPr indent="0" marL="0">
              <a:buNone/>
            </a:pPr>
            <a:r>
              <a:rPr lang="en-US" sz="950" b="1" spc="150" kern="0" dirty="0">
                <a:solidFill>
                  <a:srgbClr val="F2A73B"/>
                </a:solidFill>
                <a:latin typeface="Arial" pitchFamily="34" charset="0"/>
                <a:ea typeface="Arial" pitchFamily="34" charset="-122"/>
                <a:cs typeface="Arial" pitchFamily="34" charset="-120"/>
              </a:rPr>
              <a:t>SEMANAS 1–2</a:t>
            </a:r>
            <a:endParaRPr lang="en-US" sz="950" dirty="0"/>
          </a:p>
        </p:txBody>
      </p:sp>
      <p:sp>
        <p:nvSpPr>
          <p:cNvPr id="13" name="Text 11"/>
          <p:cNvSpPr/>
          <p:nvPr/>
        </p:nvSpPr>
        <p:spPr>
          <a:xfrm>
            <a:off x="1508760" y="3794760"/>
            <a:ext cx="9692640" cy="329184"/>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Pedir la extracción al área de financiamiento</a:t>
            </a:r>
            <a:endParaRPr lang="en-US" sz="1600" dirty="0"/>
          </a:p>
        </p:txBody>
      </p:sp>
      <p:sp>
        <p:nvSpPr>
          <p:cNvPr id="14" name="Text 12"/>
          <p:cNvSpPr/>
          <p:nvPr/>
        </p:nvSpPr>
        <p:spPr>
          <a:xfrm>
            <a:off x="1508760" y="4151376"/>
            <a:ext cx="9692640" cy="292608"/>
          </a:xfrm>
          <a:prstGeom prst="rect">
            <a:avLst/>
          </a:prstGeom>
          <a:noFill/>
          <a:ln/>
        </p:spPr>
        <p:txBody>
          <a:bodyPr wrap="square" lIns="0" tIns="0" rIns="0" bIns="0" rtlCol="0" anchor="ctr"/>
          <a:lstStyle/>
          <a:p>
            <a:pPr indent="0" marL="0">
              <a:buNone/>
            </a:pPr>
            <a:r>
              <a:rPr lang="en-US" sz="1200" dirty="0">
                <a:solidFill>
                  <a:srgbClr val="9AA0AA"/>
                </a:solidFill>
                <a:latin typeface="Arial" pitchFamily="34" charset="0"/>
                <a:ea typeface="Arial" pitchFamily="34" charset="-122"/>
                <a:cs typeface="Arial" pitchFamily="34" charset="-120"/>
              </a:rPr>
              <a:t>El dato ya existe. Resuelve seis de nueve hipótesis sin esperar ventas nuevas.</a:t>
            </a:r>
            <a:endParaRPr lang="en-US" sz="1200" dirty="0"/>
          </a:p>
        </p:txBody>
      </p:sp>
      <p:sp>
        <p:nvSpPr>
          <p:cNvPr id="15" name="Shape 13"/>
          <p:cNvSpPr/>
          <p:nvPr/>
        </p:nvSpPr>
        <p:spPr>
          <a:xfrm>
            <a:off x="640080" y="4809744"/>
            <a:ext cx="566928" cy="566928"/>
          </a:xfrm>
          <a:prstGeom prst="ellipse">
            <a:avLst/>
          </a:prstGeom>
          <a:solidFill>
            <a:srgbClr val="F2A73B"/>
          </a:solidFill>
          <a:ln/>
        </p:spPr>
      </p:sp>
      <p:sp>
        <p:nvSpPr>
          <p:cNvPr id="16" name="Text 14"/>
          <p:cNvSpPr/>
          <p:nvPr/>
        </p:nvSpPr>
        <p:spPr>
          <a:xfrm>
            <a:off x="640080" y="4809744"/>
            <a:ext cx="566928" cy="566928"/>
          </a:xfrm>
          <a:prstGeom prst="rect">
            <a:avLst/>
          </a:prstGeom>
          <a:noFill/>
          <a:ln/>
        </p:spPr>
        <p:txBody>
          <a:bodyPr wrap="square" lIns="0" tIns="0" rIns="0" bIns="0" rtlCol="0" anchor="ctr"/>
          <a:lstStyle/>
          <a:p>
            <a:pPr algn="ctr" indent="0" marL="0">
              <a:buNone/>
            </a:pPr>
            <a:r>
              <a:rPr lang="en-US" sz="1300" b="1" dirty="0">
                <a:solidFill>
                  <a:srgbClr val="22252A"/>
                </a:solidFill>
                <a:latin typeface="Arial" pitchFamily="34" charset="0"/>
                <a:ea typeface="Arial" pitchFamily="34" charset="-122"/>
                <a:cs typeface="Arial" pitchFamily="34" charset="-120"/>
              </a:rPr>
              <a:t>3</a:t>
            </a:r>
            <a:endParaRPr lang="en-US" sz="1300" dirty="0"/>
          </a:p>
        </p:txBody>
      </p:sp>
      <p:sp>
        <p:nvSpPr>
          <p:cNvPr id="17" name="Text 15"/>
          <p:cNvSpPr/>
          <p:nvPr/>
        </p:nvSpPr>
        <p:spPr>
          <a:xfrm>
            <a:off x="1508760" y="4718304"/>
            <a:ext cx="2011680" cy="237744"/>
          </a:xfrm>
          <a:prstGeom prst="rect">
            <a:avLst/>
          </a:prstGeom>
          <a:noFill/>
          <a:ln/>
        </p:spPr>
        <p:txBody>
          <a:bodyPr wrap="square" lIns="0" tIns="0" rIns="0" bIns="0" rtlCol="0" anchor="ctr"/>
          <a:lstStyle/>
          <a:p>
            <a:pPr indent="0" marL="0">
              <a:buNone/>
            </a:pPr>
            <a:r>
              <a:rPr lang="en-US" sz="950" b="1" spc="150" kern="0" dirty="0">
                <a:solidFill>
                  <a:srgbClr val="F2A73B"/>
                </a:solidFill>
                <a:latin typeface="Arial" pitchFamily="34" charset="0"/>
                <a:ea typeface="Arial" pitchFamily="34" charset="-122"/>
                <a:cs typeface="Arial" pitchFamily="34" charset="-120"/>
              </a:rPr>
              <a:t>UNA LLAMADA</a:t>
            </a:r>
            <a:endParaRPr lang="en-US" sz="950" dirty="0"/>
          </a:p>
        </p:txBody>
      </p:sp>
      <p:sp>
        <p:nvSpPr>
          <p:cNvPr id="18" name="Text 16"/>
          <p:cNvSpPr/>
          <p:nvPr/>
        </p:nvSpPr>
        <p:spPr>
          <a:xfrm>
            <a:off x="1508760" y="4965192"/>
            <a:ext cx="9692640" cy="329184"/>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Pedir a EK precio de la línea Atlas, lista 2026 y capacidad de carga</a:t>
            </a:r>
            <a:endParaRPr lang="en-US" sz="1600" dirty="0"/>
          </a:p>
        </p:txBody>
      </p:sp>
      <p:sp>
        <p:nvSpPr>
          <p:cNvPr id="19" name="Text 17"/>
          <p:cNvSpPr/>
          <p:nvPr/>
        </p:nvSpPr>
        <p:spPr>
          <a:xfrm>
            <a:off x="1508760" y="5321808"/>
            <a:ext cx="9692640" cy="292608"/>
          </a:xfrm>
          <a:prstGeom prst="rect">
            <a:avLst/>
          </a:prstGeom>
          <a:noFill/>
          <a:ln/>
        </p:spPr>
        <p:txBody>
          <a:bodyPr wrap="square" lIns="0" tIns="0" rIns="0" bIns="0" rtlCol="0" anchor="ctr"/>
          <a:lstStyle/>
          <a:p>
            <a:pPr indent="0" marL="0">
              <a:buNone/>
            </a:pPr>
            <a:r>
              <a:rPr lang="en-US" sz="1200" dirty="0">
                <a:solidFill>
                  <a:srgbClr val="9AA0AA"/>
                </a:solidFill>
                <a:latin typeface="Arial" pitchFamily="34" charset="0"/>
                <a:ea typeface="Arial" pitchFamily="34" charset="-122"/>
                <a:cs typeface="Arial" pitchFamily="34" charset="-120"/>
              </a:rPr>
              <a:t>Tres datos que desbloquean el escalón de crecimiento del interior.</a:t>
            </a:r>
            <a:endParaRPr lang="en-US" sz="1200" dirty="0"/>
          </a:p>
        </p:txBody>
      </p:sp>
      <p:sp>
        <p:nvSpPr>
          <p:cNvPr id="20" name="Shape 18"/>
          <p:cNvSpPr/>
          <p:nvPr/>
        </p:nvSpPr>
        <p:spPr>
          <a:xfrm>
            <a:off x="640080" y="5870448"/>
            <a:ext cx="1188720" cy="32004"/>
          </a:xfrm>
          <a:prstGeom prst="rect">
            <a:avLst/>
          </a:prstGeom>
          <a:solidFill>
            <a:srgbClr val="F2A73B"/>
          </a:solidFill>
          <a:ln/>
        </p:spPr>
      </p:sp>
      <p:sp>
        <p:nvSpPr>
          <p:cNvPr id="21" name="Text 19"/>
          <p:cNvSpPr/>
          <p:nvPr/>
        </p:nvSpPr>
        <p:spPr>
          <a:xfrm>
            <a:off x="640080" y="6089904"/>
            <a:ext cx="10881360" cy="512064"/>
          </a:xfrm>
          <a:prstGeom prst="rect">
            <a:avLst/>
          </a:prstGeom>
          <a:noFill/>
          <a:ln/>
        </p:spPr>
        <p:txBody>
          <a:bodyPr wrap="square" lIns="0" tIns="0" rIns="0" bIns="0" rtlCol="0" anchor="ctr"/>
          <a:lstStyle/>
          <a:p>
            <a:pPr indent="0" marL="0">
              <a:lnSpc>
                <a:spcPts val="1800"/>
              </a:lnSpc>
              <a:buNone/>
            </a:pPr>
            <a:r>
              <a:rPr lang="en-US" sz="1250" i="1" dirty="0">
                <a:solidFill>
                  <a:srgbClr val="C9CDD4"/>
                </a:solidFill>
                <a:latin typeface="Arial" pitchFamily="34" charset="0"/>
                <a:ea typeface="Arial" pitchFamily="34" charset="-122"/>
                <a:cs typeface="Arial" pitchFamily="34" charset="-120"/>
              </a:rPr>
              <a:t>Arranca puede cerrar sus propias brechas — y de paso convertirse en la fuente primaria de un dato que en Venezuela no tiene nadie.</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Cliente ideal de Arranca</dc:title>
  <dc:subject>PptxGenJS Presentation</dc:subject>
  <dc:creator>Arranca</dc:creator>
  <cp:lastModifiedBy>Arranca</cp:lastModifiedBy>
  <cp:revision>1</cp:revision>
  <dcterms:created xsi:type="dcterms:W3CDTF">2026-08-11T20:34:08Z</dcterms:created>
  <dcterms:modified xsi:type="dcterms:W3CDTF">2026-08-11T20:34:08Z</dcterms:modified>
</cp:coreProperties>
</file>